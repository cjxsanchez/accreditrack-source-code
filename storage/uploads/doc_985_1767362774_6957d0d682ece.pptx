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media/image18.jpg" ContentType="image/pn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70" r:id="rId4"/>
    <p:sldId id="267" r:id="rId5"/>
    <p:sldId id="325" r:id="rId6"/>
    <p:sldId id="266" r:id="rId7"/>
    <p:sldId id="271" r:id="rId8"/>
    <p:sldId id="273" r:id="rId9"/>
    <p:sldId id="272" r:id="rId10"/>
    <p:sldId id="274" r:id="rId11"/>
    <p:sldId id="276" r:id="rId12"/>
    <p:sldId id="277" r:id="rId13"/>
    <p:sldId id="268" r:id="rId14"/>
    <p:sldId id="279" r:id="rId15"/>
    <p:sldId id="280" r:id="rId16"/>
    <p:sldId id="278" r:id="rId17"/>
    <p:sldId id="282" r:id="rId18"/>
    <p:sldId id="283" r:id="rId19"/>
    <p:sldId id="281" r:id="rId20"/>
    <p:sldId id="285" r:id="rId21"/>
    <p:sldId id="284" r:id="rId22"/>
    <p:sldId id="286" r:id="rId23"/>
    <p:sldId id="269" r:id="rId24"/>
    <p:sldId id="287" r:id="rId25"/>
    <p:sldId id="288" r:id="rId26"/>
    <p:sldId id="289" r:id="rId27"/>
    <p:sldId id="290" r:id="rId28"/>
    <p:sldId id="291" r:id="rId29"/>
    <p:sldId id="292" r:id="rId30"/>
    <p:sldId id="311" r:id="rId31"/>
    <p:sldId id="312" r:id="rId32"/>
    <p:sldId id="313" r:id="rId33"/>
    <p:sldId id="314" r:id="rId34"/>
    <p:sldId id="315" r:id="rId35"/>
    <p:sldId id="316" r:id="rId36"/>
    <p:sldId id="317" r:id="rId37"/>
    <p:sldId id="318" r:id="rId38"/>
    <p:sldId id="319" r:id="rId39"/>
    <p:sldId id="320" r:id="rId40"/>
    <p:sldId id="321" r:id="rId41"/>
    <p:sldId id="322" r:id="rId42"/>
    <p:sldId id="310" r:id="rId43"/>
    <p:sldId id="293" r:id="rId44"/>
    <p:sldId id="294" r:id="rId45"/>
    <p:sldId id="295" r:id="rId46"/>
    <p:sldId id="296" r:id="rId47"/>
    <p:sldId id="297" r:id="rId48"/>
    <p:sldId id="298" r:id="rId49"/>
    <p:sldId id="299" r:id="rId50"/>
    <p:sldId id="300" r:id="rId51"/>
    <p:sldId id="302" r:id="rId52"/>
    <p:sldId id="304" r:id="rId53"/>
    <p:sldId id="323" r:id="rId54"/>
    <p:sldId id="305" r:id="rId55"/>
    <p:sldId id="324" r:id="rId56"/>
    <p:sldId id="265" r:id="rId57"/>
  </p:sldIdLst>
  <p:sldSz cx="18288000" cy="10287000"/>
  <p:notesSz cx="7102475" cy="11217275"/>
  <p:embeddedFontLst>
    <p:embeddedFont>
      <p:font typeface="Aileron" panose="020B0604020202020204" charset="0"/>
      <p:regular r:id="rId58"/>
    </p:embeddedFont>
    <p:embeddedFont>
      <p:font typeface="Akzidenz-Grotesk Heavy" panose="020B0604020202020204" charset="0"/>
      <p:regular r:id="rId59"/>
    </p:embeddedFont>
    <p:embeddedFont>
      <p:font typeface="Barlow Condensed Heavy" panose="020B0604020202020204" charset="0"/>
      <p:regular r:id="rId60"/>
    </p:embeddedFont>
    <p:embeddedFont>
      <p:font typeface="Be Vietnam Ultra-Bold" panose="020B0604020202020204" charset="0"/>
      <p:regular r:id="rId61"/>
    </p:embeddedFont>
    <p:embeddedFont>
      <p:font typeface="Century Gothic" panose="020B0502020202020204" pitchFamily="34" charset="0"/>
      <p:regular r:id="rId62"/>
      <p:bold r:id="rId63"/>
      <p:italic r:id="rId64"/>
      <p:boldItalic r:id="rId6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1" d="100"/>
          <a:sy n="41" d="100"/>
        </p:scale>
        <p:origin x="1056" y="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6.fntdata"/><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1.fntdata"/><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font" Target="fonts/font4.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7.fntdata"/><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2.fntdata"/><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3.fntdata"/><Relationship Id="rId65"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svg"/><Relationship Id="rId7" Type="http://schemas.openxmlformats.org/officeDocument/2006/relationships/image" Target="../media/image14.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 Id="rId9" Type="http://schemas.openxmlformats.org/officeDocument/2006/relationships/image" Target="../media/image10.svg"/></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2.sv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6.jp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5.jpg"/><Relationship Id="rId5" Type="http://schemas.openxmlformats.org/officeDocument/2006/relationships/image" Target="../media/image12.sv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2.sv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8.jpg"/><Relationship Id="rId5" Type="http://schemas.openxmlformats.org/officeDocument/2006/relationships/image" Target="../media/image12.sv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2.sv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2.sv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12.sv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22.jpg"/><Relationship Id="rId5" Type="http://schemas.openxmlformats.org/officeDocument/2006/relationships/image" Target="../media/image12.sv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23.jpg"/><Relationship Id="rId5" Type="http://schemas.openxmlformats.org/officeDocument/2006/relationships/image" Target="../media/image12.sv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23.jpg"/><Relationship Id="rId5" Type="http://schemas.openxmlformats.org/officeDocument/2006/relationships/image" Target="../media/image12.sv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24.jpg"/><Relationship Id="rId5" Type="http://schemas.openxmlformats.org/officeDocument/2006/relationships/image" Target="../media/image12.sv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25.jpg"/><Relationship Id="rId5" Type="http://schemas.openxmlformats.org/officeDocument/2006/relationships/image" Target="../media/image12.sv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12.sv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27.jpg"/><Relationship Id="rId5" Type="http://schemas.openxmlformats.org/officeDocument/2006/relationships/image" Target="../media/image12.sv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28.jpg"/><Relationship Id="rId5" Type="http://schemas.openxmlformats.org/officeDocument/2006/relationships/image" Target="../media/image12.sv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28.jpg"/><Relationship Id="rId5" Type="http://schemas.openxmlformats.org/officeDocument/2006/relationships/image" Target="../media/image12.sv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29.jpg"/><Relationship Id="rId5" Type="http://schemas.openxmlformats.org/officeDocument/2006/relationships/image" Target="../media/image12.sv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29.jpg"/><Relationship Id="rId5" Type="http://schemas.openxmlformats.org/officeDocument/2006/relationships/image" Target="../media/image12.sv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12.svg"/><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31.jpg"/><Relationship Id="rId5" Type="http://schemas.openxmlformats.org/officeDocument/2006/relationships/image" Target="../media/image12.svg"/><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12.svg"/><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12.svg"/><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12.svg"/><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3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3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3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3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3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3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3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4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4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4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4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4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4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4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4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4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4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5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5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5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5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5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5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56.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37.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svg"/><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469396" y="2719229"/>
            <a:ext cx="2544433" cy="2544433"/>
          </a:xfrm>
          <a:custGeom>
            <a:avLst/>
            <a:gdLst/>
            <a:ahLst/>
            <a:cxnLst/>
            <a:rect l="l" t="t" r="r" b="b"/>
            <a:pathLst>
              <a:path w="2544433" h="2544433">
                <a:moveTo>
                  <a:pt x="0" y="0"/>
                </a:moveTo>
                <a:lnTo>
                  <a:pt x="2544432" y="0"/>
                </a:lnTo>
                <a:lnTo>
                  <a:pt x="2544432" y="2544433"/>
                </a:lnTo>
                <a:lnTo>
                  <a:pt x="0" y="25444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5" name="Group 5"/>
          <p:cNvGrpSpPr/>
          <p:nvPr/>
        </p:nvGrpSpPr>
        <p:grpSpPr>
          <a:xfrm>
            <a:off x="-1136521" y="3307946"/>
            <a:ext cx="2594369" cy="4588246"/>
            <a:chOff x="0" y="0"/>
            <a:chExt cx="683291" cy="1208427"/>
          </a:xfrm>
        </p:grpSpPr>
        <p:sp>
          <p:nvSpPr>
            <p:cNvPr id="6" name="Freeform 6"/>
            <p:cNvSpPr/>
            <p:nvPr/>
          </p:nvSpPr>
          <p:spPr>
            <a:xfrm>
              <a:off x="0" y="0"/>
              <a:ext cx="683291" cy="1208427"/>
            </a:xfrm>
            <a:custGeom>
              <a:avLst/>
              <a:gdLst/>
              <a:ahLst/>
              <a:cxnLst/>
              <a:rect l="l" t="t" r="r" b="b"/>
              <a:pathLst>
                <a:path w="683291" h="1208427">
                  <a:moveTo>
                    <a:pt x="152190" y="0"/>
                  </a:moveTo>
                  <a:lnTo>
                    <a:pt x="531100" y="0"/>
                  </a:lnTo>
                  <a:cubicBezTo>
                    <a:pt x="571464" y="0"/>
                    <a:pt x="610174" y="16034"/>
                    <a:pt x="638715" y="44576"/>
                  </a:cubicBezTo>
                  <a:cubicBezTo>
                    <a:pt x="667256" y="73117"/>
                    <a:pt x="683291" y="111827"/>
                    <a:pt x="683291" y="152190"/>
                  </a:cubicBezTo>
                  <a:lnTo>
                    <a:pt x="683291" y="1056237"/>
                  </a:lnTo>
                  <a:cubicBezTo>
                    <a:pt x="683291" y="1096600"/>
                    <a:pt x="667256" y="1135310"/>
                    <a:pt x="638715" y="1163852"/>
                  </a:cubicBezTo>
                  <a:cubicBezTo>
                    <a:pt x="610174" y="1192393"/>
                    <a:pt x="571464" y="1208427"/>
                    <a:pt x="531100" y="1208427"/>
                  </a:cubicBezTo>
                  <a:lnTo>
                    <a:pt x="152190" y="1208427"/>
                  </a:lnTo>
                  <a:cubicBezTo>
                    <a:pt x="111827" y="1208427"/>
                    <a:pt x="73117" y="1192393"/>
                    <a:pt x="44576" y="1163852"/>
                  </a:cubicBezTo>
                  <a:cubicBezTo>
                    <a:pt x="16034" y="1135310"/>
                    <a:pt x="0" y="1096600"/>
                    <a:pt x="0" y="1056237"/>
                  </a:cubicBezTo>
                  <a:lnTo>
                    <a:pt x="0" y="152190"/>
                  </a:lnTo>
                  <a:cubicBezTo>
                    <a:pt x="0" y="111827"/>
                    <a:pt x="16034" y="73117"/>
                    <a:pt x="44576" y="44576"/>
                  </a:cubicBezTo>
                  <a:cubicBezTo>
                    <a:pt x="73117" y="16034"/>
                    <a:pt x="111827" y="0"/>
                    <a:pt x="152190" y="0"/>
                  </a:cubicBezTo>
                  <a:close/>
                </a:path>
              </a:pathLst>
            </a:custGeom>
            <a:solidFill>
              <a:srgbClr val="5188CC"/>
            </a:solidFill>
          </p:spPr>
        </p:sp>
        <p:sp>
          <p:nvSpPr>
            <p:cNvPr id="7" name="TextBox 7"/>
            <p:cNvSpPr txBox="1"/>
            <p:nvPr/>
          </p:nvSpPr>
          <p:spPr>
            <a:xfrm>
              <a:off x="0" y="-47625"/>
              <a:ext cx="683291" cy="1256052"/>
            </a:xfrm>
            <a:prstGeom prst="rect">
              <a:avLst/>
            </a:prstGeom>
          </p:spPr>
          <p:txBody>
            <a:bodyPr lIns="50800" tIns="50800" rIns="50800" bIns="50800" rtlCol="0" anchor="ctr"/>
            <a:lstStyle/>
            <a:p>
              <a:pPr algn="ctr">
                <a:lnSpc>
                  <a:spcPts val="2800"/>
                </a:lnSpc>
              </a:pPr>
              <a:endParaRPr/>
            </a:p>
          </p:txBody>
        </p:sp>
      </p:grpSp>
      <p:sp>
        <p:nvSpPr>
          <p:cNvPr id="11" name="Freeform 11"/>
          <p:cNvSpPr/>
          <p:nvPr/>
        </p:nvSpPr>
        <p:spPr>
          <a:xfrm>
            <a:off x="13731511" y="1434222"/>
            <a:ext cx="305535" cy="302202"/>
          </a:xfrm>
          <a:custGeom>
            <a:avLst/>
            <a:gdLst/>
            <a:ahLst/>
            <a:cxnLst/>
            <a:rect l="l" t="t" r="r" b="b"/>
            <a:pathLst>
              <a:path w="305535" h="302202">
                <a:moveTo>
                  <a:pt x="0" y="0"/>
                </a:moveTo>
                <a:lnTo>
                  <a:pt x="305535" y="0"/>
                </a:lnTo>
                <a:lnTo>
                  <a:pt x="305535" y="302203"/>
                </a:lnTo>
                <a:lnTo>
                  <a:pt x="0" y="30220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p:cNvSpPr/>
          <p:nvPr/>
        </p:nvSpPr>
        <p:spPr>
          <a:xfrm>
            <a:off x="1028700" y="-252231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a:off x="11958605" y="3307946"/>
            <a:ext cx="1025128" cy="1025128"/>
          </a:xfrm>
          <a:custGeom>
            <a:avLst/>
            <a:gdLst/>
            <a:ahLst/>
            <a:cxnLst/>
            <a:rect l="l" t="t" r="r" b="b"/>
            <a:pathLst>
              <a:path w="1025128" h="1025128">
                <a:moveTo>
                  <a:pt x="0" y="0"/>
                </a:moveTo>
                <a:lnTo>
                  <a:pt x="1025127" y="0"/>
                </a:lnTo>
                <a:lnTo>
                  <a:pt x="1025127" y="1025127"/>
                </a:lnTo>
                <a:lnTo>
                  <a:pt x="0" y="102512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4" name="Freeform 14"/>
          <p:cNvSpPr/>
          <p:nvPr/>
        </p:nvSpPr>
        <p:spPr>
          <a:xfrm>
            <a:off x="7843805" y="8248617"/>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TextBox 15"/>
          <p:cNvSpPr txBox="1"/>
          <p:nvPr/>
        </p:nvSpPr>
        <p:spPr>
          <a:xfrm>
            <a:off x="2412807" y="3028963"/>
            <a:ext cx="14808393" cy="3231654"/>
          </a:xfrm>
          <a:prstGeom prst="rect">
            <a:avLst/>
          </a:prstGeom>
        </p:spPr>
        <p:txBody>
          <a:bodyPr wrap="square" lIns="0" tIns="0" rIns="0" bIns="0" rtlCol="0" anchor="t">
            <a:spAutoFit/>
          </a:bodyPr>
          <a:lstStyle/>
          <a:p>
            <a:pPr algn="l">
              <a:lnSpc>
                <a:spcPts val="12564"/>
              </a:lnSpc>
            </a:pPr>
            <a:r>
              <a:rPr lang="en-US" sz="12198" b="1" dirty="0">
                <a:solidFill>
                  <a:srgbClr val="0E2F5F"/>
                </a:solidFill>
                <a:latin typeface="Barlow Condensed Heavy"/>
                <a:ea typeface="Barlow Condensed Heavy"/>
                <a:cs typeface="Barlow Condensed Heavy"/>
                <a:sym typeface="Barlow Condensed Heavy"/>
              </a:rPr>
              <a:t>SYSTEM ADMINISTRATION AND MAINTENANCE</a:t>
            </a:r>
          </a:p>
        </p:txBody>
      </p:sp>
      <p:sp>
        <p:nvSpPr>
          <p:cNvPr id="16" name="Freeform 16"/>
          <p:cNvSpPr/>
          <p:nvPr/>
        </p:nvSpPr>
        <p:spPr>
          <a:xfrm>
            <a:off x="12769424" y="2436835"/>
            <a:ext cx="806841" cy="564789"/>
          </a:xfrm>
          <a:custGeom>
            <a:avLst/>
            <a:gdLst/>
            <a:ahLst/>
            <a:cxnLst/>
            <a:rect l="l" t="t" r="r" b="b"/>
            <a:pathLst>
              <a:path w="806841" h="564789">
                <a:moveTo>
                  <a:pt x="0" y="0"/>
                </a:moveTo>
                <a:lnTo>
                  <a:pt x="806840" y="0"/>
                </a:lnTo>
                <a:lnTo>
                  <a:pt x="806840" y="564788"/>
                </a:lnTo>
                <a:lnTo>
                  <a:pt x="0" y="56478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8" name="TextBox 18"/>
          <p:cNvSpPr txBox="1"/>
          <p:nvPr/>
        </p:nvSpPr>
        <p:spPr>
          <a:xfrm>
            <a:off x="14211574" y="1415172"/>
            <a:ext cx="3009626" cy="306925"/>
          </a:xfrm>
          <a:prstGeom prst="rect">
            <a:avLst/>
          </a:prstGeom>
        </p:spPr>
        <p:txBody>
          <a:bodyPr lIns="0" tIns="0" rIns="0" bIns="0" rtlCol="0" anchor="t">
            <a:spAutoFit/>
          </a:bodyPr>
          <a:lstStyle/>
          <a:p>
            <a:pPr algn="l">
              <a:lnSpc>
                <a:spcPts val="2413"/>
              </a:lnSpc>
            </a:pPr>
            <a:r>
              <a:rPr lang="en-US" sz="1900" dirty="0">
                <a:solidFill>
                  <a:srgbClr val="FFFFFF"/>
                </a:solidFill>
                <a:latin typeface="Aileron"/>
                <a:ea typeface="Aileron"/>
                <a:cs typeface="Aileron"/>
                <a:sym typeface="Aileron"/>
              </a:rPr>
              <a:t>www.reallygreatsite.com</a:t>
            </a:r>
          </a:p>
        </p:txBody>
      </p:sp>
      <p:sp>
        <p:nvSpPr>
          <p:cNvPr id="19" name="Freeform 19"/>
          <p:cNvSpPr/>
          <p:nvPr/>
        </p:nvSpPr>
        <p:spPr>
          <a:xfrm>
            <a:off x="2412807" y="8799767"/>
            <a:ext cx="1483489" cy="458533"/>
          </a:xfrm>
          <a:custGeom>
            <a:avLst/>
            <a:gdLst/>
            <a:ahLst/>
            <a:cxnLst/>
            <a:rect l="l" t="t" r="r" b="b"/>
            <a:pathLst>
              <a:path w="1483489" h="458533">
                <a:moveTo>
                  <a:pt x="0" y="0"/>
                </a:moveTo>
                <a:lnTo>
                  <a:pt x="1483489" y="0"/>
                </a:lnTo>
                <a:lnTo>
                  <a:pt x="1483489" y="458533"/>
                </a:lnTo>
                <a:lnTo>
                  <a:pt x="0" y="45853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028700" y="4392170"/>
            <a:ext cx="5650143" cy="5894830"/>
            <a:chOff x="0" y="0"/>
            <a:chExt cx="1488104" cy="1552548"/>
          </a:xfrm>
        </p:grpSpPr>
        <p:sp>
          <p:nvSpPr>
            <p:cNvPr id="4" name="Freeform 4"/>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p:cNvGrpSpPr/>
          <p:nvPr/>
        </p:nvGrpSpPr>
        <p:grpSpPr>
          <a:xfrm>
            <a:off x="-363855" y="4022946"/>
            <a:ext cx="1858734" cy="1858734"/>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p:cNvSpPr/>
          <p:nvPr/>
        </p:nvSpPr>
        <p:spPr>
          <a:xfrm>
            <a:off x="7558327" y="7453986"/>
            <a:ext cx="2763919" cy="882511"/>
          </a:xfrm>
          <a:custGeom>
            <a:avLst/>
            <a:gdLst/>
            <a:ahLst/>
            <a:cxnLst/>
            <a:rect l="l" t="t" r="r" b="b"/>
            <a:pathLst>
              <a:path w="2763919" h="882511">
                <a:moveTo>
                  <a:pt x="0" y="0"/>
                </a:moveTo>
                <a:lnTo>
                  <a:pt x="2763918" y="0"/>
                </a:lnTo>
                <a:lnTo>
                  <a:pt x="2763918" y="882511"/>
                </a:lnTo>
                <a:lnTo>
                  <a:pt x="0" y="88251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3" name="Freeform 13"/>
          <p:cNvSpPr/>
          <p:nvPr/>
        </p:nvSpPr>
        <p:spPr>
          <a:xfrm>
            <a:off x="10731524" y="7665975"/>
            <a:ext cx="1483489" cy="458533"/>
          </a:xfrm>
          <a:custGeom>
            <a:avLst/>
            <a:gdLst/>
            <a:ahLst/>
            <a:cxnLst/>
            <a:rect l="l" t="t" r="r" b="b"/>
            <a:pathLst>
              <a:path w="1483489" h="458533">
                <a:moveTo>
                  <a:pt x="0" y="0"/>
                </a:moveTo>
                <a:lnTo>
                  <a:pt x="1483490" y="0"/>
                </a:lnTo>
                <a:lnTo>
                  <a:pt x="1483490" y="458533"/>
                </a:lnTo>
                <a:lnTo>
                  <a:pt x="0" y="45853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5" name="TextBox 15"/>
          <p:cNvSpPr txBox="1"/>
          <p:nvPr/>
        </p:nvSpPr>
        <p:spPr>
          <a:xfrm>
            <a:off x="228600" y="202666"/>
            <a:ext cx="18059400" cy="1915076"/>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What is System Administration and Maintenance?</a:t>
            </a:r>
          </a:p>
        </p:txBody>
      </p:sp>
      <p:sp>
        <p:nvSpPr>
          <p:cNvPr id="16" name="Freeform 16"/>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21DF71FD-A0E5-4F53-4FA0-B3BF5E304F6B}"/>
              </a:ext>
            </a:extLst>
          </p:cNvPr>
          <p:cNvSpPr>
            <a:spLocks noGrp="1"/>
          </p:cNvSpPr>
          <p:nvPr>
            <p:ph idx="1"/>
          </p:nvPr>
        </p:nvSpPr>
        <p:spPr>
          <a:xfrm>
            <a:off x="2078080" y="2434037"/>
            <a:ext cx="15181219" cy="7852963"/>
          </a:xfrm>
        </p:spPr>
        <p:txBody>
          <a:bodyPr/>
          <a:lstStyle/>
          <a:p>
            <a:endParaRPr lang="en-US" sz="3500" b="1" dirty="0">
              <a:latin typeface="Century Gothic" panose="020B0502020202020204" pitchFamily="34" charset="0"/>
            </a:endParaRPr>
          </a:p>
          <a:p>
            <a:endParaRPr lang="en-US" sz="3500" b="1" dirty="0">
              <a:latin typeface="Century Gothic" panose="020B0502020202020204" pitchFamily="34" charset="0"/>
            </a:endParaRPr>
          </a:p>
          <a:p>
            <a:r>
              <a:rPr lang="en-US" sz="3500" b="1" dirty="0">
                <a:latin typeface="Century Gothic" panose="020B0502020202020204" pitchFamily="34" charset="0"/>
              </a:rPr>
              <a:t>Managing and maintaining computer systems and networks to ensure they run efficiently and effectively. </a:t>
            </a:r>
          </a:p>
          <a:p>
            <a:pPr marL="0" indent="0">
              <a:buNone/>
            </a:pPr>
            <a:endParaRPr lang="en-US" sz="3200" b="1" dirty="0">
              <a:latin typeface="Century Gothic" panose="020B0502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DC890-D8AD-7609-D2A6-DA1D94DCCB5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B75B4A0-EB5C-3EF1-E34F-0DD918392681}"/>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8" name="Group 8">
            <a:extLst>
              <a:ext uri="{FF2B5EF4-FFF2-40B4-BE49-F238E27FC236}">
                <a16:creationId xmlns:a16="http://schemas.microsoft.com/office/drawing/2014/main" id="{C61B16A6-8BB0-B7D6-B797-2031EDBD96DD}"/>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3FE662B2-79C1-0052-1882-88D6C3D49C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1A22E94B-F605-6FF3-E3BA-C46F65649CA4}"/>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4E6A7376-0D20-5667-525B-7D15EC50F779}"/>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Freeform 13">
            <a:extLst>
              <a:ext uri="{FF2B5EF4-FFF2-40B4-BE49-F238E27FC236}">
                <a16:creationId xmlns:a16="http://schemas.microsoft.com/office/drawing/2014/main" id="{F2ABFFE0-A5A2-A2A8-31E8-890CFD52F914}"/>
              </a:ext>
            </a:extLst>
          </p:cNvPr>
          <p:cNvSpPr/>
          <p:nvPr/>
        </p:nvSpPr>
        <p:spPr>
          <a:xfrm>
            <a:off x="10731524" y="7665975"/>
            <a:ext cx="1483489" cy="458533"/>
          </a:xfrm>
          <a:custGeom>
            <a:avLst/>
            <a:gdLst/>
            <a:ahLst/>
            <a:cxnLst/>
            <a:rect l="l" t="t" r="r" b="b"/>
            <a:pathLst>
              <a:path w="1483489" h="458533">
                <a:moveTo>
                  <a:pt x="0" y="0"/>
                </a:moveTo>
                <a:lnTo>
                  <a:pt x="1483490" y="0"/>
                </a:lnTo>
                <a:lnTo>
                  <a:pt x="1483490" y="458533"/>
                </a:lnTo>
                <a:lnTo>
                  <a:pt x="0" y="45853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5" name="TextBox 15">
            <a:extLst>
              <a:ext uri="{FF2B5EF4-FFF2-40B4-BE49-F238E27FC236}">
                <a16:creationId xmlns:a16="http://schemas.microsoft.com/office/drawing/2014/main" id="{11A2878F-BBC7-341D-D166-2FF1177EEBCD}"/>
              </a:ext>
            </a:extLst>
          </p:cNvPr>
          <p:cNvSpPr txBox="1"/>
          <p:nvPr/>
        </p:nvSpPr>
        <p:spPr>
          <a:xfrm>
            <a:off x="228600" y="202666"/>
            <a:ext cx="18059400" cy="1915076"/>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Importance of System Administration and Maintenance</a:t>
            </a:r>
          </a:p>
        </p:txBody>
      </p:sp>
      <p:sp>
        <p:nvSpPr>
          <p:cNvPr id="16" name="Freeform 16">
            <a:extLst>
              <a:ext uri="{FF2B5EF4-FFF2-40B4-BE49-F238E27FC236}">
                <a16:creationId xmlns:a16="http://schemas.microsoft.com/office/drawing/2014/main" id="{5598B424-AB94-5CCB-F4A5-E45EF09F7188}"/>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C47D1B71-A526-506B-57E1-53BBAA9E82FD}"/>
              </a:ext>
            </a:extLst>
          </p:cNvPr>
          <p:cNvSpPr>
            <a:spLocks noGrp="1"/>
          </p:cNvSpPr>
          <p:nvPr>
            <p:ph idx="1"/>
          </p:nvPr>
        </p:nvSpPr>
        <p:spPr>
          <a:xfrm>
            <a:off x="1905000" y="1934683"/>
            <a:ext cx="15181219" cy="7852963"/>
          </a:xfrm>
        </p:spPr>
        <p:txBody>
          <a:bodyPr>
            <a:normAutofit/>
          </a:bodyPr>
          <a:lstStyle/>
          <a:p>
            <a:pPr marL="0" indent="0">
              <a:buNone/>
            </a:pPr>
            <a:endParaRPr lang="en-US" sz="3500" b="1" dirty="0">
              <a:latin typeface="Century Gothic" panose="020B0502020202020204" pitchFamily="34" charset="0"/>
            </a:endParaRPr>
          </a:p>
          <a:p>
            <a:pPr fontAlgn="base">
              <a:lnSpc>
                <a:spcPct val="150000"/>
              </a:lnSpc>
            </a:pPr>
            <a:r>
              <a:rPr lang="en-US" sz="3500" b="1" dirty="0">
                <a:latin typeface="Century Gothic" panose="020B0502020202020204" pitchFamily="34" charset="0"/>
              </a:rPr>
              <a:t>Ensures IT infrastructure is secure, efficient, and available</a:t>
            </a:r>
          </a:p>
          <a:p>
            <a:pPr fontAlgn="base">
              <a:lnSpc>
                <a:spcPct val="150000"/>
              </a:lnSpc>
            </a:pPr>
            <a:r>
              <a:rPr lang="en-US" sz="3500" b="1" dirty="0">
                <a:latin typeface="Century Gothic" panose="020B0502020202020204" pitchFamily="34" charset="0"/>
              </a:rPr>
              <a:t>Supports smooth digital communication and business processes</a:t>
            </a:r>
          </a:p>
          <a:p>
            <a:pPr fontAlgn="base">
              <a:lnSpc>
                <a:spcPct val="150000"/>
              </a:lnSpc>
            </a:pPr>
            <a:r>
              <a:rPr lang="en-US" sz="3500" b="1" dirty="0">
                <a:latin typeface="Century Gothic" panose="020B0502020202020204" pitchFamily="34" charset="0"/>
              </a:rPr>
              <a:t>Optimizes system performance for increased productivity</a:t>
            </a:r>
          </a:p>
          <a:p>
            <a:pPr fontAlgn="base">
              <a:lnSpc>
                <a:spcPct val="150000"/>
              </a:lnSpc>
            </a:pPr>
            <a:r>
              <a:rPr lang="en-US" sz="3500" b="1" dirty="0">
                <a:latin typeface="Century Gothic" panose="020B0502020202020204" pitchFamily="34" charset="0"/>
              </a:rPr>
              <a:t>Enforces security policies to protect sensitive data</a:t>
            </a:r>
          </a:p>
          <a:p>
            <a:pPr fontAlgn="base">
              <a:lnSpc>
                <a:spcPct val="150000"/>
              </a:lnSpc>
            </a:pPr>
            <a:r>
              <a:rPr lang="en-US" sz="3500" b="1" dirty="0">
                <a:latin typeface="Century Gothic" panose="020B0502020202020204" pitchFamily="34" charset="0"/>
              </a:rPr>
              <a:t>Manages resources effectively to reduce operational costs</a:t>
            </a:r>
          </a:p>
          <a:p>
            <a:pPr fontAlgn="base">
              <a:lnSpc>
                <a:spcPct val="150000"/>
              </a:lnSpc>
            </a:pPr>
            <a:r>
              <a:rPr lang="en-US" sz="3500" b="1" dirty="0">
                <a:latin typeface="Century Gothic" panose="020B0502020202020204" pitchFamily="34" charset="0"/>
              </a:rPr>
              <a:t>Provides technical support to maintain business continuity </a:t>
            </a:r>
          </a:p>
          <a:p>
            <a:pPr marL="0" indent="0">
              <a:buNone/>
            </a:pPr>
            <a:endParaRPr lang="en-US" sz="3500" b="1" dirty="0">
              <a:latin typeface="Century Gothic" panose="020B0502020202020204" pitchFamily="34" charset="0"/>
            </a:endParaRPr>
          </a:p>
        </p:txBody>
      </p:sp>
    </p:spTree>
    <p:extLst>
      <p:ext uri="{BB962C8B-B14F-4D97-AF65-F5344CB8AC3E}">
        <p14:creationId xmlns:p14="http://schemas.microsoft.com/office/powerpoint/2010/main" val="574625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F1190-B290-2BD4-E1DA-40BC0B168D1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17DCB18-D3B9-755F-2409-0862EDD28D68}"/>
              </a:ext>
            </a:extLst>
          </p:cNvPr>
          <p:cNvSpPr/>
          <p:nvPr/>
        </p:nvSpPr>
        <p:spPr>
          <a:xfrm>
            <a:off x="13469396" y="2719229"/>
            <a:ext cx="2544433" cy="2544433"/>
          </a:xfrm>
          <a:custGeom>
            <a:avLst/>
            <a:gdLst/>
            <a:ahLst/>
            <a:cxnLst/>
            <a:rect l="l" t="t" r="r" b="b"/>
            <a:pathLst>
              <a:path w="2544433" h="2544433">
                <a:moveTo>
                  <a:pt x="0" y="0"/>
                </a:moveTo>
                <a:lnTo>
                  <a:pt x="2544432" y="0"/>
                </a:lnTo>
                <a:lnTo>
                  <a:pt x="2544432" y="2544433"/>
                </a:lnTo>
                <a:lnTo>
                  <a:pt x="0" y="25444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5" name="Group 5">
            <a:extLst>
              <a:ext uri="{FF2B5EF4-FFF2-40B4-BE49-F238E27FC236}">
                <a16:creationId xmlns:a16="http://schemas.microsoft.com/office/drawing/2014/main" id="{532D53F4-D8BD-03FA-3F38-4E259A69F377}"/>
              </a:ext>
            </a:extLst>
          </p:cNvPr>
          <p:cNvGrpSpPr/>
          <p:nvPr/>
        </p:nvGrpSpPr>
        <p:grpSpPr>
          <a:xfrm>
            <a:off x="-1136521" y="3307946"/>
            <a:ext cx="2594369" cy="4588246"/>
            <a:chOff x="0" y="0"/>
            <a:chExt cx="683291" cy="1208427"/>
          </a:xfrm>
        </p:grpSpPr>
        <p:sp>
          <p:nvSpPr>
            <p:cNvPr id="6" name="Freeform 6">
              <a:extLst>
                <a:ext uri="{FF2B5EF4-FFF2-40B4-BE49-F238E27FC236}">
                  <a16:creationId xmlns:a16="http://schemas.microsoft.com/office/drawing/2014/main" id="{B3ED6566-C016-07D1-D703-8D4959135B5F}"/>
                </a:ext>
              </a:extLst>
            </p:cNvPr>
            <p:cNvSpPr/>
            <p:nvPr/>
          </p:nvSpPr>
          <p:spPr>
            <a:xfrm>
              <a:off x="0" y="0"/>
              <a:ext cx="683291" cy="1208427"/>
            </a:xfrm>
            <a:custGeom>
              <a:avLst/>
              <a:gdLst/>
              <a:ahLst/>
              <a:cxnLst/>
              <a:rect l="l" t="t" r="r" b="b"/>
              <a:pathLst>
                <a:path w="683291" h="1208427">
                  <a:moveTo>
                    <a:pt x="152190" y="0"/>
                  </a:moveTo>
                  <a:lnTo>
                    <a:pt x="531100" y="0"/>
                  </a:lnTo>
                  <a:cubicBezTo>
                    <a:pt x="571464" y="0"/>
                    <a:pt x="610174" y="16034"/>
                    <a:pt x="638715" y="44576"/>
                  </a:cubicBezTo>
                  <a:cubicBezTo>
                    <a:pt x="667256" y="73117"/>
                    <a:pt x="683291" y="111827"/>
                    <a:pt x="683291" y="152190"/>
                  </a:cubicBezTo>
                  <a:lnTo>
                    <a:pt x="683291" y="1056237"/>
                  </a:lnTo>
                  <a:cubicBezTo>
                    <a:pt x="683291" y="1096600"/>
                    <a:pt x="667256" y="1135310"/>
                    <a:pt x="638715" y="1163852"/>
                  </a:cubicBezTo>
                  <a:cubicBezTo>
                    <a:pt x="610174" y="1192393"/>
                    <a:pt x="571464" y="1208427"/>
                    <a:pt x="531100" y="1208427"/>
                  </a:cubicBezTo>
                  <a:lnTo>
                    <a:pt x="152190" y="1208427"/>
                  </a:lnTo>
                  <a:cubicBezTo>
                    <a:pt x="111827" y="1208427"/>
                    <a:pt x="73117" y="1192393"/>
                    <a:pt x="44576" y="1163852"/>
                  </a:cubicBezTo>
                  <a:cubicBezTo>
                    <a:pt x="16034" y="1135310"/>
                    <a:pt x="0" y="1096600"/>
                    <a:pt x="0" y="1056237"/>
                  </a:cubicBezTo>
                  <a:lnTo>
                    <a:pt x="0" y="152190"/>
                  </a:lnTo>
                  <a:cubicBezTo>
                    <a:pt x="0" y="111827"/>
                    <a:pt x="16034" y="73117"/>
                    <a:pt x="44576" y="44576"/>
                  </a:cubicBezTo>
                  <a:cubicBezTo>
                    <a:pt x="73117" y="16034"/>
                    <a:pt x="111827" y="0"/>
                    <a:pt x="152190" y="0"/>
                  </a:cubicBezTo>
                  <a:close/>
                </a:path>
              </a:pathLst>
            </a:custGeom>
            <a:solidFill>
              <a:srgbClr val="5188CC"/>
            </a:solidFill>
          </p:spPr>
        </p:sp>
        <p:sp>
          <p:nvSpPr>
            <p:cNvPr id="7" name="TextBox 7">
              <a:extLst>
                <a:ext uri="{FF2B5EF4-FFF2-40B4-BE49-F238E27FC236}">
                  <a16:creationId xmlns:a16="http://schemas.microsoft.com/office/drawing/2014/main" id="{8E41DF1B-7C1B-A2BE-6CCA-0CC6E3C2B97F}"/>
                </a:ext>
              </a:extLst>
            </p:cNvPr>
            <p:cNvSpPr txBox="1"/>
            <p:nvPr/>
          </p:nvSpPr>
          <p:spPr>
            <a:xfrm>
              <a:off x="0" y="-47625"/>
              <a:ext cx="683291" cy="1256052"/>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B9A6F47E-8F12-F9AD-75E4-2DBF4078F68C}"/>
              </a:ext>
            </a:extLst>
          </p:cNvPr>
          <p:cNvSpPr/>
          <p:nvPr/>
        </p:nvSpPr>
        <p:spPr>
          <a:xfrm>
            <a:off x="13731511" y="1434222"/>
            <a:ext cx="305535" cy="302202"/>
          </a:xfrm>
          <a:custGeom>
            <a:avLst/>
            <a:gdLst/>
            <a:ahLst/>
            <a:cxnLst/>
            <a:rect l="l" t="t" r="r" b="b"/>
            <a:pathLst>
              <a:path w="305535" h="302202">
                <a:moveTo>
                  <a:pt x="0" y="0"/>
                </a:moveTo>
                <a:lnTo>
                  <a:pt x="305535" y="0"/>
                </a:lnTo>
                <a:lnTo>
                  <a:pt x="305535" y="302203"/>
                </a:lnTo>
                <a:lnTo>
                  <a:pt x="0" y="30220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a:extLst>
              <a:ext uri="{FF2B5EF4-FFF2-40B4-BE49-F238E27FC236}">
                <a16:creationId xmlns:a16="http://schemas.microsoft.com/office/drawing/2014/main" id="{7D0C6369-FCD1-1569-1D73-31D50A89DD26}"/>
              </a:ext>
            </a:extLst>
          </p:cNvPr>
          <p:cNvSpPr/>
          <p:nvPr/>
        </p:nvSpPr>
        <p:spPr>
          <a:xfrm>
            <a:off x="1028700" y="-252231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a:extLst>
              <a:ext uri="{FF2B5EF4-FFF2-40B4-BE49-F238E27FC236}">
                <a16:creationId xmlns:a16="http://schemas.microsoft.com/office/drawing/2014/main" id="{BE7601CD-F237-91A6-2EE7-BCA942B809F7}"/>
              </a:ext>
            </a:extLst>
          </p:cNvPr>
          <p:cNvSpPr/>
          <p:nvPr/>
        </p:nvSpPr>
        <p:spPr>
          <a:xfrm>
            <a:off x="11958605" y="3307946"/>
            <a:ext cx="1025128" cy="1025128"/>
          </a:xfrm>
          <a:custGeom>
            <a:avLst/>
            <a:gdLst/>
            <a:ahLst/>
            <a:cxnLst/>
            <a:rect l="l" t="t" r="r" b="b"/>
            <a:pathLst>
              <a:path w="1025128" h="1025128">
                <a:moveTo>
                  <a:pt x="0" y="0"/>
                </a:moveTo>
                <a:lnTo>
                  <a:pt x="1025127" y="0"/>
                </a:lnTo>
                <a:lnTo>
                  <a:pt x="1025127" y="1025127"/>
                </a:lnTo>
                <a:lnTo>
                  <a:pt x="0" y="102512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4" name="Freeform 14">
            <a:extLst>
              <a:ext uri="{FF2B5EF4-FFF2-40B4-BE49-F238E27FC236}">
                <a16:creationId xmlns:a16="http://schemas.microsoft.com/office/drawing/2014/main" id="{5644F7AD-D742-92F0-6149-863711A4B37D}"/>
              </a:ext>
            </a:extLst>
          </p:cNvPr>
          <p:cNvSpPr/>
          <p:nvPr/>
        </p:nvSpPr>
        <p:spPr>
          <a:xfrm>
            <a:off x="7843805" y="8248617"/>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TextBox 15">
            <a:extLst>
              <a:ext uri="{FF2B5EF4-FFF2-40B4-BE49-F238E27FC236}">
                <a16:creationId xmlns:a16="http://schemas.microsoft.com/office/drawing/2014/main" id="{9932B54B-96CD-D7D5-2AE6-32AF04F015A4}"/>
              </a:ext>
            </a:extLst>
          </p:cNvPr>
          <p:cNvSpPr txBox="1"/>
          <p:nvPr/>
        </p:nvSpPr>
        <p:spPr>
          <a:xfrm>
            <a:off x="2412807" y="3028963"/>
            <a:ext cx="14808393" cy="4847481"/>
          </a:xfrm>
          <a:prstGeom prst="rect">
            <a:avLst/>
          </a:prstGeom>
        </p:spPr>
        <p:txBody>
          <a:bodyPr wrap="square" lIns="0" tIns="0" rIns="0" bIns="0" rtlCol="0" anchor="t">
            <a:spAutoFit/>
          </a:bodyPr>
          <a:lstStyle/>
          <a:p>
            <a:pPr algn="l">
              <a:lnSpc>
                <a:spcPts val="12564"/>
              </a:lnSpc>
            </a:pPr>
            <a:r>
              <a:rPr lang="en-US" sz="12198" b="1" dirty="0">
                <a:solidFill>
                  <a:srgbClr val="0E2F5F"/>
                </a:solidFill>
                <a:latin typeface="Barlow Condensed Heavy"/>
                <a:ea typeface="Barlow Condensed Heavy"/>
                <a:cs typeface="Barlow Condensed Heavy"/>
                <a:sym typeface="Barlow Condensed Heavy"/>
              </a:rPr>
              <a:t>What Does System Administrator Do?</a:t>
            </a:r>
          </a:p>
          <a:p>
            <a:pPr algn="l">
              <a:lnSpc>
                <a:spcPts val="12564"/>
              </a:lnSpc>
            </a:pPr>
            <a:endParaRPr lang="en-US" sz="12198" b="1" dirty="0">
              <a:solidFill>
                <a:srgbClr val="0E2F5F"/>
              </a:solidFill>
              <a:latin typeface="Barlow Condensed Heavy"/>
              <a:ea typeface="Barlow Condensed Heavy"/>
              <a:cs typeface="Barlow Condensed Heavy"/>
              <a:sym typeface="Barlow Condensed Heavy"/>
            </a:endParaRPr>
          </a:p>
        </p:txBody>
      </p:sp>
      <p:sp>
        <p:nvSpPr>
          <p:cNvPr id="16" name="Freeform 16">
            <a:extLst>
              <a:ext uri="{FF2B5EF4-FFF2-40B4-BE49-F238E27FC236}">
                <a16:creationId xmlns:a16="http://schemas.microsoft.com/office/drawing/2014/main" id="{5954D1DF-8C61-536D-69F4-C83376268E59}"/>
              </a:ext>
            </a:extLst>
          </p:cNvPr>
          <p:cNvSpPr/>
          <p:nvPr/>
        </p:nvSpPr>
        <p:spPr>
          <a:xfrm>
            <a:off x="12769424" y="2436835"/>
            <a:ext cx="806841" cy="564789"/>
          </a:xfrm>
          <a:custGeom>
            <a:avLst/>
            <a:gdLst/>
            <a:ahLst/>
            <a:cxnLst/>
            <a:rect l="l" t="t" r="r" b="b"/>
            <a:pathLst>
              <a:path w="806841" h="564789">
                <a:moveTo>
                  <a:pt x="0" y="0"/>
                </a:moveTo>
                <a:lnTo>
                  <a:pt x="806840" y="0"/>
                </a:lnTo>
                <a:lnTo>
                  <a:pt x="806840" y="564788"/>
                </a:lnTo>
                <a:lnTo>
                  <a:pt x="0" y="56478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8" name="TextBox 18">
            <a:extLst>
              <a:ext uri="{FF2B5EF4-FFF2-40B4-BE49-F238E27FC236}">
                <a16:creationId xmlns:a16="http://schemas.microsoft.com/office/drawing/2014/main" id="{52A9557A-9B0A-6D2D-B5E9-DE1B715AF4CB}"/>
              </a:ext>
            </a:extLst>
          </p:cNvPr>
          <p:cNvSpPr txBox="1"/>
          <p:nvPr/>
        </p:nvSpPr>
        <p:spPr>
          <a:xfrm>
            <a:off x="14211574" y="1415172"/>
            <a:ext cx="3009626" cy="306925"/>
          </a:xfrm>
          <a:prstGeom prst="rect">
            <a:avLst/>
          </a:prstGeom>
        </p:spPr>
        <p:txBody>
          <a:bodyPr lIns="0" tIns="0" rIns="0" bIns="0" rtlCol="0" anchor="t">
            <a:spAutoFit/>
          </a:bodyPr>
          <a:lstStyle/>
          <a:p>
            <a:pPr algn="l">
              <a:lnSpc>
                <a:spcPts val="2413"/>
              </a:lnSpc>
            </a:pPr>
            <a:r>
              <a:rPr lang="en-US" sz="1900" dirty="0">
                <a:solidFill>
                  <a:srgbClr val="FFFFFF"/>
                </a:solidFill>
                <a:latin typeface="Aileron"/>
                <a:ea typeface="Aileron"/>
                <a:cs typeface="Aileron"/>
                <a:sym typeface="Aileron"/>
              </a:rPr>
              <a:t>www.reallygreatsite.com</a:t>
            </a:r>
          </a:p>
        </p:txBody>
      </p:sp>
      <p:sp>
        <p:nvSpPr>
          <p:cNvPr id="19" name="Freeform 19">
            <a:extLst>
              <a:ext uri="{FF2B5EF4-FFF2-40B4-BE49-F238E27FC236}">
                <a16:creationId xmlns:a16="http://schemas.microsoft.com/office/drawing/2014/main" id="{0FBA4D62-EAFE-5CB6-F0BD-45FD44E92946}"/>
              </a:ext>
            </a:extLst>
          </p:cNvPr>
          <p:cNvSpPr/>
          <p:nvPr/>
        </p:nvSpPr>
        <p:spPr>
          <a:xfrm>
            <a:off x="2412807" y="8799767"/>
            <a:ext cx="1483489" cy="458533"/>
          </a:xfrm>
          <a:custGeom>
            <a:avLst/>
            <a:gdLst/>
            <a:ahLst/>
            <a:cxnLst/>
            <a:rect l="l" t="t" r="r" b="b"/>
            <a:pathLst>
              <a:path w="1483489" h="458533">
                <a:moveTo>
                  <a:pt x="0" y="0"/>
                </a:moveTo>
                <a:lnTo>
                  <a:pt x="1483489" y="0"/>
                </a:lnTo>
                <a:lnTo>
                  <a:pt x="1483489" y="458533"/>
                </a:lnTo>
                <a:lnTo>
                  <a:pt x="0" y="45853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Tree>
    <p:extLst>
      <p:ext uri="{BB962C8B-B14F-4D97-AF65-F5344CB8AC3E}">
        <p14:creationId xmlns:p14="http://schemas.microsoft.com/office/powerpoint/2010/main" val="534728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5E9DE-5E08-B61E-DA48-248734009ED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4274F19-B6A2-A431-AC29-24E1E1E316C2}"/>
              </a:ext>
            </a:extLst>
          </p:cNvPr>
          <p:cNvSpPr/>
          <p:nvPr/>
        </p:nvSpPr>
        <p:spPr>
          <a:xfrm>
            <a:off x="13469396" y="2719229"/>
            <a:ext cx="2544433" cy="2544433"/>
          </a:xfrm>
          <a:custGeom>
            <a:avLst/>
            <a:gdLst/>
            <a:ahLst/>
            <a:cxnLst/>
            <a:rect l="l" t="t" r="r" b="b"/>
            <a:pathLst>
              <a:path w="2544433" h="2544433">
                <a:moveTo>
                  <a:pt x="0" y="0"/>
                </a:moveTo>
                <a:lnTo>
                  <a:pt x="2544432" y="0"/>
                </a:lnTo>
                <a:lnTo>
                  <a:pt x="2544432" y="2544433"/>
                </a:lnTo>
                <a:lnTo>
                  <a:pt x="0" y="25444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5" name="Group 5">
            <a:extLst>
              <a:ext uri="{FF2B5EF4-FFF2-40B4-BE49-F238E27FC236}">
                <a16:creationId xmlns:a16="http://schemas.microsoft.com/office/drawing/2014/main" id="{41002CAD-7368-47EA-5228-79C40DF48B92}"/>
              </a:ext>
            </a:extLst>
          </p:cNvPr>
          <p:cNvGrpSpPr/>
          <p:nvPr/>
        </p:nvGrpSpPr>
        <p:grpSpPr>
          <a:xfrm>
            <a:off x="-1136521" y="3307946"/>
            <a:ext cx="2594369" cy="4588246"/>
            <a:chOff x="0" y="0"/>
            <a:chExt cx="683291" cy="1208427"/>
          </a:xfrm>
        </p:grpSpPr>
        <p:sp>
          <p:nvSpPr>
            <p:cNvPr id="6" name="Freeform 6">
              <a:extLst>
                <a:ext uri="{FF2B5EF4-FFF2-40B4-BE49-F238E27FC236}">
                  <a16:creationId xmlns:a16="http://schemas.microsoft.com/office/drawing/2014/main" id="{7AC15F0D-2E28-F972-5863-319051DA6AA7}"/>
                </a:ext>
              </a:extLst>
            </p:cNvPr>
            <p:cNvSpPr/>
            <p:nvPr/>
          </p:nvSpPr>
          <p:spPr>
            <a:xfrm>
              <a:off x="0" y="0"/>
              <a:ext cx="683291" cy="1208427"/>
            </a:xfrm>
            <a:custGeom>
              <a:avLst/>
              <a:gdLst/>
              <a:ahLst/>
              <a:cxnLst/>
              <a:rect l="l" t="t" r="r" b="b"/>
              <a:pathLst>
                <a:path w="683291" h="1208427">
                  <a:moveTo>
                    <a:pt x="152190" y="0"/>
                  </a:moveTo>
                  <a:lnTo>
                    <a:pt x="531100" y="0"/>
                  </a:lnTo>
                  <a:cubicBezTo>
                    <a:pt x="571464" y="0"/>
                    <a:pt x="610174" y="16034"/>
                    <a:pt x="638715" y="44576"/>
                  </a:cubicBezTo>
                  <a:cubicBezTo>
                    <a:pt x="667256" y="73117"/>
                    <a:pt x="683291" y="111827"/>
                    <a:pt x="683291" y="152190"/>
                  </a:cubicBezTo>
                  <a:lnTo>
                    <a:pt x="683291" y="1056237"/>
                  </a:lnTo>
                  <a:cubicBezTo>
                    <a:pt x="683291" y="1096600"/>
                    <a:pt x="667256" y="1135310"/>
                    <a:pt x="638715" y="1163852"/>
                  </a:cubicBezTo>
                  <a:cubicBezTo>
                    <a:pt x="610174" y="1192393"/>
                    <a:pt x="571464" y="1208427"/>
                    <a:pt x="531100" y="1208427"/>
                  </a:cubicBezTo>
                  <a:lnTo>
                    <a:pt x="152190" y="1208427"/>
                  </a:lnTo>
                  <a:cubicBezTo>
                    <a:pt x="111827" y="1208427"/>
                    <a:pt x="73117" y="1192393"/>
                    <a:pt x="44576" y="1163852"/>
                  </a:cubicBezTo>
                  <a:cubicBezTo>
                    <a:pt x="16034" y="1135310"/>
                    <a:pt x="0" y="1096600"/>
                    <a:pt x="0" y="1056237"/>
                  </a:cubicBezTo>
                  <a:lnTo>
                    <a:pt x="0" y="152190"/>
                  </a:lnTo>
                  <a:cubicBezTo>
                    <a:pt x="0" y="111827"/>
                    <a:pt x="16034" y="73117"/>
                    <a:pt x="44576" y="44576"/>
                  </a:cubicBezTo>
                  <a:cubicBezTo>
                    <a:pt x="73117" y="16034"/>
                    <a:pt x="111827" y="0"/>
                    <a:pt x="152190" y="0"/>
                  </a:cubicBezTo>
                  <a:close/>
                </a:path>
              </a:pathLst>
            </a:custGeom>
            <a:solidFill>
              <a:srgbClr val="5188CC"/>
            </a:solidFill>
          </p:spPr>
        </p:sp>
        <p:sp>
          <p:nvSpPr>
            <p:cNvPr id="7" name="TextBox 7">
              <a:extLst>
                <a:ext uri="{FF2B5EF4-FFF2-40B4-BE49-F238E27FC236}">
                  <a16:creationId xmlns:a16="http://schemas.microsoft.com/office/drawing/2014/main" id="{3D507FC4-CA8E-4797-2280-5284CCFB75B6}"/>
                </a:ext>
              </a:extLst>
            </p:cNvPr>
            <p:cNvSpPr txBox="1"/>
            <p:nvPr/>
          </p:nvSpPr>
          <p:spPr>
            <a:xfrm>
              <a:off x="0" y="-47625"/>
              <a:ext cx="683291" cy="1256052"/>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28460806-E6DB-479F-8445-FFAD228D5467}"/>
              </a:ext>
            </a:extLst>
          </p:cNvPr>
          <p:cNvSpPr/>
          <p:nvPr/>
        </p:nvSpPr>
        <p:spPr>
          <a:xfrm>
            <a:off x="13731511" y="1434222"/>
            <a:ext cx="305535" cy="302202"/>
          </a:xfrm>
          <a:custGeom>
            <a:avLst/>
            <a:gdLst/>
            <a:ahLst/>
            <a:cxnLst/>
            <a:rect l="l" t="t" r="r" b="b"/>
            <a:pathLst>
              <a:path w="305535" h="302202">
                <a:moveTo>
                  <a:pt x="0" y="0"/>
                </a:moveTo>
                <a:lnTo>
                  <a:pt x="305535" y="0"/>
                </a:lnTo>
                <a:lnTo>
                  <a:pt x="305535" y="302203"/>
                </a:lnTo>
                <a:lnTo>
                  <a:pt x="0" y="30220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a:extLst>
              <a:ext uri="{FF2B5EF4-FFF2-40B4-BE49-F238E27FC236}">
                <a16:creationId xmlns:a16="http://schemas.microsoft.com/office/drawing/2014/main" id="{FFA89D47-BCEC-411B-9066-8476F71DB73F}"/>
              </a:ext>
            </a:extLst>
          </p:cNvPr>
          <p:cNvSpPr/>
          <p:nvPr/>
        </p:nvSpPr>
        <p:spPr>
          <a:xfrm>
            <a:off x="1028700" y="-252231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a:extLst>
              <a:ext uri="{FF2B5EF4-FFF2-40B4-BE49-F238E27FC236}">
                <a16:creationId xmlns:a16="http://schemas.microsoft.com/office/drawing/2014/main" id="{C82EE69A-B395-E187-68AE-2111CF8063F7}"/>
              </a:ext>
            </a:extLst>
          </p:cNvPr>
          <p:cNvSpPr/>
          <p:nvPr/>
        </p:nvSpPr>
        <p:spPr>
          <a:xfrm>
            <a:off x="11958605" y="3307946"/>
            <a:ext cx="1025128" cy="1025128"/>
          </a:xfrm>
          <a:custGeom>
            <a:avLst/>
            <a:gdLst/>
            <a:ahLst/>
            <a:cxnLst/>
            <a:rect l="l" t="t" r="r" b="b"/>
            <a:pathLst>
              <a:path w="1025128" h="1025128">
                <a:moveTo>
                  <a:pt x="0" y="0"/>
                </a:moveTo>
                <a:lnTo>
                  <a:pt x="1025127" y="0"/>
                </a:lnTo>
                <a:lnTo>
                  <a:pt x="1025127" y="1025127"/>
                </a:lnTo>
                <a:lnTo>
                  <a:pt x="0" y="102512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4" name="Freeform 14">
            <a:extLst>
              <a:ext uri="{FF2B5EF4-FFF2-40B4-BE49-F238E27FC236}">
                <a16:creationId xmlns:a16="http://schemas.microsoft.com/office/drawing/2014/main" id="{261C4D76-FD9F-9A1F-0451-F3310AEFB736}"/>
              </a:ext>
            </a:extLst>
          </p:cNvPr>
          <p:cNvSpPr/>
          <p:nvPr/>
        </p:nvSpPr>
        <p:spPr>
          <a:xfrm>
            <a:off x="7843805" y="8248617"/>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TextBox 15">
            <a:extLst>
              <a:ext uri="{FF2B5EF4-FFF2-40B4-BE49-F238E27FC236}">
                <a16:creationId xmlns:a16="http://schemas.microsoft.com/office/drawing/2014/main" id="{8AA4C7F4-7665-8EF3-6908-9DFB828FED3F}"/>
              </a:ext>
            </a:extLst>
          </p:cNvPr>
          <p:cNvSpPr txBox="1"/>
          <p:nvPr/>
        </p:nvSpPr>
        <p:spPr>
          <a:xfrm>
            <a:off x="2412807" y="3028963"/>
            <a:ext cx="14808393" cy="3231654"/>
          </a:xfrm>
          <a:prstGeom prst="rect">
            <a:avLst/>
          </a:prstGeom>
        </p:spPr>
        <p:txBody>
          <a:bodyPr wrap="square" lIns="0" tIns="0" rIns="0" bIns="0" rtlCol="0" anchor="t">
            <a:spAutoFit/>
          </a:bodyPr>
          <a:lstStyle/>
          <a:p>
            <a:pPr algn="l">
              <a:lnSpc>
                <a:spcPts val="12564"/>
              </a:lnSpc>
            </a:pPr>
            <a:r>
              <a:rPr lang="en-US" sz="12198" b="1" dirty="0">
                <a:solidFill>
                  <a:srgbClr val="0E2F5F"/>
                </a:solidFill>
                <a:latin typeface="Barlow Condensed Heavy"/>
                <a:ea typeface="Barlow Condensed Heavy"/>
                <a:cs typeface="Barlow Condensed Heavy"/>
                <a:sym typeface="Barlow Condensed Heavy"/>
              </a:rPr>
              <a:t>Profession of System Administration</a:t>
            </a:r>
          </a:p>
        </p:txBody>
      </p:sp>
      <p:sp>
        <p:nvSpPr>
          <p:cNvPr id="16" name="Freeform 16">
            <a:extLst>
              <a:ext uri="{FF2B5EF4-FFF2-40B4-BE49-F238E27FC236}">
                <a16:creationId xmlns:a16="http://schemas.microsoft.com/office/drawing/2014/main" id="{2A414626-70E1-33AC-7799-ECE8830D592E}"/>
              </a:ext>
            </a:extLst>
          </p:cNvPr>
          <p:cNvSpPr/>
          <p:nvPr/>
        </p:nvSpPr>
        <p:spPr>
          <a:xfrm>
            <a:off x="12769424" y="2436835"/>
            <a:ext cx="806841" cy="564789"/>
          </a:xfrm>
          <a:custGeom>
            <a:avLst/>
            <a:gdLst/>
            <a:ahLst/>
            <a:cxnLst/>
            <a:rect l="l" t="t" r="r" b="b"/>
            <a:pathLst>
              <a:path w="806841" h="564789">
                <a:moveTo>
                  <a:pt x="0" y="0"/>
                </a:moveTo>
                <a:lnTo>
                  <a:pt x="806840" y="0"/>
                </a:lnTo>
                <a:lnTo>
                  <a:pt x="806840" y="564788"/>
                </a:lnTo>
                <a:lnTo>
                  <a:pt x="0" y="56478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8" name="TextBox 18">
            <a:extLst>
              <a:ext uri="{FF2B5EF4-FFF2-40B4-BE49-F238E27FC236}">
                <a16:creationId xmlns:a16="http://schemas.microsoft.com/office/drawing/2014/main" id="{5EBC61DD-19A4-F9E7-5D59-30A24AD6891E}"/>
              </a:ext>
            </a:extLst>
          </p:cNvPr>
          <p:cNvSpPr txBox="1"/>
          <p:nvPr/>
        </p:nvSpPr>
        <p:spPr>
          <a:xfrm>
            <a:off x="14211574" y="1415172"/>
            <a:ext cx="3009626" cy="306925"/>
          </a:xfrm>
          <a:prstGeom prst="rect">
            <a:avLst/>
          </a:prstGeom>
        </p:spPr>
        <p:txBody>
          <a:bodyPr lIns="0" tIns="0" rIns="0" bIns="0" rtlCol="0" anchor="t">
            <a:spAutoFit/>
          </a:bodyPr>
          <a:lstStyle/>
          <a:p>
            <a:pPr algn="l">
              <a:lnSpc>
                <a:spcPts val="2413"/>
              </a:lnSpc>
            </a:pPr>
            <a:r>
              <a:rPr lang="en-US" sz="1900" dirty="0">
                <a:solidFill>
                  <a:srgbClr val="FFFFFF"/>
                </a:solidFill>
                <a:latin typeface="Aileron"/>
                <a:ea typeface="Aileron"/>
                <a:cs typeface="Aileron"/>
                <a:sym typeface="Aileron"/>
              </a:rPr>
              <a:t>www.reallygreatsite.com</a:t>
            </a:r>
          </a:p>
        </p:txBody>
      </p:sp>
      <p:sp>
        <p:nvSpPr>
          <p:cNvPr id="19" name="Freeform 19">
            <a:extLst>
              <a:ext uri="{FF2B5EF4-FFF2-40B4-BE49-F238E27FC236}">
                <a16:creationId xmlns:a16="http://schemas.microsoft.com/office/drawing/2014/main" id="{6B7B46D0-587A-8835-50CD-653BA23F9C0D}"/>
              </a:ext>
            </a:extLst>
          </p:cNvPr>
          <p:cNvSpPr/>
          <p:nvPr/>
        </p:nvSpPr>
        <p:spPr>
          <a:xfrm>
            <a:off x="2412807" y="8799767"/>
            <a:ext cx="1483489" cy="458533"/>
          </a:xfrm>
          <a:custGeom>
            <a:avLst/>
            <a:gdLst/>
            <a:ahLst/>
            <a:cxnLst/>
            <a:rect l="l" t="t" r="r" b="b"/>
            <a:pathLst>
              <a:path w="1483489" h="458533">
                <a:moveTo>
                  <a:pt x="0" y="0"/>
                </a:moveTo>
                <a:lnTo>
                  <a:pt x="1483489" y="0"/>
                </a:lnTo>
                <a:lnTo>
                  <a:pt x="1483489" y="458533"/>
                </a:lnTo>
                <a:lnTo>
                  <a:pt x="0" y="45853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Tree>
    <p:extLst>
      <p:ext uri="{BB962C8B-B14F-4D97-AF65-F5344CB8AC3E}">
        <p14:creationId xmlns:p14="http://schemas.microsoft.com/office/powerpoint/2010/main" val="40943069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49054-07E0-D4F3-BD38-5F04A6DE39F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9D0465E-686D-BEAC-39B2-95A4172E6684}"/>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AFAFBDA1-B6E0-73BC-C85C-9B41E00F2BF2}"/>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AE46AE42-59D7-5932-AFB7-F015612C5307}"/>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5350C713-7776-D107-C0DE-16425A61035C}"/>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2407D801-F8B8-39B4-61AD-048F9059A5A6}"/>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876DBB58-5E23-0E81-934B-2285A8EDFAB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C1D2CA68-E82F-E6C7-6F46-7B74FC4B2C1D}"/>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23EA5032-E2C2-FB2D-66B4-9BC5E13D9038}"/>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68F6DBE0-525C-B77F-395C-74E34CC2D3C2}"/>
              </a:ext>
            </a:extLst>
          </p:cNvPr>
          <p:cNvSpPr txBox="1"/>
          <p:nvPr/>
        </p:nvSpPr>
        <p:spPr>
          <a:xfrm>
            <a:off x="228600" y="202666"/>
            <a:ext cx="18059400" cy="1915076"/>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Profession of System Administration</a:t>
            </a:r>
          </a:p>
          <a:p>
            <a:pPr algn="ctr">
              <a:lnSpc>
                <a:spcPts val="7619"/>
              </a:lnSpc>
            </a:pPr>
            <a:endParaRPr lang="en-US" sz="5999" b="1" dirty="0">
              <a:solidFill>
                <a:srgbClr val="0E2F5F"/>
              </a:solidFill>
              <a:latin typeface="Akzidenz-Grotesk Heavy"/>
              <a:ea typeface="Akzidenz-Grotesk Heavy"/>
              <a:cs typeface="Akzidenz-Grotesk Heavy"/>
              <a:sym typeface="Akzidenz-Grotesk Heavy"/>
            </a:endParaRPr>
          </a:p>
        </p:txBody>
      </p:sp>
      <p:sp>
        <p:nvSpPr>
          <p:cNvPr id="16" name="Freeform 16">
            <a:extLst>
              <a:ext uri="{FF2B5EF4-FFF2-40B4-BE49-F238E27FC236}">
                <a16:creationId xmlns:a16="http://schemas.microsoft.com/office/drawing/2014/main" id="{B92361CA-98A5-B445-9F62-AA604305C94D}"/>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pic>
        <p:nvPicPr>
          <p:cNvPr id="17" name="Picture 16">
            <a:extLst>
              <a:ext uri="{FF2B5EF4-FFF2-40B4-BE49-F238E27FC236}">
                <a16:creationId xmlns:a16="http://schemas.microsoft.com/office/drawing/2014/main" id="{2AE855A2-3B67-A894-BA9C-CCA198590BB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60992" y="1494744"/>
            <a:ext cx="6934220" cy="4619924"/>
          </a:xfrm>
          <a:prstGeom prst="rect">
            <a:avLst/>
          </a:prstGeom>
        </p:spPr>
      </p:pic>
      <p:pic>
        <p:nvPicPr>
          <p:cNvPr id="20" name="Picture 19">
            <a:extLst>
              <a:ext uri="{FF2B5EF4-FFF2-40B4-BE49-F238E27FC236}">
                <a16:creationId xmlns:a16="http://schemas.microsoft.com/office/drawing/2014/main" id="{4D9F1C4C-AF53-4987-99C1-B42FD091094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905691" y="3949303"/>
            <a:ext cx="9171829" cy="5159154"/>
          </a:xfrm>
          <a:prstGeom prst="rect">
            <a:avLst/>
          </a:prstGeom>
        </p:spPr>
      </p:pic>
    </p:spTree>
    <p:extLst>
      <p:ext uri="{BB962C8B-B14F-4D97-AF65-F5344CB8AC3E}">
        <p14:creationId xmlns:p14="http://schemas.microsoft.com/office/powerpoint/2010/main" val="31885366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B2B50-6918-1DE7-184A-B9A66BB68EA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EF475DB-3B27-BF96-723C-839A8A2F4D9E}"/>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30DC407A-4C7A-4780-ACBE-78BF177AD21C}"/>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4F6803A7-8330-655E-1941-6AAB3911A875}"/>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C3B6EE01-08D3-EC43-DA0B-AE1CAF9247E8}"/>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6B8161B2-E284-9D9E-57A4-C9FE6CF6C2E8}"/>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3BD8EE3E-F962-EECE-52B2-908B917ECC9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35FC5A95-B5F9-9A6B-CD99-8957689E5FC9}"/>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3E2108B6-DE6E-5822-50DB-6248BC5DF802}"/>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96B841E9-39FA-164B-82B5-3269EAC5E38B}"/>
              </a:ext>
            </a:extLst>
          </p:cNvPr>
          <p:cNvSpPr txBox="1"/>
          <p:nvPr/>
        </p:nvSpPr>
        <p:spPr>
          <a:xfrm>
            <a:off x="228600" y="202666"/>
            <a:ext cx="18059400" cy="1915076"/>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System Set Up and Configuration</a:t>
            </a:r>
          </a:p>
          <a:p>
            <a:pPr algn="ctr">
              <a:lnSpc>
                <a:spcPts val="7619"/>
              </a:lnSpc>
            </a:pPr>
            <a:endParaRPr lang="en-US" sz="5999" b="1" dirty="0">
              <a:solidFill>
                <a:srgbClr val="0E2F5F"/>
              </a:solidFill>
              <a:latin typeface="Akzidenz-Grotesk Heavy"/>
              <a:ea typeface="Akzidenz-Grotesk Heavy"/>
              <a:cs typeface="Akzidenz-Grotesk Heavy"/>
              <a:sym typeface="Akzidenz-Grotesk Heavy"/>
            </a:endParaRPr>
          </a:p>
        </p:txBody>
      </p:sp>
      <p:sp>
        <p:nvSpPr>
          <p:cNvPr id="16" name="Freeform 16">
            <a:extLst>
              <a:ext uri="{FF2B5EF4-FFF2-40B4-BE49-F238E27FC236}">
                <a16:creationId xmlns:a16="http://schemas.microsoft.com/office/drawing/2014/main" id="{ED19D4EC-CAA5-3FC3-90E5-602DBF3CE6A9}"/>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DC94C4B4-A18D-0437-5C3C-2E087D38B1E8}"/>
              </a:ext>
            </a:extLst>
          </p:cNvPr>
          <p:cNvSpPr>
            <a:spLocks noGrp="1"/>
          </p:cNvSpPr>
          <p:nvPr>
            <p:ph idx="1"/>
          </p:nvPr>
        </p:nvSpPr>
        <p:spPr>
          <a:xfrm>
            <a:off x="1959454" y="2262013"/>
            <a:ext cx="15181219" cy="7852963"/>
          </a:xfrm>
        </p:spPr>
        <p:txBody>
          <a:bodyPr>
            <a:normAutofit/>
          </a:bodyPr>
          <a:lstStyle/>
          <a:p>
            <a:r>
              <a:rPr lang="en-US" sz="5000" b="1" dirty="0">
                <a:latin typeface="Century Gothic" panose="020B0502020202020204" pitchFamily="34" charset="0"/>
              </a:rPr>
              <a:t>Install, update, and maintain operating systems across all devices.</a:t>
            </a:r>
          </a:p>
          <a:p>
            <a:endParaRPr lang="en-US" b="1" dirty="0">
              <a:latin typeface="Century Gothic" panose="020B0502020202020204" pitchFamily="34" charset="0"/>
            </a:endParaRPr>
          </a:p>
          <a:p>
            <a:pPr marL="0" indent="0">
              <a:buNone/>
            </a:pPr>
            <a:endParaRPr lang="en-US" dirty="0">
              <a:latin typeface="Century Gothic" panose="020B0502020202020204" pitchFamily="34" charset="0"/>
            </a:endParaRPr>
          </a:p>
          <a:p>
            <a:endParaRPr lang="en-US" b="1" dirty="0">
              <a:latin typeface="Century Gothic" panose="020B0502020202020204" pitchFamily="34" charset="0"/>
            </a:endParaRPr>
          </a:p>
        </p:txBody>
      </p:sp>
      <p:pic>
        <p:nvPicPr>
          <p:cNvPr id="7" name="Picture 6">
            <a:extLst>
              <a:ext uri="{FF2B5EF4-FFF2-40B4-BE49-F238E27FC236}">
                <a16:creationId xmlns:a16="http://schemas.microsoft.com/office/drawing/2014/main" id="{6F7ECCBF-9909-E44A-B0B8-2D7248E4B4D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033582" y="3443585"/>
            <a:ext cx="4876190" cy="4876190"/>
          </a:xfrm>
          <a:prstGeom prst="rect">
            <a:avLst/>
          </a:prstGeom>
        </p:spPr>
      </p:pic>
    </p:spTree>
    <p:extLst>
      <p:ext uri="{BB962C8B-B14F-4D97-AF65-F5344CB8AC3E}">
        <p14:creationId xmlns:p14="http://schemas.microsoft.com/office/powerpoint/2010/main" val="21501467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392C7-38D2-14A9-5BD3-303E9A6B2F6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870BF66-8753-E58C-57C1-23C293F35C43}"/>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2AC5D2C7-1B69-D064-9B4D-FD013C46E28D}"/>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BD63B47C-CD70-67C0-05AF-0A9AF013A0B1}"/>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4370D013-FD7B-710B-3B36-CA0C44FF28D2}"/>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5D94640A-7E40-404F-668C-D29314169427}"/>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E88D22F3-89E5-5280-8F61-5B1C07F7783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234E45FE-61AA-5648-525C-557475E00E89}"/>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6DD23E9F-06F5-94B1-7026-6F398DEC0CD1}"/>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F6E5EB73-BF7B-DE2F-1BB4-055E4CA43FE9}"/>
              </a:ext>
            </a:extLst>
          </p:cNvPr>
          <p:cNvSpPr txBox="1"/>
          <p:nvPr/>
        </p:nvSpPr>
        <p:spPr>
          <a:xfrm>
            <a:off x="228600" y="202666"/>
            <a:ext cx="18059400" cy="1915076"/>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System Set Up and Configuration</a:t>
            </a:r>
          </a:p>
          <a:p>
            <a:pPr algn="ctr">
              <a:lnSpc>
                <a:spcPts val="7619"/>
              </a:lnSpc>
            </a:pPr>
            <a:endParaRPr lang="en-US" sz="5999" b="1" dirty="0">
              <a:solidFill>
                <a:srgbClr val="0E2F5F"/>
              </a:solidFill>
              <a:latin typeface="Akzidenz-Grotesk Heavy"/>
              <a:ea typeface="Akzidenz-Grotesk Heavy"/>
              <a:cs typeface="Akzidenz-Grotesk Heavy"/>
              <a:sym typeface="Akzidenz-Grotesk Heavy"/>
            </a:endParaRPr>
          </a:p>
        </p:txBody>
      </p:sp>
      <p:sp>
        <p:nvSpPr>
          <p:cNvPr id="16" name="Freeform 16">
            <a:extLst>
              <a:ext uri="{FF2B5EF4-FFF2-40B4-BE49-F238E27FC236}">
                <a16:creationId xmlns:a16="http://schemas.microsoft.com/office/drawing/2014/main" id="{7A9EAFB7-734E-AF04-6615-A36886E1D12E}"/>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F97818BF-BD20-EEB4-5E8B-FE4769E024A3}"/>
              </a:ext>
            </a:extLst>
          </p:cNvPr>
          <p:cNvSpPr>
            <a:spLocks noGrp="1"/>
          </p:cNvSpPr>
          <p:nvPr>
            <p:ph idx="1"/>
          </p:nvPr>
        </p:nvSpPr>
        <p:spPr>
          <a:xfrm>
            <a:off x="1959454" y="2262013"/>
            <a:ext cx="15181219" cy="7852963"/>
          </a:xfrm>
        </p:spPr>
        <p:txBody>
          <a:bodyPr>
            <a:normAutofit/>
          </a:bodyPr>
          <a:lstStyle/>
          <a:p>
            <a:pPr marL="1079578" lvl="1" indent="-539789">
              <a:lnSpc>
                <a:spcPts val="7000"/>
              </a:lnSpc>
              <a:spcBef>
                <a:spcPct val="0"/>
              </a:spcBef>
              <a:buFont typeface="Arial"/>
              <a:buChar char="•"/>
            </a:pPr>
            <a:r>
              <a:rPr lang="en-US" sz="5000" b="1" dirty="0">
                <a:latin typeface="Century Gothic" panose="020B0502020202020204" pitchFamily="34" charset="0"/>
                <a:ea typeface="Be Vietnam Ultra-Bold"/>
                <a:cs typeface="Be Vietnam Ultra-Bold"/>
                <a:sym typeface="Be Vietnam Ultra-Bold"/>
              </a:rPr>
              <a:t>Setting up servers, workstations, and peripheral devices.</a:t>
            </a:r>
          </a:p>
          <a:p>
            <a:endParaRPr lang="en-US" b="1" dirty="0">
              <a:latin typeface="Century Gothic" panose="020B0502020202020204" pitchFamily="34" charset="0"/>
            </a:endParaRPr>
          </a:p>
          <a:p>
            <a:pPr marL="0" indent="0">
              <a:buNone/>
            </a:pPr>
            <a:endParaRPr lang="en-US" dirty="0">
              <a:latin typeface="Century Gothic" panose="020B0502020202020204" pitchFamily="34" charset="0"/>
            </a:endParaRPr>
          </a:p>
          <a:p>
            <a:endParaRPr lang="en-US" b="1" dirty="0">
              <a:latin typeface="Century Gothic" panose="020B0502020202020204" pitchFamily="34" charset="0"/>
            </a:endParaRPr>
          </a:p>
        </p:txBody>
      </p:sp>
      <p:pic>
        <p:nvPicPr>
          <p:cNvPr id="14" name="Picture 13">
            <a:extLst>
              <a:ext uri="{FF2B5EF4-FFF2-40B4-BE49-F238E27FC236}">
                <a16:creationId xmlns:a16="http://schemas.microsoft.com/office/drawing/2014/main" id="{A173047D-F386-76D5-B2B8-ACAC57A7F9C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10600" y="4778668"/>
            <a:ext cx="5781402" cy="4251031"/>
          </a:xfrm>
          <a:prstGeom prst="rect">
            <a:avLst/>
          </a:prstGeom>
        </p:spPr>
      </p:pic>
    </p:spTree>
    <p:extLst>
      <p:ext uri="{BB962C8B-B14F-4D97-AF65-F5344CB8AC3E}">
        <p14:creationId xmlns:p14="http://schemas.microsoft.com/office/powerpoint/2010/main" val="24328934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569F7-F4B3-D7C0-FD80-B00AC4EB05C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88D9488-08F1-489E-AFE1-011E3FE5D059}"/>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9E5E957D-7B6C-FED1-FF59-43CB400CA269}"/>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2B2F336B-F057-64D5-DB16-47CBEA4E04B7}"/>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CBADF27E-DDCD-C9C6-947A-C3FE6CF3389C}"/>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11E14ED2-8EE4-191B-37B6-CDB577FF255F}"/>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F45C1C1E-34A8-DD97-5AAC-21EB12F9A9F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3CA58BF0-EE1F-61C4-5E0F-5BC76E601B0A}"/>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CFF07F1D-9E74-7840-735A-95232F649DE4}"/>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6680CD72-C2F8-4FE7-FC82-7A29B76389E1}"/>
              </a:ext>
            </a:extLst>
          </p:cNvPr>
          <p:cNvSpPr txBox="1"/>
          <p:nvPr/>
        </p:nvSpPr>
        <p:spPr>
          <a:xfrm>
            <a:off x="228600" y="202666"/>
            <a:ext cx="18059400" cy="1915076"/>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Perform Daily Back Up and Restores</a:t>
            </a:r>
          </a:p>
          <a:p>
            <a:pPr algn="ctr">
              <a:lnSpc>
                <a:spcPts val="7619"/>
              </a:lnSpc>
            </a:pPr>
            <a:endParaRPr lang="en-US" sz="5999" b="1" dirty="0">
              <a:solidFill>
                <a:srgbClr val="0E2F5F"/>
              </a:solidFill>
              <a:latin typeface="Akzidenz-Grotesk Heavy"/>
              <a:ea typeface="Akzidenz-Grotesk Heavy"/>
              <a:cs typeface="Akzidenz-Grotesk Heavy"/>
              <a:sym typeface="Akzidenz-Grotesk Heavy"/>
            </a:endParaRPr>
          </a:p>
        </p:txBody>
      </p:sp>
      <p:sp>
        <p:nvSpPr>
          <p:cNvPr id="16" name="Freeform 16">
            <a:extLst>
              <a:ext uri="{FF2B5EF4-FFF2-40B4-BE49-F238E27FC236}">
                <a16:creationId xmlns:a16="http://schemas.microsoft.com/office/drawing/2014/main" id="{D878E139-1DF5-5C9A-8BBE-C682F496B84C}"/>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CD26FECE-90E9-D43C-7860-A5113D6170D7}"/>
              </a:ext>
            </a:extLst>
          </p:cNvPr>
          <p:cNvSpPr>
            <a:spLocks noGrp="1"/>
          </p:cNvSpPr>
          <p:nvPr>
            <p:ph idx="1"/>
          </p:nvPr>
        </p:nvSpPr>
        <p:spPr>
          <a:xfrm>
            <a:off x="1465570" y="1509529"/>
            <a:ext cx="15181219" cy="7852963"/>
          </a:xfrm>
        </p:spPr>
        <p:txBody>
          <a:bodyPr>
            <a:normAutofit/>
          </a:bodyPr>
          <a:lstStyle/>
          <a:p>
            <a:r>
              <a:rPr lang="en-US" sz="5000" b="1" dirty="0">
                <a:latin typeface="Century Gothic" panose="020B0502020202020204" pitchFamily="34" charset="0"/>
              </a:rPr>
              <a:t>Schedule and manage regular backups to prevent data loss.</a:t>
            </a:r>
          </a:p>
          <a:p>
            <a:endParaRPr lang="en-US" b="1" dirty="0">
              <a:latin typeface="Century Gothic" panose="020B0502020202020204" pitchFamily="34" charset="0"/>
            </a:endParaRPr>
          </a:p>
        </p:txBody>
      </p:sp>
      <p:pic>
        <p:nvPicPr>
          <p:cNvPr id="7" name="Picture 6">
            <a:extLst>
              <a:ext uri="{FF2B5EF4-FFF2-40B4-BE49-F238E27FC236}">
                <a16:creationId xmlns:a16="http://schemas.microsoft.com/office/drawing/2014/main" id="{A3F08F41-A1F4-B405-F870-C7EA362D7BF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27761" y="2698120"/>
            <a:ext cx="6018607" cy="6018607"/>
          </a:xfrm>
          <a:prstGeom prst="rect">
            <a:avLst/>
          </a:prstGeom>
        </p:spPr>
      </p:pic>
    </p:spTree>
    <p:extLst>
      <p:ext uri="{BB962C8B-B14F-4D97-AF65-F5344CB8AC3E}">
        <p14:creationId xmlns:p14="http://schemas.microsoft.com/office/powerpoint/2010/main" val="2652595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B8E64-44F9-14EF-2691-70182E5D3A7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F31B8F5-432C-70EE-2794-6DFE80171004}"/>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023D9396-79B3-A244-CC04-4471B5D96171}"/>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513756F7-6004-2399-124B-2E4871F366E0}"/>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BE2A1779-3986-8C15-D84E-FC7E06D4890A}"/>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F676DB31-0D36-DF32-4C39-8066B03EA875}"/>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6C9D6AAA-0F04-0727-F662-A194924875C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FFEF5A23-FDAA-A0D8-7143-2BD41BBC3C25}"/>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FEE54904-9E83-B7C6-52DC-1E9A7CAB51E8}"/>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E565F02B-5A60-066D-B716-E2E2EDEE5335}"/>
              </a:ext>
            </a:extLst>
          </p:cNvPr>
          <p:cNvSpPr txBox="1"/>
          <p:nvPr/>
        </p:nvSpPr>
        <p:spPr>
          <a:xfrm>
            <a:off x="228600" y="202666"/>
            <a:ext cx="18059400" cy="1915076"/>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Monitor System Performance</a:t>
            </a:r>
          </a:p>
          <a:p>
            <a:pPr algn="ctr">
              <a:lnSpc>
                <a:spcPts val="7619"/>
              </a:lnSpc>
            </a:pPr>
            <a:endParaRPr lang="en-US" sz="5999" b="1" dirty="0">
              <a:solidFill>
                <a:srgbClr val="0E2F5F"/>
              </a:solidFill>
              <a:latin typeface="Akzidenz-Grotesk Heavy"/>
              <a:ea typeface="Akzidenz-Grotesk Heavy"/>
              <a:cs typeface="Akzidenz-Grotesk Heavy"/>
              <a:sym typeface="Akzidenz-Grotesk Heavy"/>
            </a:endParaRPr>
          </a:p>
        </p:txBody>
      </p:sp>
      <p:sp>
        <p:nvSpPr>
          <p:cNvPr id="16" name="Freeform 16">
            <a:extLst>
              <a:ext uri="{FF2B5EF4-FFF2-40B4-BE49-F238E27FC236}">
                <a16:creationId xmlns:a16="http://schemas.microsoft.com/office/drawing/2014/main" id="{32FAA4D7-547B-AEB1-FA8E-D56A64B37D33}"/>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A2C55352-C4A1-AB23-8843-AB2BF9A61341}"/>
              </a:ext>
            </a:extLst>
          </p:cNvPr>
          <p:cNvSpPr>
            <a:spLocks noGrp="1"/>
          </p:cNvSpPr>
          <p:nvPr>
            <p:ph idx="1"/>
          </p:nvPr>
        </p:nvSpPr>
        <p:spPr>
          <a:xfrm>
            <a:off x="1959454" y="2262013"/>
            <a:ext cx="15181219" cy="7852963"/>
          </a:xfrm>
        </p:spPr>
        <p:txBody>
          <a:bodyPr>
            <a:normAutofit/>
          </a:bodyPr>
          <a:lstStyle/>
          <a:p>
            <a:pPr algn="just"/>
            <a:r>
              <a:rPr lang="en-US" sz="5000" b="1" dirty="0">
                <a:latin typeface="Century Gothic" panose="020B0502020202020204" pitchFamily="34" charset="0"/>
              </a:rPr>
              <a:t>Regularly check system logs, CPU usage, memory usage, and network performance to ensure optimal functioning.</a:t>
            </a:r>
          </a:p>
          <a:p>
            <a:endParaRPr lang="en-US" sz="3200" b="1" dirty="0">
              <a:latin typeface="Century Gothic" panose="020B0502020202020204" pitchFamily="34" charset="0"/>
            </a:endParaRPr>
          </a:p>
          <a:p>
            <a:pPr marL="0" indent="0">
              <a:buNone/>
            </a:pPr>
            <a:endParaRPr lang="en-US" dirty="0">
              <a:latin typeface="Century Gothic" panose="020B0502020202020204" pitchFamily="34" charset="0"/>
            </a:endParaRPr>
          </a:p>
          <a:p>
            <a:endParaRPr lang="en-US" b="1" dirty="0">
              <a:latin typeface="Century Gothic" panose="020B0502020202020204" pitchFamily="34" charset="0"/>
            </a:endParaRPr>
          </a:p>
        </p:txBody>
      </p:sp>
      <p:pic>
        <p:nvPicPr>
          <p:cNvPr id="7" name="Picture 6">
            <a:extLst>
              <a:ext uri="{FF2B5EF4-FFF2-40B4-BE49-F238E27FC236}">
                <a16:creationId xmlns:a16="http://schemas.microsoft.com/office/drawing/2014/main" id="{3B52CCB0-418E-7B82-4AAA-6A368072996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47952" y="4762500"/>
            <a:ext cx="8474696" cy="4419600"/>
          </a:xfrm>
          <a:prstGeom prst="rect">
            <a:avLst/>
          </a:prstGeom>
        </p:spPr>
      </p:pic>
    </p:spTree>
    <p:extLst>
      <p:ext uri="{BB962C8B-B14F-4D97-AF65-F5344CB8AC3E}">
        <p14:creationId xmlns:p14="http://schemas.microsoft.com/office/powerpoint/2010/main" val="3567834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4AB97-91F0-873E-9C3B-80070588EA9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621EDE6-A433-2185-1F89-9EBAB06D873C}"/>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961903EB-FB4D-7BFB-FD27-D3CF19E7A1D9}"/>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0E285878-E93C-F5DA-F6AC-0D64ABCA5F5D}"/>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ED377A18-7235-B9E1-D39D-80A3A93BEEDB}"/>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C1BD7EDD-F0A8-2228-110D-33A2B2DE89E0}"/>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00838FDB-6646-4769-A0DF-0B153475B20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8D2D66E5-DA73-57CF-48D4-1F8CFEB860BA}"/>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27B7DFE7-6918-D4EF-2002-650F03AD5E1D}"/>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EE2D95FC-BD95-1AC7-9D4F-89CD1F539F9B}"/>
              </a:ext>
            </a:extLst>
          </p:cNvPr>
          <p:cNvSpPr txBox="1"/>
          <p:nvPr/>
        </p:nvSpPr>
        <p:spPr>
          <a:xfrm>
            <a:off x="228600" y="202666"/>
            <a:ext cx="18059400" cy="1915076"/>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User Administration</a:t>
            </a:r>
          </a:p>
          <a:p>
            <a:pPr algn="ctr">
              <a:lnSpc>
                <a:spcPts val="7619"/>
              </a:lnSpc>
            </a:pPr>
            <a:endParaRPr lang="en-US" sz="5999" b="1" dirty="0">
              <a:solidFill>
                <a:srgbClr val="0E2F5F"/>
              </a:solidFill>
              <a:latin typeface="Akzidenz-Grotesk Heavy"/>
              <a:ea typeface="Akzidenz-Grotesk Heavy"/>
              <a:cs typeface="Akzidenz-Grotesk Heavy"/>
              <a:sym typeface="Akzidenz-Grotesk Heavy"/>
            </a:endParaRPr>
          </a:p>
        </p:txBody>
      </p:sp>
      <p:sp>
        <p:nvSpPr>
          <p:cNvPr id="16" name="Freeform 16">
            <a:extLst>
              <a:ext uri="{FF2B5EF4-FFF2-40B4-BE49-F238E27FC236}">
                <a16:creationId xmlns:a16="http://schemas.microsoft.com/office/drawing/2014/main" id="{3430BD4A-811A-755E-51E0-E6ABD596DFE2}"/>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C1DD03E2-EEB0-DC31-9757-20FFE97B8C3B}"/>
              </a:ext>
            </a:extLst>
          </p:cNvPr>
          <p:cNvSpPr>
            <a:spLocks noGrp="1"/>
          </p:cNvSpPr>
          <p:nvPr>
            <p:ph idx="1"/>
          </p:nvPr>
        </p:nvSpPr>
        <p:spPr>
          <a:xfrm>
            <a:off x="1704304" y="1780942"/>
            <a:ext cx="15181219" cy="7852963"/>
          </a:xfrm>
        </p:spPr>
        <p:txBody>
          <a:bodyPr>
            <a:normAutofit/>
          </a:bodyPr>
          <a:lstStyle/>
          <a:p>
            <a:pPr marL="457200" lvl="1" indent="0">
              <a:buNone/>
            </a:pPr>
            <a:r>
              <a:rPr lang="en-US" sz="5000" b="1" dirty="0">
                <a:latin typeface="Century Gothic" panose="020B0502020202020204" pitchFamily="34" charset="0"/>
              </a:rPr>
              <a:t>Manage user accounts, permissions, and access rights to ensure appropriate access to resources.</a:t>
            </a:r>
          </a:p>
          <a:p>
            <a:endParaRPr lang="en-US" b="1" dirty="0">
              <a:latin typeface="Century Gothic" panose="020B0502020202020204" pitchFamily="34" charset="0"/>
            </a:endParaRPr>
          </a:p>
        </p:txBody>
      </p:sp>
      <p:pic>
        <p:nvPicPr>
          <p:cNvPr id="7" name="Picture 6">
            <a:extLst>
              <a:ext uri="{FF2B5EF4-FFF2-40B4-BE49-F238E27FC236}">
                <a16:creationId xmlns:a16="http://schemas.microsoft.com/office/drawing/2014/main" id="{7DC2E591-939A-1017-5213-9DB3DBF66CF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272477" y="3451382"/>
            <a:ext cx="4876190" cy="4876190"/>
          </a:xfrm>
          <a:prstGeom prst="rect">
            <a:avLst/>
          </a:prstGeom>
        </p:spPr>
      </p:pic>
    </p:spTree>
    <p:extLst>
      <p:ext uri="{BB962C8B-B14F-4D97-AF65-F5344CB8AC3E}">
        <p14:creationId xmlns:p14="http://schemas.microsoft.com/office/powerpoint/2010/main" val="17092376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D5A9C-54AF-EEC2-8C3E-0DF78CC6139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4A9A7B0-CBA3-31FD-AD33-4830A465B486}"/>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B9809382-7B55-1CED-EA07-82C35D9CA631}"/>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255F403E-6721-632F-B802-18AB13370254}"/>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7EE3649F-CE87-45D0-3B91-6FAE27E243F9}"/>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0023B6C5-C06A-19D2-AAAD-E2F897E5130B}"/>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673D7F66-D729-A59E-931D-988CA1663D7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4BEEDEE1-0194-8314-7D79-2691308678F8}"/>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2B089E66-2928-C54B-862F-0755D3673BA1}"/>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006DC00A-703D-0035-276A-E31FB28280E1}"/>
              </a:ext>
            </a:extLst>
          </p:cNvPr>
          <p:cNvSpPr txBox="1"/>
          <p:nvPr/>
        </p:nvSpPr>
        <p:spPr>
          <a:xfrm>
            <a:off x="228600" y="202666"/>
            <a:ext cx="18059400" cy="1915076"/>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NETWORK MANAGEMENT</a:t>
            </a:r>
          </a:p>
          <a:p>
            <a:pPr algn="ctr">
              <a:lnSpc>
                <a:spcPts val="7619"/>
              </a:lnSpc>
            </a:pPr>
            <a:endParaRPr lang="en-US" sz="5999" b="1" dirty="0">
              <a:solidFill>
                <a:srgbClr val="0E2F5F"/>
              </a:solidFill>
              <a:latin typeface="Akzidenz-Grotesk Heavy"/>
              <a:ea typeface="Akzidenz-Grotesk Heavy"/>
              <a:cs typeface="Akzidenz-Grotesk Heavy"/>
              <a:sym typeface="Akzidenz-Grotesk Heavy"/>
            </a:endParaRPr>
          </a:p>
        </p:txBody>
      </p:sp>
      <p:sp>
        <p:nvSpPr>
          <p:cNvPr id="16" name="Freeform 16">
            <a:extLst>
              <a:ext uri="{FF2B5EF4-FFF2-40B4-BE49-F238E27FC236}">
                <a16:creationId xmlns:a16="http://schemas.microsoft.com/office/drawing/2014/main" id="{DF7C0578-4FCB-4CD9-50FA-E473CEBBFBF9}"/>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6174AA03-7E9A-8166-C080-BC2790D0C076}"/>
              </a:ext>
            </a:extLst>
          </p:cNvPr>
          <p:cNvSpPr>
            <a:spLocks noGrp="1"/>
          </p:cNvSpPr>
          <p:nvPr>
            <p:ph idx="1"/>
          </p:nvPr>
        </p:nvSpPr>
        <p:spPr>
          <a:xfrm>
            <a:off x="1719131" y="1780942"/>
            <a:ext cx="16328546" cy="7852963"/>
          </a:xfrm>
        </p:spPr>
        <p:txBody>
          <a:bodyPr>
            <a:normAutofit/>
          </a:bodyPr>
          <a:lstStyle/>
          <a:p>
            <a:pPr marL="0" indent="0">
              <a:buNone/>
            </a:pPr>
            <a:r>
              <a:rPr lang="en-US" sz="4500" b="1" dirty="0">
                <a:latin typeface="Century Gothic" panose="020B0502020202020204" pitchFamily="34" charset="0"/>
              </a:rPr>
              <a:t>Configuring routers, switches and firewall, monitoring network performance and connectivity, troubleshooting network outrages or slowdowns</a:t>
            </a:r>
          </a:p>
          <a:p>
            <a:pPr algn="just"/>
            <a:endParaRPr lang="en-US" sz="5000" b="1" dirty="0">
              <a:latin typeface="Century Gothic" panose="020B0502020202020204" pitchFamily="34" charset="0"/>
            </a:endParaRPr>
          </a:p>
          <a:p>
            <a:pPr marL="0" indent="0" algn="just">
              <a:buNone/>
            </a:pPr>
            <a:endParaRPr lang="en-US" sz="5000" b="1" dirty="0">
              <a:latin typeface="Century Gothic" panose="020B0502020202020204" pitchFamily="34" charset="0"/>
            </a:endParaRPr>
          </a:p>
          <a:p>
            <a:pPr algn="just"/>
            <a:endParaRPr lang="en-US" sz="5000" b="1" dirty="0">
              <a:latin typeface="Century Gothic" panose="020B0502020202020204" pitchFamily="34" charset="0"/>
            </a:endParaRPr>
          </a:p>
        </p:txBody>
      </p:sp>
      <p:pic>
        <p:nvPicPr>
          <p:cNvPr id="7" name="Picture 6">
            <a:extLst>
              <a:ext uri="{FF2B5EF4-FFF2-40B4-BE49-F238E27FC236}">
                <a16:creationId xmlns:a16="http://schemas.microsoft.com/office/drawing/2014/main" id="{E322A54B-3A48-6B48-80E2-14DFE4FE303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39357" y="4423730"/>
            <a:ext cx="7620000" cy="5210175"/>
          </a:xfrm>
          <a:prstGeom prst="rect">
            <a:avLst/>
          </a:prstGeom>
        </p:spPr>
      </p:pic>
    </p:spTree>
    <p:extLst>
      <p:ext uri="{BB962C8B-B14F-4D97-AF65-F5344CB8AC3E}">
        <p14:creationId xmlns:p14="http://schemas.microsoft.com/office/powerpoint/2010/main" val="42087914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656EA-A248-501E-6464-950FEE5ED4D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80DB1CD-9581-72F5-3C64-7414ADF27C9E}"/>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CB63B217-1F7C-39BA-A3FC-FE91177F6DFB}"/>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144ED00D-4A32-21AE-B7DB-70D7E028F8ED}"/>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71D2A9C4-A2F6-7475-4B4B-5A8363B3346E}"/>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0B05DB1A-3870-D6BE-D28F-B1F837BE8FDF}"/>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7715DAE5-486F-4C23-2B99-55C7A48B288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AFF47F73-C0FF-F963-BF95-50F119D83A37}"/>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EBD7F31E-538F-F2A0-8A2D-319EF1637609}"/>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F3560C3B-7007-1BD8-E4D5-56C53C4A6621}"/>
              </a:ext>
            </a:extLst>
          </p:cNvPr>
          <p:cNvSpPr txBox="1"/>
          <p:nvPr/>
        </p:nvSpPr>
        <p:spPr>
          <a:xfrm>
            <a:off x="228600" y="202666"/>
            <a:ext cx="18059400" cy="1915076"/>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Troubleshooting and Problem Resolution</a:t>
            </a:r>
          </a:p>
          <a:p>
            <a:pPr algn="ctr">
              <a:lnSpc>
                <a:spcPts val="7619"/>
              </a:lnSpc>
            </a:pPr>
            <a:endParaRPr lang="en-US" sz="5999" b="1" dirty="0">
              <a:solidFill>
                <a:srgbClr val="0E2F5F"/>
              </a:solidFill>
              <a:latin typeface="Akzidenz-Grotesk Heavy"/>
              <a:ea typeface="Akzidenz-Grotesk Heavy"/>
              <a:cs typeface="Akzidenz-Grotesk Heavy"/>
              <a:sym typeface="Akzidenz-Grotesk Heavy"/>
            </a:endParaRPr>
          </a:p>
        </p:txBody>
      </p:sp>
      <p:sp>
        <p:nvSpPr>
          <p:cNvPr id="16" name="Freeform 16">
            <a:extLst>
              <a:ext uri="{FF2B5EF4-FFF2-40B4-BE49-F238E27FC236}">
                <a16:creationId xmlns:a16="http://schemas.microsoft.com/office/drawing/2014/main" id="{0BF9F9C6-53E7-89EA-A3EE-83773B12C71F}"/>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CDDC5AD4-398F-26A0-FA27-C0E28416FFA5}"/>
              </a:ext>
            </a:extLst>
          </p:cNvPr>
          <p:cNvSpPr>
            <a:spLocks noGrp="1"/>
          </p:cNvSpPr>
          <p:nvPr>
            <p:ph idx="1"/>
          </p:nvPr>
        </p:nvSpPr>
        <p:spPr>
          <a:xfrm>
            <a:off x="1959454" y="2262013"/>
            <a:ext cx="15181219" cy="7852963"/>
          </a:xfrm>
        </p:spPr>
        <p:txBody>
          <a:bodyPr>
            <a:normAutofit/>
          </a:bodyPr>
          <a:lstStyle/>
          <a:p>
            <a:pPr marL="457200" lvl="1" indent="0">
              <a:buNone/>
            </a:pPr>
            <a:r>
              <a:rPr lang="en-US" sz="5000" b="1" dirty="0">
                <a:latin typeface="Century Gothic" panose="020B0502020202020204" pitchFamily="34" charset="0"/>
              </a:rPr>
              <a:t>Diagnosing and fixing software, hardware and network issues</a:t>
            </a:r>
          </a:p>
          <a:p>
            <a:endParaRPr lang="en-US" b="1" dirty="0">
              <a:latin typeface="Century Gothic" panose="020B0502020202020204" pitchFamily="34" charset="0"/>
            </a:endParaRPr>
          </a:p>
          <a:p>
            <a:endParaRPr lang="en-US" b="1" dirty="0">
              <a:latin typeface="Century Gothic" panose="020B0502020202020204" pitchFamily="34" charset="0"/>
            </a:endParaRPr>
          </a:p>
          <a:p>
            <a:pPr lvl="1"/>
            <a:endParaRPr lang="en-US" b="1" dirty="0">
              <a:latin typeface="Century Gothic" panose="020B0502020202020204" pitchFamily="34" charset="0"/>
            </a:endParaRPr>
          </a:p>
          <a:p>
            <a:endParaRPr lang="en-US" b="1" dirty="0">
              <a:latin typeface="Century Gothic" panose="020B0502020202020204" pitchFamily="34" charset="0"/>
            </a:endParaRPr>
          </a:p>
          <a:p>
            <a:endParaRPr lang="en-US" b="1" dirty="0">
              <a:latin typeface="Century Gothic" panose="020B0502020202020204" pitchFamily="34" charset="0"/>
            </a:endParaRPr>
          </a:p>
        </p:txBody>
      </p:sp>
      <p:pic>
        <p:nvPicPr>
          <p:cNvPr id="7" name="Picture 6">
            <a:extLst>
              <a:ext uri="{FF2B5EF4-FFF2-40B4-BE49-F238E27FC236}">
                <a16:creationId xmlns:a16="http://schemas.microsoft.com/office/drawing/2014/main" id="{03924D24-1667-53A1-19C1-037B967A4ED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52943" y="3750625"/>
            <a:ext cx="7875603" cy="5246208"/>
          </a:xfrm>
          <a:prstGeom prst="rect">
            <a:avLst/>
          </a:prstGeom>
        </p:spPr>
      </p:pic>
    </p:spTree>
    <p:extLst>
      <p:ext uri="{BB962C8B-B14F-4D97-AF65-F5344CB8AC3E}">
        <p14:creationId xmlns:p14="http://schemas.microsoft.com/office/powerpoint/2010/main" val="30381817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ADFE7-45D1-1EF2-0BA2-277551B4732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F4688B1-BC49-E49B-002A-C4ED6C2C6E72}"/>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09C315FE-DD02-9AEF-178B-E4343CAF287D}"/>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BC599D2A-C6AF-8224-3000-034D9F6F731C}"/>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D3FB2FF5-9198-AD97-D08F-200C515A62B8}"/>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8984BA99-E94C-A781-0BD8-C4E5895BC2F8}"/>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D1FC0295-FAD6-A0EF-5598-6CF72F19F26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E2B1D883-5130-FE8C-F821-77A78126D309}"/>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0DA6E88C-654C-962F-DE14-0C121B0A0446}"/>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39A3F58F-03B3-A0DA-8A45-5AFEC36D02B2}"/>
              </a:ext>
            </a:extLst>
          </p:cNvPr>
          <p:cNvSpPr txBox="1"/>
          <p:nvPr/>
        </p:nvSpPr>
        <p:spPr>
          <a:xfrm>
            <a:off x="228600" y="202666"/>
            <a:ext cx="18059400" cy="1915076"/>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Troubleshooting and Problem Resolution</a:t>
            </a:r>
          </a:p>
          <a:p>
            <a:pPr algn="ctr">
              <a:lnSpc>
                <a:spcPts val="7619"/>
              </a:lnSpc>
            </a:pPr>
            <a:endParaRPr lang="en-US" sz="5999" b="1" dirty="0">
              <a:solidFill>
                <a:srgbClr val="0E2F5F"/>
              </a:solidFill>
              <a:latin typeface="Akzidenz-Grotesk Heavy"/>
              <a:ea typeface="Akzidenz-Grotesk Heavy"/>
              <a:cs typeface="Akzidenz-Grotesk Heavy"/>
              <a:sym typeface="Akzidenz-Grotesk Heavy"/>
            </a:endParaRPr>
          </a:p>
        </p:txBody>
      </p:sp>
      <p:sp>
        <p:nvSpPr>
          <p:cNvPr id="16" name="Freeform 16">
            <a:extLst>
              <a:ext uri="{FF2B5EF4-FFF2-40B4-BE49-F238E27FC236}">
                <a16:creationId xmlns:a16="http://schemas.microsoft.com/office/drawing/2014/main" id="{BD68A407-8861-5BA9-5234-672848DCA8DA}"/>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48C0FB3D-CB4B-1AF3-A246-8C48B6382ECC}"/>
              </a:ext>
            </a:extLst>
          </p:cNvPr>
          <p:cNvSpPr>
            <a:spLocks noGrp="1"/>
          </p:cNvSpPr>
          <p:nvPr>
            <p:ph idx="1"/>
          </p:nvPr>
        </p:nvSpPr>
        <p:spPr>
          <a:xfrm>
            <a:off x="1959454" y="2262013"/>
            <a:ext cx="15181219" cy="7852963"/>
          </a:xfrm>
        </p:spPr>
        <p:txBody>
          <a:bodyPr>
            <a:normAutofit/>
          </a:bodyPr>
          <a:lstStyle/>
          <a:p>
            <a:pPr marL="457200" lvl="1" indent="0">
              <a:buNone/>
            </a:pPr>
            <a:r>
              <a:rPr lang="en-US" sz="5400" b="1" dirty="0">
                <a:latin typeface="Century Gothic" panose="020B0502020202020204" pitchFamily="34" charset="0"/>
              </a:rPr>
              <a:t>Using system logs , monitoring tools and diagnostic commands</a:t>
            </a:r>
          </a:p>
          <a:p>
            <a:endParaRPr lang="en-US" b="1" dirty="0">
              <a:latin typeface="Century Gothic" panose="020B0502020202020204" pitchFamily="34" charset="0"/>
            </a:endParaRPr>
          </a:p>
          <a:p>
            <a:endParaRPr lang="en-US" b="1" dirty="0">
              <a:latin typeface="Century Gothic" panose="020B0502020202020204" pitchFamily="34" charset="0"/>
            </a:endParaRPr>
          </a:p>
          <a:p>
            <a:pPr lvl="1"/>
            <a:endParaRPr lang="en-US" b="1" dirty="0">
              <a:latin typeface="Century Gothic" panose="020B0502020202020204" pitchFamily="34" charset="0"/>
            </a:endParaRPr>
          </a:p>
          <a:p>
            <a:endParaRPr lang="en-US" b="1" dirty="0">
              <a:latin typeface="Century Gothic" panose="020B0502020202020204" pitchFamily="34" charset="0"/>
            </a:endParaRPr>
          </a:p>
          <a:p>
            <a:endParaRPr lang="en-US" b="1" dirty="0">
              <a:latin typeface="Century Gothic" panose="020B0502020202020204" pitchFamily="34" charset="0"/>
            </a:endParaRPr>
          </a:p>
        </p:txBody>
      </p:sp>
      <p:pic>
        <p:nvPicPr>
          <p:cNvPr id="7" name="Picture 6">
            <a:extLst>
              <a:ext uri="{FF2B5EF4-FFF2-40B4-BE49-F238E27FC236}">
                <a16:creationId xmlns:a16="http://schemas.microsoft.com/office/drawing/2014/main" id="{DC8D7D0B-630D-5BB5-DDBD-DCEC7816E4C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83046" y="4248444"/>
            <a:ext cx="7875603" cy="5246208"/>
          </a:xfrm>
          <a:prstGeom prst="rect">
            <a:avLst/>
          </a:prstGeom>
        </p:spPr>
      </p:pic>
    </p:spTree>
    <p:extLst>
      <p:ext uri="{BB962C8B-B14F-4D97-AF65-F5344CB8AC3E}">
        <p14:creationId xmlns:p14="http://schemas.microsoft.com/office/powerpoint/2010/main" val="39646353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80251-97CE-32C0-F8DF-966DC196CA3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40306A9-F14C-2E63-82B0-D5FCCC747C9A}"/>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9F6C3FD7-42C5-FDB9-B1EA-6399036EC7D4}"/>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3EC7F09F-E351-ACAA-CFFA-DA3F9203E932}"/>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E34119F7-05AC-C98E-7685-66DB51EC64EF}"/>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0EF5651A-ED5A-CB5F-DA3B-BAFD8500052B}"/>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84E4257C-33B1-68BF-442D-479F4CADE0C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FA974240-1AB4-CBF9-1EEC-9C3A5E607B48}"/>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2158A123-1016-D2A6-D633-99A2A4BE603E}"/>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903B5A6A-0B5D-9831-1C38-CB4635B34597}"/>
              </a:ext>
            </a:extLst>
          </p:cNvPr>
          <p:cNvSpPr txBox="1"/>
          <p:nvPr/>
        </p:nvSpPr>
        <p:spPr>
          <a:xfrm>
            <a:off x="228600" y="202666"/>
            <a:ext cx="18059400" cy="1915076"/>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Troubleshooting and Problem Resolution</a:t>
            </a:r>
          </a:p>
          <a:p>
            <a:pPr algn="ctr">
              <a:lnSpc>
                <a:spcPts val="7619"/>
              </a:lnSpc>
            </a:pPr>
            <a:endParaRPr lang="en-US" sz="5999" b="1" dirty="0">
              <a:solidFill>
                <a:srgbClr val="0E2F5F"/>
              </a:solidFill>
              <a:latin typeface="Akzidenz-Grotesk Heavy"/>
              <a:ea typeface="Akzidenz-Grotesk Heavy"/>
              <a:cs typeface="Akzidenz-Grotesk Heavy"/>
              <a:sym typeface="Akzidenz-Grotesk Heavy"/>
            </a:endParaRPr>
          </a:p>
        </p:txBody>
      </p:sp>
      <p:sp>
        <p:nvSpPr>
          <p:cNvPr id="16" name="Freeform 16">
            <a:extLst>
              <a:ext uri="{FF2B5EF4-FFF2-40B4-BE49-F238E27FC236}">
                <a16:creationId xmlns:a16="http://schemas.microsoft.com/office/drawing/2014/main" id="{229B0D5E-8DCC-3E3B-B640-25783BE60003}"/>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17E5A9E5-2C63-8D4E-54B8-6E4639316065}"/>
              </a:ext>
            </a:extLst>
          </p:cNvPr>
          <p:cNvSpPr>
            <a:spLocks noGrp="1"/>
          </p:cNvSpPr>
          <p:nvPr>
            <p:ph idx="1"/>
          </p:nvPr>
        </p:nvSpPr>
        <p:spPr>
          <a:xfrm>
            <a:off x="1959454" y="2262013"/>
            <a:ext cx="15181219" cy="7852963"/>
          </a:xfrm>
        </p:spPr>
        <p:txBody>
          <a:bodyPr>
            <a:normAutofit/>
          </a:bodyPr>
          <a:lstStyle/>
          <a:p>
            <a:pPr marL="457200" lvl="1" indent="0">
              <a:buNone/>
            </a:pPr>
            <a:r>
              <a:rPr lang="en-US" sz="5400" b="1" dirty="0">
                <a:latin typeface="Century Gothic" panose="020B0502020202020204" pitchFamily="34" charset="0"/>
              </a:rPr>
              <a:t>Minimizing downtime through quick response</a:t>
            </a:r>
          </a:p>
          <a:p>
            <a:endParaRPr lang="en-US" b="1" dirty="0">
              <a:latin typeface="Century Gothic" panose="020B0502020202020204" pitchFamily="34" charset="0"/>
            </a:endParaRPr>
          </a:p>
          <a:p>
            <a:endParaRPr lang="en-US" b="1" dirty="0">
              <a:latin typeface="Century Gothic" panose="020B0502020202020204" pitchFamily="34" charset="0"/>
            </a:endParaRPr>
          </a:p>
          <a:p>
            <a:pPr lvl="1"/>
            <a:endParaRPr lang="en-US" b="1" dirty="0">
              <a:latin typeface="Century Gothic" panose="020B0502020202020204" pitchFamily="34" charset="0"/>
            </a:endParaRPr>
          </a:p>
          <a:p>
            <a:endParaRPr lang="en-US" b="1" dirty="0">
              <a:latin typeface="Century Gothic" panose="020B0502020202020204" pitchFamily="34" charset="0"/>
            </a:endParaRPr>
          </a:p>
          <a:p>
            <a:endParaRPr lang="en-US" b="1" dirty="0">
              <a:latin typeface="Century Gothic" panose="020B0502020202020204" pitchFamily="34" charset="0"/>
            </a:endParaRPr>
          </a:p>
        </p:txBody>
      </p:sp>
      <p:pic>
        <p:nvPicPr>
          <p:cNvPr id="12" name="Picture 11">
            <a:extLst>
              <a:ext uri="{FF2B5EF4-FFF2-40B4-BE49-F238E27FC236}">
                <a16:creationId xmlns:a16="http://schemas.microsoft.com/office/drawing/2014/main" id="{C8499041-5373-D224-3848-685002AC1C9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99983" y="4022946"/>
            <a:ext cx="7999151" cy="5599406"/>
          </a:xfrm>
          <a:prstGeom prst="rect">
            <a:avLst/>
          </a:prstGeom>
        </p:spPr>
      </p:pic>
    </p:spTree>
    <p:extLst>
      <p:ext uri="{BB962C8B-B14F-4D97-AF65-F5344CB8AC3E}">
        <p14:creationId xmlns:p14="http://schemas.microsoft.com/office/powerpoint/2010/main" val="28744576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BB9F0-7DCF-A720-56F3-C1FC66066D3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A711696-2EA1-82C4-D24C-9D2B948CC877}"/>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BC377218-FE24-F257-C817-8FA0DBC06516}"/>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147622C2-4DDC-E896-FBD6-259AE3BDB097}"/>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7B1F3749-E0B6-E96C-AF40-28FD25D60B39}"/>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BC50CA8C-E453-0347-E082-1AD0230DC42A}"/>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500C94AC-B381-17D7-AC9E-22982C2625A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D6F2A049-27C7-B147-C55B-DCF6E970D35D}"/>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B5C31128-34CD-315D-2F43-D44801AD6467}"/>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08DAC04B-2B2A-FEFE-FDAF-32DE9B6C745E}"/>
              </a:ext>
            </a:extLst>
          </p:cNvPr>
          <p:cNvSpPr txBox="1"/>
          <p:nvPr/>
        </p:nvSpPr>
        <p:spPr>
          <a:xfrm>
            <a:off x="228600" y="202666"/>
            <a:ext cx="18059400" cy="1915076"/>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Documentation</a:t>
            </a:r>
          </a:p>
          <a:p>
            <a:pPr algn="ctr">
              <a:lnSpc>
                <a:spcPts val="7619"/>
              </a:lnSpc>
            </a:pPr>
            <a:endParaRPr lang="en-US" sz="5999" b="1" dirty="0">
              <a:solidFill>
                <a:srgbClr val="0E2F5F"/>
              </a:solidFill>
              <a:latin typeface="Akzidenz-Grotesk Heavy"/>
              <a:ea typeface="Akzidenz-Grotesk Heavy"/>
              <a:cs typeface="Akzidenz-Grotesk Heavy"/>
              <a:sym typeface="Akzidenz-Grotesk Heavy"/>
            </a:endParaRPr>
          </a:p>
        </p:txBody>
      </p:sp>
      <p:sp>
        <p:nvSpPr>
          <p:cNvPr id="16" name="Freeform 16">
            <a:extLst>
              <a:ext uri="{FF2B5EF4-FFF2-40B4-BE49-F238E27FC236}">
                <a16:creationId xmlns:a16="http://schemas.microsoft.com/office/drawing/2014/main" id="{C069832D-96AD-AC29-AAFB-77D2029716F8}"/>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5B593107-C42F-1057-2EB1-B7956F1478B2}"/>
              </a:ext>
            </a:extLst>
          </p:cNvPr>
          <p:cNvSpPr>
            <a:spLocks noGrp="1"/>
          </p:cNvSpPr>
          <p:nvPr>
            <p:ph idx="1"/>
          </p:nvPr>
        </p:nvSpPr>
        <p:spPr>
          <a:xfrm>
            <a:off x="1674997" y="1780942"/>
            <a:ext cx="15181219" cy="7852963"/>
          </a:xfrm>
        </p:spPr>
        <p:txBody>
          <a:bodyPr>
            <a:normAutofit/>
          </a:bodyPr>
          <a:lstStyle/>
          <a:p>
            <a:pPr marL="457200" lvl="1" indent="0">
              <a:buNone/>
            </a:pPr>
            <a:r>
              <a:rPr lang="en-US" sz="4800" b="1" dirty="0">
                <a:latin typeface="Century Gothic" panose="020B0502020202020204" pitchFamily="34" charset="0"/>
              </a:rPr>
              <a:t>Creating and Maintaining clear documentation of system configurations, procedures and troubleshooting steps</a:t>
            </a:r>
          </a:p>
          <a:p>
            <a:pPr marL="0" indent="0">
              <a:buNone/>
            </a:pPr>
            <a:endParaRPr lang="en-US" sz="4800" b="1" dirty="0">
              <a:latin typeface="Century Gothic" panose="020B0502020202020204" pitchFamily="34" charset="0"/>
            </a:endParaRPr>
          </a:p>
          <a:p>
            <a:pPr lvl="1"/>
            <a:endParaRPr lang="en-US" sz="5000" b="1" dirty="0">
              <a:latin typeface="Century Gothic" panose="020B0502020202020204" pitchFamily="34" charset="0"/>
            </a:endParaRPr>
          </a:p>
          <a:p>
            <a:endParaRPr lang="en-US" sz="5000" b="1" dirty="0">
              <a:latin typeface="Century Gothic" panose="020B0502020202020204" pitchFamily="34" charset="0"/>
            </a:endParaRPr>
          </a:p>
          <a:p>
            <a:endParaRPr lang="en-US" sz="5000" b="1" dirty="0">
              <a:latin typeface="Century Gothic" panose="020B0502020202020204" pitchFamily="34" charset="0"/>
            </a:endParaRPr>
          </a:p>
        </p:txBody>
      </p:sp>
      <p:pic>
        <p:nvPicPr>
          <p:cNvPr id="7" name="Picture 6">
            <a:extLst>
              <a:ext uri="{FF2B5EF4-FFF2-40B4-BE49-F238E27FC236}">
                <a16:creationId xmlns:a16="http://schemas.microsoft.com/office/drawing/2014/main" id="{1404FFA8-C51B-6B06-0B9E-DEFE244ED04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83679" y="4340955"/>
            <a:ext cx="9352655" cy="4894556"/>
          </a:xfrm>
          <a:prstGeom prst="rect">
            <a:avLst/>
          </a:prstGeom>
        </p:spPr>
      </p:pic>
    </p:spTree>
    <p:extLst>
      <p:ext uri="{BB962C8B-B14F-4D97-AF65-F5344CB8AC3E}">
        <p14:creationId xmlns:p14="http://schemas.microsoft.com/office/powerpoint/2010/main" val="20743338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D5844-394A-1C37-A3F3-ECEE8A82D7E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6C2F9A6-D039-B85E-ECD6-25A0FE91DA68}"/>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F1C890C2-C891-9685-E2C9-5AEE32F3E919}"/>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89E66348-7744-8E80-A1CC-4C11ED2A936E}"/>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DA3D05E2-44DC-1F81-4ED2-A9DD36EA3618}"/>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A1F7AE53-472A-FAED-F844-156FA6ED36DE}"/>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9646A828-BA38-34C7-40C6-05D4A55C835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B08555CF-5109-F526-B318-055E63551B9F}"/>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4DF3CD7E-2B2B-B79E-AAE5-E015B9BE410C}"/>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40E584B7-074A-628E-0542-2B619002609E}"/>
              </a:ext>
            </a:extLst>
          </p:cNvPr>
          <p:cNvSpPr txBox="1"/>
          <p:nvPr/>
        </p:nvSpPr>
        <p:spPr>
          <a:xfrm>
            <a:off x="228600" y="202666"/>
            <a:ext cx="18059400" cy="1915076"/>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Automation and Optimization</a:t>
            </a:r>
          </a:p>
          <a:p>
            <a:pPr algn="ctr">
              <a:lnSpc>
                <a:spcPts val="7619"/>
              </a:lnSpc>
            </a:pPr>
            <a:endParaRPr lang="en-US" sz="5999" b="1" dirty="0">
              <a:solidFill>
                <a:srgbClr val="0E2F5F"/>
              </a:solidFill>
              <a:latin typeface="Akzidenz-Grotesk Heavy"/>
              <a:ea typeface="Akzidenz-Grotesk Heavy"/>
              <a:cs typeface="Akzidenz-Grotesk Heavy"/>
              <a:sym typeface="Akzidenz-Grotesk Heavy"/>
            </a:endParaRPr>
          </a:p>
        </p:txBody>
      </p:sp>
      <p:sp>
        <p:nvSpPr>
          <p:cNvPr id="16" name="Freeform 16">
            <a:extLst>
              <a:ext uri="{FF2B5EF4-FFF2-40B4-BE49-F238E27FC236}">
                <a16:creationId xmlns:a16="http://schemas.microsoft.com/office/drawing/2014/main" id="{9C7E8DB8-874C-31C8-CB4F-B7FDE9B47D01}"/>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974A115E-1C23-E61C-E3BC-1E9FC34836A5}"/>
              </a:ext>
            </a:extLst>
          </p:cNvPr>
          <p:cNvSpPr>
            <a:spLocks noGrp="1"/>
          </p:cNvSpPr>
          <p:nvPr>
            <p:ph idx="1"/>
          </p:nvPr>
        </p:nvSpPr>
        <p:spPr>
          <a:xfrm>
            <a:off x="1959454" y="2262013"/>
            <a:ext cx="15181219" cy="7852963"/>
          </a:xfrm>
        </p:spPr>
        <p:txBody>
          <a:bodyPr>
            <a:normAutofit/>
          </a:bodyPr>
          <a:lstStyle/>
          <a:p>
            <a:pPr marL="457200" lvl="1" indent="0">
              <a:buNone/>
            </a:pPr>
            <a:r>
              <a:rPr lang="en-US" sz="5000" b="1" dirty="0">
                <a:latin typeface="Century Gothic" panose="020B0502020202020204" pitchFamily="34" charset="0"/>
              </a:rPr>
              <a:t>Using scripts and tools to automate repetitive tasks</a:t>
            </a:r>
          </a:p>
          <a:p>
            <a:pPr marL="0" indent="0">
              <a:buNone/>
            </a:pPr>
            <a:endParaRPr lang="en-US" b="1" dirty="0">
              <a:latin typeface="Century Gothic" panose="020B0502020202020204" pitchFamily="34" charset="0"/>
            </a:endParaRPr>
          </a:p>
          <a:p>
            <a:pPr marL="0" indent="0">
              <a:buNone/>
            </a:pPr>
            <a:endParaRPr lang="en-US" b="1" dirty="0">
              <a:latin typeface="Century Gothic" panose="020B0502020202020204" pitchFamily="34" charset="0"/>
            </a:endParaRPr>
          </a:p>
          <a:p>
            <a:pPr marL="0" indent="0">
              <a:buNone/>
            </a:pPr>
            <a:endParaRPr lang="en-US" b="1" dirty="0">
              <a:latin typeface="Century Gothic" panose="020B0502020202020204" pitchFamily="34" charset="0"/>
            </a:endParaRPr>
          </a:p>
          <a:p>
            <a:pPr lvl="1"/>
            <a:endParaRPr lang="en-US" b="1" dirty="0">
              <a:latin typeface="Century Gothic" panose="020B0502020202020204" pitchFamily="34" charset="0"/>
            </a:endParaRPr>
          </a:p>
          <a:p>
            <a:endParaRPr lang="en-US" b="1" dirty="0">
              <a:latin typeface="Century Gothic" panose="020B0502020202020204" pitchFamily="34" charset="0"/>
            </a:endParaRPr>
          </a:p>
          <a:p>
            <a:endParaRPr lang="en-US" b="1" dirty="0">
              <a:latin typeface="Century Gothic" panose="020B0502020202020204" pitchFamily="34" charset="0"/>
            </a:endParaRPr>
          </a:p>
        </p:txBody>
      </p:sp>
      <p:pic>
        <p:nvPicPr>
          <p:cNvPr id="7" name="Picture 6">
            <a:extLst>
              <a:ext uri="{FF2B5EF4-FFF2-40B4-BE49-F238E27FC236}">
                <a16:creationId xmlns:a16="http://schemas.microsoft.com/office/drawing/2014/main" id="{951B0679-329F-48CB-E95A-DDDB87DB68E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043401" y="4686300"/>
            <a:ext cx="4087652" cy="4087652"/>
          </a:xfrm>
          <a:prstGeom prst="rect">
            <a:avLst/>
          </a:prstGeom>
        </p:spPr>
      </p:pic>
    </p:spTree>
    <p:extLst>
      <p:ext uri="{BB962C8B-B14F-4D97-AF65-F5344CB8AC3E}">
        <p14:creationId xmlns:p14="http://schemas.microsoft.com/office/powerpoint/2010/main" val="9365320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F645A-941D-542D-BF85-2E65B2141E5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7BCA434-721D-9A9F-C8A2-C34D554E1025}"/>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BEE2E30B-293C-D2DF-B126-F1466266636C}"/>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497265B6-DDD1-DBF7-2D5D-53C7F8B6ECAD}"/>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D53F0835-8569-B32B-CE1C-6CD932C79B9F}"/>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2D0FBFA0-B1DB-F271-A7AD-FE9BEB305718}"/>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A975B688-6573-0155-AE9E-204D3167AA5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F1E51F01-DCE0-C40C-9513-CADDFDBD2217}"/>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34D79E21-0114-D934-F830-3DB31566AB71}"/>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ABEE0FDC-25C8-37E7-F0B8-F3DB07B43025}"/>
              </a:ext>
            </a:extLst>
          </p:cNvPr>
          <p:cNvSpPr txBox="1"/>
          <p:nvPr/>
        </p:nvSpPr>
        <p:spPr>
          <a:xfrm>
            <a:off x="228600" y="202666"/>
            <a:ext cx="18059400" cy="1915076"/>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Automation and Optimization</a:t>
            </a:r>
          </a:p>
          <a:p>
            <a:pPr algn="ctr">
              <a:lnSpc>
                <a:spcPts val="7619"/>
              </a:lnSpc>
            </a:pPr>
            <a:endParaRPr lang="en-US" sz="5999" b="1" dirty="0">
              <a:solidFill>
                <a:srgbClr val="0E2F5F"/>
              </a:solidFill>
              <a:latin typeface="Akzidenz-Grotesk Heavy"/>
              <a:ea typeface="Akzidenz-Grotesk Heavy"/>
              <a:cs typeface="Akzidenz-Grotesk Heavy"/>
              <a:sym typeface="Akzidenz-Grotesk Heavy"/>
            </a:endParaRPr>
          </a:p>
        </p:txBody>
      </p:sp>
      <p:sp>
        <p:nvSpPr>
          <p:cNvPr id="16" name="Freeform 16">
            <a:extLst>
              <a:ext uri="{FF2B5EF4-FFF2-40B4-BE49-F238E27FC236}">
                <a16:creationId xmlns:a16="http://schemas.microsoft.com/office/drawing/2014/main" id="{82290587-1787-5AB0-8494-6128A7531B9D}"/>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8C05DAF1-CAE9-2E25-EB31-183612133322}"/>
              </a:ext>
            </a:extLst>
          </p:cNvPr>
          <p:cNvSpPr>
            <a:spLocks noGrp="1"/>
          </p:cNvSpPr>
          <p:nvPr>
            <p:ph idx="1"/>
          </p:nvPr>
        </p:nvSpPr>
        <p:spPr>
          <a:xfrm>
            <a:off x="1959454" y="2262013"/>
            <a:ext cx="15181219" cy="7852963"/>
          </a:xfrm>
        </p:spPr>
        <p:txBody>
          <a:bodyPr>
            <a:normAutofit/>
          </a:bodyPr>
          <a:lstStyle/>
          <a:p>
            <a:pPr marL="457200" lvl="1" indent="0">
              <a:buNone/>
            </a:pPr>
            <a:r>
              <a:rPr lang="en-US" sz="5000" b="1" dirty="0">
                <a:latin typeface="Century Gothic" panose="020B0502020202020204" pitchFamily="34" charset="0"/>
              </a:rPr>
              <a:t>Optimizing system performance through resource management.</a:t>
            </a:r>
          </a:p>
          <a:p>
            <a:pPr marL="0" indent="0">
              <a:buNone/>
            </a:pPr>
            <a:endParaRPr lang="en-US" b="1" dirty="0">
              <a:latin typeface="Century Gothic" panose="020B0502020202020204" pitchFamily="34" charset="0"/>
            </a:endParaRPr>
          </a:p>
          <a:p>
            <a:pPr marL="0" indent="0">
              <a:buNone/>
            </a:pPr>
            <a:endParaRPr lang="en-US" b="1" dirty="0">
              <a:latin typeface="Century Gothic" panose="020B0502020202020204" pitchFamily="34" charset="0"/>
            </a:endParaRPr>
          </a:p>
          <a:p>
            <a:pPr marL="0" indent="0">
              <a:buNone/>
            </a:pPr>
            <a:endParaRPr lang="en-US" b="1" dirty="0">
              <a:latin typeface="Century Gothic" panose="020B0502020202020204" pitchFamily="34" charset="0"/>
            </a:endParaRPr>
          </a:p>
          <a:p>
            <a:pPr lvl="1"/>
            <a:endParaRPr lang="en-US" b="1" dirty="0">
              <a:latin typeface="Century Gothic" panose="020B0502020202020204" pitchFamily="34" charset="0"/>
            </a:endParaRPr>
          </a:p>
          <a:p>
            <a:endParaRPr lang="en-US" b="1" dirty="0">
              <a:latin typeface="Century Gothic" panose="020B0502020202020204" pitchFamily="34" charset="0"/>
            </a:endParaRPr>
          </a:p>
          <a:p>
            <a:endParaRPr lang="en-US" b="1" dirty="0">
              <a:latin typeface="Century Gothic" panose="020B0502020202020204" pitchFamily="34" charset="0"/>
            </a:endParaRPr>
          </a:p>
        </p:txBody>
      </p:sp>
      <p:pic>
        <p:nvPicPr>
          <p:cNvPr id="12" name="Picture 11">
            <a:extLst>
              <a:ext uri="{FF2B5EF4-FFF2-40B4-BE49-F238E27FC236}">
                <a16:creationId xmlns:a16="http://schemas.microsoft.com/office/drawing/2014/main" id="{709245A1-5434-5298-5BCF-296DC0EC0F2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892861" y="4004837"/>
            <a:ext cx="4394536" cy="4737783"/>
          </a:xfrm>
          <a:prstGeom prst="rect">
            <a:avLst/>
          </a:prstGeom>
        </p:spPr>
      </p:pic>
    </p:spTree>
    <p:extLst>
      <p:ext uri="{BB962C8B-B14F-4D97-AF65-F5344CB8AC3E}">
        <p14:creationId xmlns:p14="http://schemas.microsoft.com/office/powerpoint/2010/main" val="22765404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E368A-35DE-A449-69EF-EA06EB1A07F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B6FC4E0-EA39-6316-4ADA-CC6B2E1F13D9}"/>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987CCD12-8A51-F368-F33B-54DE5AB606EE}"/>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EEA0A893-2EB7-D072-6E8F-02DEDD90BDD5}"/>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8ED84A10-2358-4F23-4A4F-306151A1B6CF}"/>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2D5C9C78-AC3A-AC1A-CBBF-0813A32F8C0F}"/>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B3B3A602-E276-02D1-52B9-699E39CEFFC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0DEA1324-7324-BD27-60A8-118F93241349}"/>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C2C36402-DFC7-281D-DDC2-EFA547046771}"/>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B8D48914-67B3-9BC2-479C-9307CD20B436}"/>
              </a:ext>
            </a:extLst>
          </p:cNvPr>
          <p:cNvSpPr txBox="1"/>
          <p:nvPr/>
        </p:nvSpPr>
        <p:spPr>
          <a:xfrm>
            <a:off x="228600" y="202666"/>
            <a:ext cx="18059400" cy="1915076"/>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Communication and Collaboration</a:t>
            </a:r>
          </a:p>
          <a:p>
            <a:pPr algn="ctr">
              <a:lnSpc>
                <a:spcPts val="7619"/>
              </a:lnSpc>
            </a:pPr>
            <a:endParaRPr lang="en-US" sz="5999" b="1" dirty="0">
              <a:solidFill>
                <a:srgbClr val="0E2F5F"/>
              </a:solidFill>
              <a:latin typeface="Akzidenz-Grotesk Heavy"/>
              <a:ea typeface="Akzidenz-Grotesk Heavy"/>
              <a:cs typeface="Akzidenz-Grotesk Heavy"/>
              <a:sym typeface="Akzidenz-Grotesk Heavy"/>
            </a:endParaRPr>
          </a:p>
        </p:txBody>
      </p:sp>
      <p:sp>
        <p:nvSpPr>
          <p:cNvPr id="16" name="Freeform 16">
            <a:extLst>
              <a:ext uri="{FF2B5EF4-FFF2-40B4-BE49-F238E27FC236}">
                <a16:creationId xmlns:a16="http://schemas.microsoft.com/office/drawing/2014/main" id="{22B3CC12-A8D9-6487-052C-EA4C7302DF1E}"/>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E753E8A6-C4CB-D642-0ACA-95ABAA5DBE8D}"/>
              </a:ext>
            </a:extLst>
          </p:cNvPr>
          <p:cNvSpPr>
            <a:spLocks noGrp="1"/>
          </p:cNvSpPr>
          <p:nvPr>
            <p:ph idx="1"/>
          </p:nvPr>
        </p:nvSpPr>
        <p:spPr>
          <a:xfrm>
            <a:off x="1959454" y="2262013"/>
            <a:ext cx="15181219" cy="7852963"/>
          </a:xfrm>
        </p:spPr>
        <p:txBody>
          <a:bodyPr>
            <a:normAutofit/>
          </a:bodyPr>
          <a:lstStyle/>
          <a:p>
            <a:pPr marL="457200" lvl="1" indent="0">
              <a:buNone/>
            </a:pPr>
            <a:r>
              <a:rPr lang="en-US" sz="5000" b="1" dirty="0">
                <a:latin typeface="Century Gothic" panose="020B0502020202020204" pitchFamily="34" charset="0"/>
              </a:rPr>
              <a:t>Coordinating with other IT staff, departments</a:t>
            </a:r>
          </a:p>
          <a:p>
            <a:pPr marL="0" indent="0">
              <a:buNone/>
            </a:pPr>
            <a:endParaRPr lang="en-US" b="1" dirty="0">
              <a:latin typeface="Century Gothic" panose="020B0502020202020204" pitchFamily="34" charset="0"/>
            </a:endParaRPr>
          </a:p>
          <a:p>
            <a:endParaRPr lang="en-US" b="1" dirty="0">
              <a:latin typeface="Century Gothic" panose="020B0502020202020204" pitchFamily="34" charset="0"/>
            </a:endParaRPr>
          </a:p>
          <a:p>
            <a:endParaRPr lang="en-US" b="1" dirty="0">
              <a:latin typeface="Century Gothic" panose="020B0502020202020204" pitchFamily="34" charset="0"/>
            </a:endParaRPr>
          </a:p>
          <a:p>
            <a:pPr lvl="1"/>
            <a:endParaRPr lang="en-US" b="1" dirty="0">
              <a:latin typeface="Century Gothic" panose="020B0502020202020204" pitchFamily="34" charset="0"/>
            </a:endParaRPr>
          </a:p>
          <a:p>
            <a:endParaRPr lang="en-US" b="1" dirty="0">
              <a:latin typeface="Century Gothic" panose="020B0502020202020204" pitchFamily="34" charset="0"/>
            </a:endParaRPr>
          </a:p>
          <a:p>
            <a:endParaRPr lang="en-US" b="1" dirty="0">
              <a:latin typeface="Century Gothic" panose="020B0502020202020204" pitchFamily="34" charset="0"/>
            </a:endParaRPr>
          </a:p>
        </p:txBody>
      </p:sp>
      <p:pic>
        <p:nvPicPr>
          <p:cNvPr id="13" name="Picture 12">
            <a:extLst>
              <a:ext uri="{FF2B5EF4-FFF2-40B4-BE49-F238E27FC236}">
                <a16:creationId xmlns:a16="http://schemas.microsoft.com/office/drawing/2014/main" id="{B83D5078-0ECA-22D3-9C43-735A7D96A5E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93963" y="4008292"/>
            <a:ext cx="5959568" cy="5959568"/>
          </a:xfrm>
          <a:prstGeom prst="rect">
            <a:avLst/>
          </a:prstGeom>
        </p:spPr>
      </p:pic>
    </p:spTree>
    <p:extLst>
      <p:ext uri="{BB962C8B-B14F-4D97-AF65-F5344CB8AC3E}">
        <p14:creationId xmlns:p14="http://schemas.microsoft.com/office/powerpoint/2010/main" val="11855301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55175-9B61-5548-5408-74A54BAFB45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B5DA853-C4BC-E153-C303-884AC0C30019}"/>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36A85AED-F202-1523-C3FF-393D4BD50F2D}"/>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A836DE66-8E1C-5DAE-ED7E-271B482C98E5}"/>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FE41C0F6-7BD5-BA76-6479-282F3D764BCB}"/>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509BE736-C046-E49F-C25A-30172E8AABAA}"/>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201F70D9-4E2E-5D0B-C1B0-A70A86EB63D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B380190C-604B-BD9C-D5A2-114135C0BA41}"/>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B3275190-F61C-1348-5A10-B2BCE701E1CF}"/>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7C8D92E6-E4B4-FA6A-6C20-27A2364A4DFF}"/>
              </a:ext>
            </a:extLst>
          </p:cNvPr>
          <p:cNvSpPr txBox="1"/>
          <p:nvPr/>
        </p:nvSpPr>
        <p:spPr>
          <a:xfrm>
            <a:off x="228600" y="202666"/>
            <a:ext cx="18059400" cy="1915076"/>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Communication and Collaboration</a:t>
            </a:r>
          </a:p>
          <a:p>
            <a:pPr algn="ctr">
              <a:lnSpc>
                <a:spcPts val="7619"/>
              </a:lnSpc>
            </a:pPr>
            <a:endParaRPr lang="en-US" sz="5999" b="1" dirty="0">
              <a:solidFill>
                <a:srgbClr val="0E2F5F"/>
              </a:solidFill>
              <a:latin typeface="Akzidenz-Grotesk Heavy"/>
              <a:ea typeface="Akzidenz-Grotesk Heavy"/>
              <a:cs typeface="Akzidenz-Grotesk Heavy"/>
              <a:sym typeface="Akzidenz-Grotesk Heavy"/>
            </a:endParaRPr>
          </a:p>
        </p:txBody>
      </p:sp>
      <p:sp>
        <p:nvSpPr>
          <p:cNvPr id="16" name="Freeform 16">
            <a:extLst>
              <a:ext uri="{FF2B5EF4-FFF2-40B4-BE49-F238E27FC236}">
                <a16:creationId xmlns:a16="http://schemas.microsoft.com/office/drawing/2014/main" id="{349AC48B-0E4A-6110-72AD-FE3BC7ADCA44}"/>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BC0C4944-0ADD-D983-A7B9-10F383DF3047}"/>
              </a:ext>
            </a:extLst>
          </p:cNvPr>
          <p:cNvSpPr>
            <a:spLocks noGrp="1"/>
          </p:cNvSpPr>
          <p:nvPr>
            <p:ph idx="1"/>
          </p:nvPr>
        </p:nvSpPr>
        <p:spPr>
          <a:xfrm>
            <a:off x="1959454" y="2262013"/>
            <a:ext cx="15181219" cy="7852963"/>
          </a:xfrm>
        </p:spPr>
        <p:txBody>
          <a:bodyPr>
            <a:normAutofit/>
          </a:bodyPr>
          <a:lstStyle/>
          <a:p>
            <a:pPr marL="457200" lvl="1" indent="0">
              <a:buNone/>
            </a:pPr>
            <a:r>
              <a:rPr lang="en-US" sz="5000" b="1" dirty="0">
                <a:latin typeface="Century Gothic" panose="020B0502020202020204" pitchFamily="34" charset="0"/>
              </a:rPr>
              <a:t>Explain clearly technical issues to non-technical user</a:t>
            </a:r>
          </a:p>
          <a:p>
            <a:pPr marL="0" indent="0">
              <a:buNone/>
            </a:pPr>
            <a:endParaRPr lang="en-US" b="1" dirty="0">
              <a:latin typeface="Century Gothic" panose="020B0502020202020204" pitchFamily="34" charset="0"/>
            </a:endParaRPr>
          </a:p>
          <a:p>
            <a:endParaRPr lang="en-US" b="1" dirty="0">
              <a:latin typeface="Century Gothic" panose="020B0502020202020204" pitchFamily="34" charset="0"/>
            </a:endParaRPr>
          </a:p>
          <a:p>
            <a:endParaRPr lang="en-US" b="1" dirty="0">
              <a:latin typeface="Century Gothic" panose="020B0502020202020204" pitchFamily="34" charset="0"/>
            </a:endParaRPr>
          </a:p>
          <a:p>
            <a:pPr lvl="1"/>
            <a:endParaRPr lang="en-US" b="1" dirty="0">
              <a:latin typeface="Century Gothic" panose="020B0502020202020204" pitchFamily="34" charset="0"/>
            </a:endParaRPr>
          </a:p>
          <a:p>
            <a:endParaRPr lang="en-US" b="1" dirty="0">
              <a:latin typeface="Century Gothic" panose="020B0502020202020204" pitchFamily="34" charset="0"/>
            </a:endParaRPr>
          </a:p>
          <a:p>
            <a:endParaRPr lang="en-US" b="1" dirty="0">
              <a:latin typeface="Century Gothic" panose="020B0502020202020204" pitchFamily="34" charset="0"/>
            </a:endParaRPr>
          </a:p>
        </p:txBody>
      </p:sp>
      <p:pic>
        <p:nvPicPr>
          <p:cNvPr id="13" name="Picture 12">
            <a:extLst>
              <a:ext uri="{FF2B5EF4-FFF2-40B4-BE49-F238E27FC236}">
                <a16:creationId xmlns:a16="http://schemas.microsoft.com/office/drawing/2014/main" id="{FE53D119-9AC8-E396-F94D-04F718D92DF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93963" y="4008292"/>
            <a:ext cx="5959568" cy="5959568"/>
          </a:xfrm>
          <a:prstGeom prst="rect">
            <a:avLst/>
          </a:prstGeom>
        </p:spPr>
      </p:pic>
    </p:spTree>
    <p:extLst>
      <p:ext uri="{BB962C8B-B14F-4D97-AF65-F5344CB8AC3E}">
        <p14:creationId xmlns:p14="http://schemas.microsoft.com/office/powerpoint/2010/main" val="7649206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22BD9-DFF3-8423-81F8-DB20F6C455C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E618DE0-C364-25AB-70E4-EDCCC034180C}"/>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5FD58788-C1D2-BFA5-A97F-AFCDB4707A46}"/>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ADDC9827-893E-A36D-9B11-0AE9F3E103F0}"/>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4F1EAE62-63F8-5DF8-D284-9281B648F09A}"/>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CF35D521-9A80-C473-4B5C-F9409B38C45A}"/>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228AF6D6-A213-43D2-2C1A-1E1757298D4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B216E18E-8A33-51AB-0733-3D7CE43605C6}"/>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0D874DF9-B7C2-B720-9273-55BF1A88C9CA}"/>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3EBC6EDA-CA74-DBD1-76D8-0B21A27A4A25}"/>
              </a:ext>
            </a:extLst>
          </p:cNvPr>
          <p:cNvSpPr txBox="1"/>
          <p:nvPr/>
        </p:nvSpPr>
        <p:spPr>
          <a:xfrm>
            <a:off x="228600" y="202666"/>
            <a:ext cx="18059400" cy="1915076"/>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Security and Data Protection</a:t>
            </a:r>
          </a:p>
          <a:p>
            <a:pPr algn="ctr">
              <a:lnSpc>
                <a:spcPts val="7619"/>
              </a:lnSpc>
            </a:pPr>
            <a:endParaRPr lang="en-US" sz="5999" b="1" dirty="0">
              <a:solidFill>
                <a:srgbClr val="0E2F5F"/>
              </a:solidFill>
              <a:latin typeface="Akzidenz-Grotesk Heavy"/>
              <a:ea typeface="Akzidenz-Grotesk Heavy"/>
              <a:cs typeface="Akzidenz-Grotesk Heavy"/>
              <a:sym typeface="Akzidenz-Grotesk Heavy"/>
            </a:endParaRPr>
          </a:p>
        </p:txBody>
      </p:sp>
      <p:sp>
        <p:nvSpPr>
          <p:cNvPr id="16" name="Freeform 16">
            <a:extLst>
              <a:ext uri="{FF2B5EF4-FFF2-40B4-BE49-F238E27FC236}">
                <a16:creationId xmlns:a16="http://schemas.microsoft.com/office/drawing/2014/main" id="{75346572-97F5-7761-6B44-AEA860AC0210}"/>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D6521082-4EE8-1471-14C1-5D662E96750C}"/>
              </a:ext>
            </a:extLst>
          </p:cNvPr>
          <p:cNvSpPr>
            <a:spLocks noGrp="1"/>
          </p:cNvSpPr>
          <p:nvPr>
            <p:ph idx="1"/>
          </p:nvPr>
        </p:nvSpPr>
        <p:spPr>
          <a:xfrm>
            <a:off x="1959454" y="2262013"/>
            <a:ext cx="15181219" cy="7852963"/>
          </a:xfrm>
        </p:spPr>
        <p:txBody>
          <a:bodyPr>
            <a:normAutofit/>
          </a:bodyPr>
          <a:lstStyle/>
          <a:p>
            <a:pPr marL="457200" lvl="1" indent="0">
              <a:buNone/>
            </a:pPr>
            <a:r>
              <a:rPr lang="en-US" sz="5000" b="1" dirty="0">
                <a:latin typeface="Century Gothic" panose="020B0502020202020204" pitchFamily="34" charset="0"/>
              </a:rPr>
              <a:t>Installing and maintaining antivirus and firewall systems</a:t>
            </a:r>
          </a:p>
          <a:p>
            <a:pPr marL="0" indent="0">
              <a:buNone/>
            </a:pPr>
            <a:endParaRPr lang="en-US" sz="5000" b="1" dirty="0">
              <a:latin typeface="Century Gothic" panose="020B0502020202020204" pitchFamily="34" charset="0"/>
            </a:endParaRPr>
          </a:p>
          <a:p>
            <a:pPr marL="0" indent="0">
              <a:buNone/>
            </a:pPr>
            <a:endParaRPr lang="en-US" sz="5000" b="1" dirty="0">
              <a:latin typeface="Century Gothic" panose="020B0502020202020204" pitchFamily="34" charset="0"/>
            </a:endParaRPr>
          </a:p>
          <a:p>
            <a:endParaRPr lang="en-US" b="1" dirty="0">
              <a:latin typeface="Century Gothic" panose="020B0502020202020204" pitchFamily="34" charset="0"/>
            </a:endParaRPr>
          </a:p>
          <a:p>
            <a:pPr lvl="1"/>
            <a:endParaRPr lang="en-US" b="1" dirty="0">
              <a:latin typeface="Century Gothic" panose="020B0502020202020204" pitchFamily="34" charset="0"/>
            </a:endParaRPr>
          </a:p>
          <a:p>
            <a:endParaRPr lang="en-US" b="1" dirty="0">
              <a:latin typeface="Century Gothic" panose="020B0502020202020204" pitchFamily="34" charset="0"/>
            </a:endParaRPr>
          </a:p>
          <a:p>
            <a:endParaRPr lang="en-US" b="1" dirty="0">
              <a:latin typeface="Century Gothic" panose="020B0502020202020204" pitchFamily="34" charset="0"/>
            </a:endParaRPr>
          </a:p>
        </p:txBody>
      </p:sp>
      <p:pic>
        <p:nvPicPr>
          <p:cNvPr id="7" name="Picture 6">
            <a:extLst>
              <a:ext uri="{FF2B5EF4-FFF2-40B4-BE49-F238E27FC236}">
                <a16:creationId xmlns:a16="http://schemas.microsoft.com/office/drawing/2014/main" id="{9C01CA5B-C3AD-0A05-7A93-6DD88B1CE79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897142" y="3934077"/>
            <a:ext cx="6986587" cy="5238604"/>
          </a:xfrm>
          <a:prstGeom prst="rect">
            <a:avLst/>
          </a:prstGeom>
        </p:spPr>
      </p:pic>
    </p:spTree>
    <p:extLst>
      <p:ext uri="{BB962C8B-B14F-4D97-AF65-F5344CB8AC3E}">
        <p14:creationId xmlns:p14="http://schemas.microsoft.com/office/powerpoint/2010/main" val="24488122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F49DC-8E95-B5C7-5F60-2F27FF3A105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52E4F67-C53E-6281-A03B-27D223D14255}"/>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0021592E-9587-DC44-43AB-2820B2A0C02D}"/>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74586EAF-56A1-500A-C4B0-DB05043CC9ED}"/>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B10E6DC3-A6BB-EA5D-848E-309E4D90398E}"/>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50C8CB27-EF44-37F4-DF12-DF4F628FAD1F}"/>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B1AD4335-AE3C-55C8-7D2A-C65CE2E8B2A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586435EA-CAC4-4967-ACA9-C9AA4724D9B6}"/>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558935D8-860D-FA7A-4C27-61E301882C99}"/>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8F95DC21-2157-7FC2-31CC-E01AB62841A1}"/>
              </a:ext>
            </a:extLst>
          </p:cNvPr>
          <p:cNvSpPr txBox="1"/>
          <p:nvPr/>
        </p:nvSpPr>
        <p:spPr>
          <a:xfrm>
            <a:off x="228600" y="202666"/>
            <a:ext cx="18059400" cy="1915076"/>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Security and Data Protection</a:t>
            </a:r>
          </a:p>
          <a:p>
            <a:pPr algn="ctr">
              <a:lnSpc>
                <a:spcPts val="7619"/>
              </a:lnSpc>
            </a:pPr>
            <a:endParaRPr lang="en-US" sz="5999" b="1" dirty="0">
              <a:solidFill>
                <a:srgbClr val="0E2F5F"/>
              </a:solidFill>
              <a:latin typeface="Akzidenz-Grotesk Heavy"/>
              <a:ea typeface="Akzidenz-Grotesk Heavy"/>
              <a:cs typeface="Akzidenz-Grotesk Heavy"/>
              <a:sym typeface="Akzidenz-Grotesk Heavy"/>
            </a:endParaRPr>
          </a:p>
        </p:txBody>
      </p:sp>
      <p:sp>
        <p:nvSpPr>
          <p:cNvPr id="16" name="Freeform 16">
            <a:extLst>
              <a:ext uri="{FF2B5EF4-FFF2-40B4-BE49-F238E27FC236}">
                <a16:creationId xmlns:a16="http://schemas.microsoft.com/office/drawing/2014/main" id="{DBD4CAA5-125B-33C1-9290-E2F847ED7086}"/>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CDB35222-5A1A-11D7-AEB7-4D4FA8D37A5A}"/>
              </a:ext>
            </a:extLst>
          </p:cNvPr>
          <p:cNvSpPr>
            <a:spLocks noGrp="1"/>
          </p:cNvSpPr>
          <p:nvPr>
            <p:ph idx="1"/>
          </p:nvPr>
        </p:nvSpPr>
        <p:spPr>
          <a:xfrm>
            <a:off x="1959454" y="2262013"/>
            <a:ext cx="15181219" cy="7852963"/>
          </a:xfrm>
        </p:spPr>
        <p:txBody>
          <a:bodyPr>
            <a:normAutofit/>
          </a:bodyPr>
          <a:lstStyle/>
          <a:p>
            <a:pPr marL="457200" lvl="1" indent="0">
              <a:buNone/>
            </a:pPr>
            <a:r>
              <a:rPr lang="en-US" sz="5000" b="1" dirty="0">
                <a:latin typeface="Century Gothic" panose="020B0502020202020204" pitchFamily="34" charset="0"/>
              </a:rPr>
              <a:t>Applying security patches and updates promptly</a:t>
            </a:r>
          </a:p>
          <a:p>
            <a:pPr marL="0" indent="0">
              <a:buNone/>
            </a:pPr>
            <a:endParaRPr lang="en-US" sz="5000" b="1" dirty="0">
              <a:latin typeface="Century Gothic" panose="020B0502020202020204" pitchFamily="34" charset="0"/>
            </a:endParaRPr>
          </a:p>
          <a:p>
            <a:pPr marL="0" indent="0">
              <a:buNone/>
            </a:pPr>
            <a:endParaRPr lang="en-US" sz="5000" b="1" dirty="0">
              <a:latin typeface="Century Gothic" panose="020B0502020202020204" pitchFamily="34" charset="0"/>
            </a:endParaRPr>
          </a:p>
          <a:p>
            <a:endParaRPr lang="en-US" b="1" dirty="0">
              <a:latin typeface="Century Gothic" panose="020B0502020202020204" pitchFamily="34" charset="0"/>
            </a:endParaRPr>
          </a:p>
          <a:p>
            <a:pPr lvl="1"/>
            <a:endParaRPr lang="en-US" b="1" dirty="0">
              <a:latin typeface="Century Gothic" panose="020B0502020202020204" pitchFamily="34" charset="0"/>
            </a:endParaRPr>
          </a:p>
          <a:p>
            <a:endParaRPr lang="en-US" b="1" dirty="0">
              <a:latin typeface="Century Gothic" panose="020B0502020202020204" pitchFamily="34" charset="0"/>
            </a:endParaRPr>
          </a:p>
          <a:p>
            <a:endParaRPr lang="en-US" b="1" dirty="0">
              <a:latin typeface="Century Gothic" panose="020B0502020202020204" pitchFamily="34" charset="0"/>
            </a:endParaRPr>
          </a:p>
        </p:txBody>
      </p:sp>
      <p:pic>
        <p:nvPicPr>
          <p:cNvPr id="7" name="Picture 6">
            <a:extLst>
              <a:ext uri="{FF2B5EF4-FFF2-40B4-BE49-F238E27FC236}">
                <a16:creationId xmlns:a16="http://schemas.microsoft.com/office/drawing/2014/main" id="{89E5736E-DB1E-7A5D-2EDB-FAC55922167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31708" y="4056054"/>
            <a:ext cx="6986587" cy="5238604"/>
          </a:xfrm>
          <a:prstGeom prst="rect">
            <a:avLst/>
          </a:prstGeom>
        </p:spPr>
      </p:pic>
    </p:spTree>
    <p:extLst>
      <p:ext uri="{BB962C8B-B14F-4D97-AF65-F5344CB8AC3E}">
        <p14:creationId xmlns:p14="http://schemas.microsoft.com/office/powerpoint/2010/main" val="39510204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B2FC2-4537-9A68-24C7-775481761E0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F64CEA9-5EE3-A72A-6462-E0B85293B219}"/>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71D96A88-F989-C2D3-59A4-DCA3275CC7E1}"/>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C5BB9831-360A-1DAC-2FD6-142395BB01DA}"/>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472B2B19-4C7B-B97D-72FE-61B656B5F299}"/>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3B79A272-AE03-F7E3-7DE1-D2E540C84F45}"/>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28B43339-3FC0-85EF-8B19-03254EF78E2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2E3B349E-D16B-6338-579C-A0350252BB8D}"/>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8C68361C-0892-B763-F09A-A64305A81835}"/>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15DB9916-7B48-0701-15D4-A4FDA06CF8FF}"/>
              </a:ext>
            </a:extLst>
          </p:cNvPr>
          <p:cNvSpPr txBox="1"/>
          <p:nvPr/>
        </p:nvSpPr>
        <p:spPr>
          <a:xfrm>
            <a:off x="565511" y="2674034"/>
            <a:ext cx="18059400" cy="2054858"/>
          </a:xfrm>
          <a:prstGeom prst="rect">
            <a:avLst/>
          </a:prstGeom>
        </p:spPr>
        <p:txBody>
          <a:bodyPr wrap="square" lIns="0" tIns="0" rIns="0" bIns="0" rtlCol="0" anchor="t">
            <a:spAutoFit/>
          </a:bodyPr>
          <a:lstStyle/>
          <a:p>
            <a:pPr algn="ctr">
              <a:lnSpc>
                <a:spcPts val="7619"/>
              </a:lnSpc>
            </a:pPr>
            <a:r>
              <a:rPr lang="en-US" sz="10000" b="1" dirty="0">
                <a:solidFill>
                  <a:srgbClr val="0E2F5F"/>
                </a:solidFill>
                <a:latin typeface="Akzidenz-Grotesk Heavy"/>
                <a:ea typeface="Akzidenz-Grotesk Heavy"/>
                <a:cs typeface="Akzidenz-Grotesk Heavy"/>
                <a:sym typeface="Akzidenz-Grotesk Heavy"/>
              </a:rPr>
              <a:t>Essential Skills for System Administration </a:t>
            </a:r>
          </a:p>
        </p:txBody>
      </p:sp>
      <p:sp>
        <p:nvSpPr>
          <p:cNvPr id="16" name="Freeform 16">
            <a:extLst>
              <a:ext uri="{FF2B5EF4-FFF2-40B4-BE49-F238E27FC236}">
                <a16:creationId xmlns:a16="http://schemas.microsoft.com/office/drawing/2014/main" id="{6EB32431-45E8-6F45-6A75-B015D9547362}"/>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extLst>
      <p:ext uri="{BB962C8B-B14F-4D97-AF65-F5344CB8AC3E}">
        <p14:creationId xmlns:p14="http://schemas.microsoft.com/office/powerpoint/2010/main" val="14746939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9FF4C-2C87-28BD-FE52-B27A07F0D0A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2E51378-8D4A-1350-507A-954FECA390C1}"/>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1EA5EE35-986F-07CA-9585-CA04D5962939}"/>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010C8312-BBC6-7885-9DFC-713DD6BF275D}"/>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41EB5265-F6D5-DE79-9123-27E137293C3B}"/>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54F0FC8A-ABD1-64B4-727E-C742279FF35A}"/>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1321FC10-6EB9-F89F-CC47-A4DEA59ABD1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261D6B1A-F16D-F986-643E-73F514BBC122}"/>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0A5FF57B-D42D-6206-9D1F-CB21DF4A1A12}"/>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4923A5C0-221C-ADFC-A516-51B61AF2E8BB}"/>
              </a:ext>
            </a:extLst>
          </p:cNvPr>
          <p:cNvSpPr txBox="1"/>
          <p:nvPr/>
        </p:nvSpPr>
        <p:spPr>
          <a:xfrm>
            <a:off x="228600" y="202666"/>
            <a:ext cx="18059400" cy="940450"/>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Technical Skills</a:t>
            </a:r>
          </a:p>
        </p:txBody>
      </p:sp>
      <p:sp>
        <p:nvSpPr>
          <p:cNvPr id="16" name="Freeform 16">
            <a:extLst>
              <a:ext uri="{FF2B5EF4-FFF2-40B4-BE49-F238E27FC236}">
                <a16:creationId xmlns:a16="http://schemas.microsoft.com/office/drawing/2014/main" id="{A2F11F40-6A7D-0567-4576-96E183040C17}"/>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193F0343-9F1C-8584-5FDB-EF677D65F29A}"/>
              </a:ext>
            </a:extLst>
          </p:cNvPr>
          <p:cNvSpPr>
            <a:spLocks noGrp="1"/>
          </p:cNvSpPr>
          <p:nvPr>
            <p:ph idx="1"/>
          </p:nvPr>
        </p:nvSpPr>
        <p:spPr>
          <a:xfrm>
            <a:off x="1959454" y="2262013"/>
            <a:ext cx="15181219" cy="7852963"/>
          </a:xfrm>
        </p:spPr>
        <p:txBody>
          <a:bodyPr>
            <a:normAutofit/>
          </a:bodyPr>
          <a:lstStyle/>
          <a:p>
            <a:pPr marL="457200" lvl="1" indent="0">
              <a:buNone/>
            </a:pPr>
            <a:r>
              <a:rPr lang="en-US" sz="5000" b="1" dirty="0">
                <a:latin typeface="Century Gothic" panose="020B0502020202020204" pitchFamily="34" charset="0"/>
              </a:rPr>
              <a:t>Knowing how to install, configure and troubleshoot Windows Server, Linux, or macOS systems.</a:t>
            </a:r>
          </a:p>
          <a:p>
            <a:endParaRPr lang="en-US" sz="5000" b="1" dirty="0">
              <a:latin typeface="Century Gothic" panose="020B0502020202020204" pitchFamily="34" charset="0"/>
            </a:endParaRPr>
          </a:p>
          <a:p>
            <a:endParaRPr lang="en-US" sz="5000" b="1" dirty="0">
              <a:latin typeface="Century Gothic" panose="020B0502020202020204" pitchFamily="34" charset="0"/>
            </a:endParaRPr>
          </a:p>
        </p:txBody>
      </p:sp>
      <p:pic>
        <p:nvPicPr>
          <p:cNvPr id="7" name="Picture 6">
            <a:extLst>
              <a:ext uri="{FF2B5EF4-FFF2-40B4-BE49-F238E27FC236}">
                <a16:creationId xmlns:a16="http://schemas.microsoft.com/office/drawing/2014/main" id="{10579CB2-D692-B617-2E42-41A531AEEB5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934920" y="3990708"/>
            <a:ext cx="5650142" cy="5650142"/>
          </a:xfrm>
          <a:prstGeom prst="rect">
            <a:avLst/>
          </a:prstGeom>
        </p:spPr>
      </p:pic>
    </p:spTree>
    <p:extLst>
      <p:ext uri="{BB962C8B-B14F-4D97-AF65-F5344CB8AC3E}">
        <p14:creationId xmlns:p14="http://schemas.microsoft.com/office/powerpoint/2010/main" val="1363803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39CF4-29D1-C323-4FD5-7A4F6F79094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0AD055C-8DD8-31E0-17C2-5A119221E4A9}"/>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6B886A3C-4D37-C297-E67C-42B619CB49EE}"/>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D905F50B-6E7D-D91D-E981-0CB9E14EEFAB}"/>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AE5BFC51-6C2B-D885-CB3D-D405389E8BAE}"/>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B1D908E6-9D31-6AC0-561D-4AEFB22F33D1}"/>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F85F26B5-7294-53AA-F979-D67D4E37A0A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533C8702-69F6-5358-EE26-93309DFB1A8C}"/>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0686028C-52FA-9934-6F40-F2E824967A7F}"/>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5530FA4B-DE8E-F2D3-F449-09B016D9A498}"/>
              </a:ext>
            </a:extLst>
          </p:cNvPr>
          <p:cNvSpPr txBox="1"/>
          <p:nvPr/>
        </p:nvSpPr>
        <p:spPr>
          <a:xfrm>
            <a:off x="228600" y="202666"/>
            <a:ext cx="18059400" cy="940450"/>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Network Systems</a:t>
            </a:r>
          </a:p>
        </p:txBody>
      </p:sp>
      <p:sp>
        <p:nvSpPr>
          <p:cNvPr id="16" name="Freeform 16">
            <a:extLst>
              <a:ext uri="{FF2B5EF4-FFF2-40B4-BE49-F238E27FC236}">
                <a16:creationId xmlns:a16="http://schemas.microsoft.com/office/drawing/2014/main" id="{F0AB01F2-EBAE-8430-3437-269CD4CF7B46}"/>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FCFD733F-3525-553E-35ED-1B6987BC2B5B}"/>
              </a:ext>
            </a:extLst>
          </p:cNvPr>
          <p:cNvSpPr>
            <a:spLocks noGrp="1"/>
          </p:cNvSpPr>
          <p:nvPr>
            <p:ph idx="1"/>
          </p:nvPr>
        </p:nvSpPr>
        <p:spPr>
          <a:xfrm>
            <a:off x="1959454" y="2262013"/>
            <a:ext cx="15181219" cy="7852963"/>
          </a:xfrm>
        </p:spPr>
        <p:txBody>
          <a:bodyPr>
            <a:normAutofit/>
          </a:bodyPr>
          <a:lstStyle/>
          <a:p>
            <a:pPr marL="457200" lvl="1" indent="0">
              <a:buNone/>
            </a:pPr>
            <a:r>
              <a:rPr lang="en-US" sz="5000" b="1" dirty="0">
                <a:latin typeface="Century Gothic" panose="020B0502020202020204" pitchFamily="34" charset="0"/>
              </a:rPr>
              <a:t>Understanding IP addresses, DNS, DHCP, VPNs, and network troubleshooting.</a:t>
            </a:r>
          </a:p>
          <a:p>
            <a:endParaRPr lang="en-US" sz="5000" b="1" dirty="0">
              <a:latin typeface="Century Gothic" panose="020B0502020202020204" pitchFamily="34" charset="0"/>
            </a:endParaRPr>
          </a:p>
          <a:p>
            <a:pPr lvl="1"/>
            <a:endParaRPr lang="en-US" sz="5000" b="1" dirty="0">
              <a:latin typeface="Century Gothic" panose="020B0502020202020204" pitchFamily="34" charset="0"/>
            </a:endParaRPr>
          </a:p>
          <a:p>
            <a:endParaRPr lang="en-US" sz="5000" b="1" dirty="0">
              <a:latin typeface="Century Gothic" panose="020B0502020202020204" pitchFamily="34" charset="0"/>
            </a:endParaRPr>
          </a:p>
          <a:p>
            <a:endParaRPr lang="en-US" sz="5000" b="1" dirty="0">
              <a:latin typeface="Century Gothic" panose="020B0502020202020204" pitchFamily="34" charset="0"/>
            </a:endParaRPr>
          </a:p>
        </p:txBody>
      </p:sp>
      <p:pic>
        <p:nvPicPr>
          <p:cNvPr id="7" name="Picture 6">
            <a:extLst>
              <a:ext uri="{FF2B5EF4-FFF2-40B4-BE49-F238E27FC236}">
                <a16:creationId xmlns:a16="http://schemas.microsoft.com/office/drawing/2014/main" id="{BA2E289F-FECA-F828-4B6B-2C2DFCF40A2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00629" y="4245779"/>
            <a:ext cx="6501111" cy="3885429"/>
          </a:xfrm>
          <a:prstGeom prst="rect">
            <a:avLst/>
          </a:prstGeom>
        </p:spPr>
      </p:pic>
    </p:spTree>
    <p:extLst>
      <p:ext uri="{BB962C8B-B14F-4D97-AF65-F5344CB8AC3E}">
        <p14:creationId xmlns:p14="http://schemas.microsoft.com/office/powerpoint/2010/main" val="12261587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D0B91-8CEE-D25E-5A15-4798789A9C8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E162ADE-268A-14CE-3604-508C55C639FE}"/>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6A2C0DF5-A5A6-0088-E4E8-FCAF2DCF5F98}"/>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D60C1630-1FCA-351F-1A4B-14DA19E01B0C}"/>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3CBD5FF6-1F74-33BA-CB1A-11C68CB93D46}"/>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97E9FF7E-7B11-0BE7-55B1-9E86DF5E1E02}"/>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7D942401-05CA-A097-B761-DC6B251824F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1E474904-9BEA-0EAB-3115-A574FF4104F5}"/>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A1F7467E-1623-427B-B018-8BBAC27E294D}"/>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2B3CA98F-2BE7-C66A-5EA1-0201553A4DB2}"/>
              </a:ext>
            </a:extLst>
          </p:cNvPr>
          <p:cNvSpPr txBox="1"/>
          <p:nvPr/>
        </p:nvSpPr>
        <p:spPr>
          <a:xfrm>
            <a:off x="228600" y="202666"/>
            <a:ext cx="18059400" cy="940450"/>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Server Management</a:t>
            </a:r>
          </a:p>
        </p:txBody>
      </p:sp>
      <p:sp>
        <p:nvSpPr>
          <p:cNvPr id="16" name="Freeform 16">
            <a:extLst>
              <a:ext uri="{FF2B5EF4-FFF2-40B4-BE49-F238E27FC236}">
                <a16:creationId xmlns:a16="http://schemas.microsoft.com/office/drawing/2014/main" id="{311F23EC-CC84-D84A-BD00-2ACE39C7D2FD}"/>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3FAC1E16-0A64-FF1D-3564-719CDD185219}"/>
              </a:ext>
            </a:extLst>
          </p:cNvPr>
          <p:cNvSpPr>
            <a:spLocks noGrp="1"/>
          </p:cNvSpPr>
          <p:nvPr>
            <p:ph idx="1"/>
          </p:nvPr>
        </p:nvSpPr>
        <p:spPr>
          <a:xfrm>
            <a:off x="1959454" y="2262013"/>
            <a:ext cx="15181219" cy="7852963"/>
          </a:xfrm>
        </p:spPr>
        <p:txBody>
          <a:bodyPr>
            <a:normAutofit/>
          </a:bodyPr>
          <a:lstStyle/>
          <a:p>
            <a:pPr marL="457200" lvl="1" indent="0">
              <a:buNone/>
            </a:pPr>
            <a:r>
              <a:rPr lang="en-US" sz="5000" b="1" dirty="0">
                <a:latin typeface="Century Gothic" panose="020B0502020202020204" pitchFamily="34" charset="0"/>
              </a:rPr>
              <a:t>Managing physical and virtual servers, web servers and file servers</a:t>
            </a:r>
          </a:p>
          <a:p>
            <a:endParaRPr lang="en-US" sz="5000" b="1" dirty="0">
              <a:latin typeface="Century Gothic" panose="020B0502020202020204" pitchFamily="34" charset="0"/>
            </a:endParaRPr>
          </a:p>
          <a:p>
            <a:endParaRPr lang="en-US" b="1" dirty="0">
              <a:latin typeface="Century Gothic" panose="020B0502020202020204" pitchFamily="34" charset="0"/>
            </a:endParaRPr>
          </a:p>
        </p:txBody>
      </p:sp>
      <p:pic>
        <p:nvPicPr>
          <p:cNvPr id="7" name="Picture 6">
            <a:extLst>
              <a:ext uri="{FF2B5EF4-FFF2-40B4-BE49-F238E27FC236}">
                <a16:creationId xmlns:a16="http://schemas.microsoft.com/office/drawing/2014/main" id="{F8573A35-ECE7-1DE1-46D1-4F111488B60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29877" y="4095542"/>
            <a:ext cx="5190186" cy="5190186"/>
          </a:xfrm>
          <a:prstGeom prst="rect">
            <a:avLst/>
          </a:prstGeom>
        </p:spPr>
      </p:pic>
    </p:spTree>
    <p:extLst>
      <p:ext uri="{BB962C8B-B14F-4D97-AF65-F5344CB8AC3E}">
        <p14:creationId xmlns:p14="http://schemas.microsoft.com/office/powerpoint/2010/main" val="1562005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38FE3-3FA8-6715-B88E-F1CAF4059C3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0370D6E-18F8-F50D-AAC2-2CC37B4E79D8}"/>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8B94F193-6723-3235-6A81-E8BA5E936ECF}"/>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7A3F2F7D-CF64-12F1-4391-F5B62C9DF6A5}"/>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903750F1-688A-0A19-D62E-FF0A7B4ADE16}"/>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B8B6D32A-C12A-7E22-CEEE-6723FC5EFBB9}"/>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12709621-9296-4CCA-48D2-AE60E3B6A44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42FBE893-87F9-5BA6-5707-7CD768D8F90D}"/>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9AE4F711-3203-51C7-E910-6D611C3ECA2E}"/>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324E5D1F-6054-358D-E58E-0A1EF6F6A4F1}"/>
              </a:ext>
            </a:extLst>
          </p:cNvPr>
          <p:cNvSpPr txBox="1"/>
          <p:nvPr/>
        </p:nvSpPr>
        <p:spPr>
          <a:xfrm>
            <a:off x="228600" y="202666"/>
            <a:ext cx="18059400" cy="940450"/>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Back Up and Disaster Recovery</a:t>
            </a:r>
          </a:p>
        </p:txBody>
      </p:sp>
      <p:sp>
        <p:nvSpPr>
          <p:cNvPr id="16" name="Freeform 16">
            <a:extLst>
              <a:ext uri="{FF2B5EF4-FFF2-40B4-BE49-F238E27FC236}">
                <a16:creationId xmlns:a16="http://schemas.microsoft.com/office/drawing/2014/main" id="{497C2B21-2259-845D-B027-CA673093D069}"/>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538CC304-90E7-6EB1-D342-5F7023A20E5A}"/>
              </a:ext>
            </a:extLst>
          </p:cNvPr>
          <p:cNvSpPr>
            <a:spLocks noGrp="1"/>
          </p:cNvSpPr>
          <p:nvPr>
            <p:ph idx="1"/>
          </p:nvPr>
        </p:nvSpPr>
        <p:spPr>
          <a:xfrm>
            <a:off x="1959454" y="2262013"/>
            <a:ext cx="15181219" cy="7852963"/>
          </a:xfrm>
        </p:spPr>
        <p:txBody>
          <a:bodyPr>
            <a:normAutofit/>
          </a:bodyPr>
          <a:lstStyle/>
          <a:p>
            <a:pPr marL="457200" lvl="1" indent="0">
              <a:buNone/>
            </a:pPr>
            <a:r>
              <a:rPr lang="en-US" sz="5000" b="1" dirty="0">
                <a:latin typeface="Century Gothic" panose="020B0502020202020204" pitchFamily="34" charset="0"/>
              </a:rPr>
              <a:t>Planning and implementing data backup systems to prevent loss.</a:t>
            </a:r>
          </a:p>
          <a:p>
            <a:endParaRPr lang="en-US" b="1" dirty="0">
              <a:latin typeface="Century Gothic" panose="020B0502020202020204" pitchFamily="34" charset="0"/>
            </a:endParaRPr>
          </a:p>
        </p:txBody>
      </p:sp>
      <p:pic>
        <p:nvPicPr>
          <p:cNvPr id="7" name="Picture 6">
            <a:extLst>
              <a:ext uri="{FF2B5EF4-FFF2-40B4-BE49-F238E27FC236}">
                <a16:creationId xmlns:a16="http://schemas.microsoft.com/office/drawing/2014/main" id="{93E0FE10-8C13-4EA4-8676-B941D70BE69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50062" y="4211343"/>
            <a:ext cx="5050543" cy="5050543"/>
          </a:xfrm>
          <a:prstGeom prst="rect">
            <a:avLst/>
          </a:prstGeom>
        </p:spPr>
      </p:pic>
    </p:spTree>
    <p:extLst>
      <p:ext uri="{BB962C8B-B14F-4D97-AF65-F5344CB8AC3E}">
        <p14:creationId xmlns:p14="http://schemas.microsoft.com/office/powerpoint/2010/main" val="19472367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25403-E7B5-491E-D1AF-0610673E5D7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E32D91A-3AA2-B0BF-8698-5A62FFDDB969}"/>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D36DC973-BD39-56F6-5243-A5E7A79714DC}"/>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D0FB1DBE-A41B-73BA-A0E2-6DFB42546794}"/>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D12F8D86-20CA-84E3-5BC0-9A5633571B01}"/>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72762F90-B980-5E5B-6F60-CF55EA4856A9}"/>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452A6E1A-7EE0-E950-9666-AEC3CC4E799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48B37BAD-629D-2047-1A52-0DED5FD7D56F}"/>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DE6634A6-6C95-4B16-D4C2-9FE6FAE0A3AF}"/>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5B483E83-8D2A-3D16-26EE-CF5313803302}"/>
              </a:ext>
            </a:extLst>
          </p:cNvPr>
          <p:cNvSpPr txBox="1"/>
          <p:nvPr/>
        </p:nvSpPr>
        <p:spPr>
          <a:xfrm>
            <a:off x="228600" y="202666"/>
            <a:ext cx="18059400" cy="940450"/>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Scripting and Coding</a:t>
            </a:r>
          </a:p>
        </p:txBody>
      </p:sp>
      <p:sp>
        <p:nvSpPr>
          <p:cNvPr id="16" name="Freeform 16">
            <a:extLst>
              <a:ext uri="{FF2B5EF4-FFF2-40B4-BE49-F238E27FC236}">
                <a16:creationId xmlns:a16="http://schemas.microsoft.com/office/drawing/2014/main" id="{9D8B19FF-F17A-9EEB-2F1D-975FA1FB87BC}"/>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CB627729-AF1F-5DD3-EA45-3039B9F16339}"/>
              </a:ext>
            </a:extLst>
          </p:cNvPr>
          <p:cNvSpPr>
            <a:spLocks noGrp="1"/>
          </p:cNvSpPr>
          <p:nvPr>
            <p:ph idx="1"/>
          </p:nvPr>
        </p:nvSpPr>
        <p:spPr>
          <a:xfrm>
            <a:off x="1959454" y="2262013"/>
            <a:ext cx="15181219" cy="7852963"/>
          </a:xfrm>
        </p:spPr>
        <p:txBody>
          <a:bodyPr>
            <a:normAutofit/>
          </a:bodyPr>
          <a:lstStyle/>
          <a:p>
            <a:pPr marL="457200" lvl="1" indent="0">
              <a:buNone/>
            </a:pPr>
            <a:r>
              <a:rPr lang="en-US" sz="5000" b="1" dirty="0">
                <a:latin typeface="Century Gothic" panose="020B0502020202020204" pitchFamily="34" charset="0"/>
              </a:rPr>
              <a:t>Using scripts (Bash, PowerShell, Python) to automate repetitive tasks.</a:t>
            </a:r>
          </a:p>
          <a:p>
            <a:pPr marL="0" indent="0">
              <a:buNone/>
            </a:pPr>
            <a:endParaRPr lang="en-US" sz="5000" b="1" dirty="0">
              <a:latin typeface="Century Gothic" panose="020B0502020202020204" pitchFamily="34" charset="0"/>
            </a:endParaRPr>
          </a:p>
        </p:txBody>
      </p:sp>
      <p:pic>
        <p:nvPicPr>
          <p:cNvPr id="7" name="Picture 6">
            <a:extLst>
              <a:ext uri="{FF2B5EF4-FFF2-40B4-BE49-F238E27FC236}">
                <a16:creationId xmlns:a16="http://schemas.microsoft.com/office/drawing/2014/main" id="{41077CB8-08F1-B31B-C3AB-8C826511887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934919" y="4088292"/>
            <a:ext cx="5650143" cy="5650143"/>
          </a:xfrm>
          <a:prstGeom prst="rect">
            <a:avLst/>
          </a:prstGeom>
        </p:spPr>
      </p:pic>
    </p:spTree>
    <p:extLst>
      <p:ext uri="{BB962C8B-B14F-4D97-AF65-F5344CB8AC3E}">
        <p14:creationId xmlns:p14="http://schemas.microsoft.com/office/powerpoint/2010/main" val="38459640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B2C0B-A52B-9D7E-B92B-0BD8DAE60E2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1A2A6DB-840D-5236-E5DE-4DDDBDB819AF}"/>
              </a:ext>
            </a:extLst>
          </p:cNvPr>
          <p:cNvSpPr/>
          <p:nvPr/>
        </p:nvSpPr>
        <p:spPr>
          <a:xfrm>
            <a:off x="13469396" y="2719229"/>
            <a:ext cx="2544433" cy="2544433"/>
          </a:xfrm>
          <a:custGeom>
            <a:avLst/>
            <a:gdLst/>
            <a:ahLst/>
            <a:cxnLst/>
            <a:rect l="l" t="t" r="r" b="b"/>
            <a:pathLst>
              <a:path w="2544433" h="2544433">
                <a:moveTo>
                  <a:pt x="0" y="0"/>
                </a:moveTo>
                <a:lnTo>
                  <a:pt x="2544432" y="0"/>
                </a:lnTo>
                <a:lnTo>
                  <a:pt x="2544432" y="2544433"/>
                </a:lnTo>
                <a:lnTo>
                  <a:pt x="0" y="25444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5" name="Group 5">
            <a:extLst>
              <a:ext uri="{FF2B5EF4-FFF2-40B4-BE49-F238E27FC236}">
                <a16:creationId xmlns:a16="http://schemas.microsoft.com/office/drawing/2014/main" id="{3C231E0A-05A6-A2B7-5817-625FC2957416}"/>
              </a:ext>
            </a:extLst>
          </p:cNvPr>
          <p:cNvGrpSpPr/>
          <p:nvPr/>
        </p:nvGrpSpPr>
        <p:grpSpPr>
          <a:xfrm>
            <a:off x="-1136521" y="3307946"/>
            <a:ext cx="2594369" cy="4588246"/>
            <a:chOff x="0" y="0"/>
            <a:chExt cx="683291" cy="1208427"/>
          </a:xfrm>
        </p:grpSpPr>
        <p:sp>
          <p:nvSpPr>
            <p:cNvPr id="6" name="Freeform 6">
              <a:extLst>
                <a:ext uri="{FF2B5EF4-FFF2-40B4-BE49-F238E27FC236}">
                  <a16:creationId xmlns:a16="http://schemas.microsoft.com/office/drawing/2014/main" id="{F1D864D7-1D2B-1701-7930-1CE21D576C86}"/>
                </a:ext>
              </a:extLst>
            </p:cNvPr>
            <p:cNvSpPr/>
            <p:nvPr/>
          </p:nvSpPr>
          <p:spPr>
            <a:xfrm>
              <a:off x="0" y="0"/>
              <a:ext cx="683291" cy="1208427"/>
            </a:xfrm>
            <a:custGeom>
              <a:avLst/>
              <a:gdLst/>
              <a:ahLst/>
              <a:cxnLst/>
              <a:rect l="l" t="t" r="r" b="b"/>
              <a:pathLst>
                <a:path w="683291" h="1208427">
                  <a:moveTo>
                    <a:pt x="152190" y="0"/>
                  </a:moveTo>
                  <a:lnTo>
                    <a:pt x="531100" y="0"/>
                  </a:lnTo>
                  <a:cubicBezTo>
                    <a:pt x="571464" y="0"/>
                    <a:pt x="610174" y="16034"/>
                    <a:pt x="638715" y="44576"/>
                  </a:cubicBezTo>
                  <a:cubicBezTo>
                    <a:pt x="667256" y="73117"/>
                    <a:pt x="683291" y="111827"/>
                    <a:pt x="683291" y="152190"/>
                  </a:cubicBezTo>
                  <a:lnTo>
                    <a:pt x="683291" y="1056237"/>
                  </a:lnTo>
                  <a:cubicBezTo>
                    <a:pt x="683291" y="1096600"/>
                    <a:pt x="667256" y="1135310"/>
                    <a:pt x="638715" y="1163852"/>
                  </a:cubicBezTo>
                  <a:cubicBezTo>
                    <a:pt x="610174" y="1192393"/>
                    <a:pt x="571464" y="1208427"/>
                    <a:pt x="531100" y="1208427"/>
                  </a:cubicBezTo>
                  <a:lnTo>
                    <a:pt x="152190" y="1208427"/>
                  </a:lnTo>
                  <a:cubicBezTo>
                    <a:pt x="111827" y="1208427"/>
                    <a:pt x="73117" y="1192393"/>
                    <a:pt x="44576" y="1163852"/>
                  </a:cubicBezTo>
                  <a:cubicBezTo>
                    <a:pt x="16034" y="1135310"/>
                    <a:pt x="0" y="1096600"/>
                    <a:pt x="0" y="1056237"/>
                  </a:cubicBezTo>
                  <a:lnTo>
                    <a:pt x="0" y="152190"/>
                  </a:lnTo>
                  <a:cubicBezTo>
                    <a:pt x="0" y="111827"/>
                    <a:pt x="16034" y="73117"/>
                    <a:pt x="44576" y="44576"/>
                  </a:cubicBezTo>
                  <a:cubicBezTo>
                    <a:pt x="73117" y="16034"/>
                    <a:pt x="111827" y="0"/>
                    <a:pt x="152190" y="0"/>
                  </a:cubicBezTo>
                  <a:close/>
                </a:path>
              </a:pathLst>
            </a:custGeom>
            <a:solidFill>
              <a:srgbClr val="5188CC"/>
            </a:solidFill>
          </p:spPr>
        </p:sp>
        <p:sp>
          <p:nvSpPr>
            <p:cNvPr id="7" name="TextBox 7">
              <a:extLst>
                <a:ext uri="{FF2B5EF4-FFF2-40B4-BE49-F238E27FC236}">
                  <a16:creationId xmlns:a16="http://schemas.microsoft.com/office/drawing/2014/main" id="{B483F774-D7B2-E603-9978-6D3EC4470FC9}"/>
                </a:ext>
              </a:extLst>
            </p:cNvPr>
            <p:cNvSpPr txBox="1"/>
            <p:nvPr/>
          </p:nvSpPr>
          <p:spPr>
            <a:xfrm>
              <a:off x="0" y="-47625"/>
              <a:ext cx="683291" cy="1256052"/>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8A03FD13-C93D-DA1D-3C1F-AE11E616B512}"/>
              </a:ext>
            </a:extLst>
          </p:cNvPr>
          <p:cNvSpPr/>
          <p:nvPr/>
        </p:nvSpPr>
        <p:spPr>
          <a:xfrm>
            <a:off x="13731511" y="1434222"/>
            <a:ext cx="305535" cy="302202"/>
          </a:xfrm>
          <a:custGeom>
            <a:avLst/>
            <a:gdLst/>
            <a:ahLst/>
            <a:cxnLst/>
            <a:rect l="l" t="t" r="r" b="b"/>
            <a:pathLst>
              <a:path w="305535" h="302202">
                <a:moveTo>
                  <a:pt x="0" y="0"/>
                </a:moveTo>
                <a:lnTo>
                  <a:pt x="305535" y="0"/>
                </a:lnTo>
                <a:lnTo>
                  <a:pt x="305535" y="302203"/>
                </a:lnTo>
                <a:lnTo>
                  <a:pt x="0" y="30220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a:extLst>
              <a:ext uri="{FF2B5EF4-FFF2-40B4-BE49-F238E27FC236}">
                <a16:creationId xmlns:a16="http://schemas.microsoft.com/office/drawing/2014/main" id="{C036254E-94B9-B424-8656-3D4A632D61F9}"/>
              </a:ext>
            </a:extLst>
          </p:cNvPr>
          <p:cNvSpPr/>
          <p:nvPr/>
        </p:nvSpPr>
        <p:spPr>
          <a:xfrm>
            <a:off x="1028700" y="-252231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a:extLst>
              <a:ext uri="{FF2B5EF4-FFF2-40B4-BE49-F238E27FC236}">
                <a16:creationId xmlns:a16="http://schemas.microsoft.com/office/drawing/2014/main" id="{444CC26D-C69A-20E1-5F66-1A2D4C7BE1C3}"/>
              </a:ext>
            </a:extLst>
          </p:cNvPr>
          <p:cNvSpPr/>
          <p:nvPr/>
        </p:nvSpPr>
        <p:spPr>
          <a:xfrm>
            <a:off x="11958605" y="3307946"/>
            <a:ext cx="1025128" cy="1025128"/>
          </a:xfrm>
          <a:custGeom>
            <a:avLst/>
            <a:gdLst/>
            <a:ahLst/>
            <a:cxnLst/>
            <a:rect l="l" t="t" r="r" b="b"/>
            <a:pathLst>
              <a:path w="1025128" h="1025128">
                <a:moveTo>
                  <a:pt x="0" y="0"/>
                </a:moveTo>
                <a:lnTo>
                  <a:pt x="1025127" y="0"/>
                </a:lnTo>
                <a:lnTo>
                  <a:pt x="1025127" y="1025127"/>
                </a:lnTo>
                <a:lnTo>
                  <a:pt x="0" y="102512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4" name="Freeform 14">
            <a:extLst>
              <a:ext uri="{FF2B5EF4-FFF2-40B4-BE49-F238E27FC236}">
                <a16:creationId xmlns:a16="http://schemas.microsoft.com/office/drawing/2014/main" id="{71251FB3-3134-698F-7EF3-49FBC45E56E9}"/>
              </a:ext>
            </a:extLst>
          </p:cNvPr>
          <p:cNvSpPr/>
          <p:nvPr/>
        </p:nvSpPr>
        <p:spPr>
          <a:xfrm>
            <a:off x="7843805" y="8248617"/>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TextBox 15">
            <a:extLst>
              <a:ext uri="{FF2B5EF4-FFF2-40B4-BE49-F238E27FC236}">
                <a16:creationId xmlns:a16="http://schemas.microsoft.com/office/drawing/2014/main" id="{28165EEF-D001-6A38-752E-D7153B0EAE19}"/>
              </a:ext>
            </a:extLst>
          </p:cNvPr>
          <p:cNvSpPr txBox="1"/>
          <p:nvPr/>
        </p:nvSpPr>
        <p:spPr>
          <a:xfrm>
            <a:off x="2412807" y="3028963"/>
            <a:ext cx="14808393" cy="3231654"/>
          </a:xfrm>
          <a:prstGeom prst="rect">
            <a:avLst/>
          </a:prstGeom>
        </p:spPr>
        <p:txBody>
          <a:bodyPr wrap="square" lIns="0" tIns="0" rIns="0" bIns="0" rtlCol="0" anchor="t">
            <a:spAutoFit/>
          </a:bodyPr>
          <a:lstStyle/>
          <a:p>
            <a:pPr algn="l">
              <a:lnSpc>
                <a:spcPts val="12564"/>
              </a:lnSpc>
            </a:pPr>
            <a:r>
              <a:rPr lang="en-US" sz="12198" b="1" dirty="0">
                <a:solidFill>
                  <a:srgbClr val="0E2F5F"/>
                </a:solidFill>
                <a:latin typeface="Barlow Condensed Heavy"/>
                <a:ea typeface="Barlow Condensed Heavy"/>
                <a:cs typeface="Barlow Condensed Heavy"/>
                <a:sym typeface="Barlow Condensed Heavy"/>
              </a:rPr>
              <a:t>Real Life Scenario of System Administrator</a:t>
            </a:r>
          </a:p>
        </p:txBody>
      </p:sp>
      <p:sp>
        <p:nvSpPr>
          <p:cNvPr id="16" name="Freeform 16">
            <a:extLst>
              <a:ext uri="{FF2B5EF4-FFF2-40B4-BE49-F238E27FC236}">
                <a16:creationId xmlns:a16="http://schemas.microsoft.com/office/drawing/2014/main" id="{AB61FB7A-406C-23F2-5FCC-7833D3F72DDF}"/>
              </a:ext>
            </a:extLst>
          </p:cNvPr>
          <p:cNvSpPr/>
          <p:nvPr/>
        </p:nvSpPr>
        <p:spPr>
          <a:xfrm>
            <a:off x="12769424" y="2436835"/>
            <a:ext cx="806841" cy="564789"/>
          </a:xfrm>
          <a:custGeom>
            <a:avLst/>
            <a:gdLst/>
            <a:ahLst/>
            <a:cxnLst/>
            <a:rect l="l" t="t" r="r" b="b"/>
            <a:pathLst>
              <a:path w="806841" h="564789">
                <a:moveTo>
                  <a:pt x="0" y="0"/>
                </a:moveTo>
                <a:lnTo>
                  <a:pt x="806840" y="0"/>
                </a:lnTo>
                <a:lnTo>
                  <a:pt x="806840" y="564788"/>
                </a:lnTo>
                <a:lnTo>
                  <a:pt x="0" y="56478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8" name="TextBox 18">
            <a:extLst>
              <a:ext uri="{FF2B5EF4-FFF2-40B4-BE49-F238E27FC236}">
                <a16:creationId xmlns:a16="http://schemas.microsoft.com/office/drawing/2014/main" id="{1ACC84F9-CAE9-ACE1-1277-6C8E4003D89C}"/>
              </a:ext>
            </a:extLst>
          </p:cNvPr>
          <p:cNvSpPr txBox="1"/>
          <p:nvPr/>
        </p:nvSpPr>
        <p:spPr>
          <a:xfrm>
            <a:off x="14211574" y="1415172"/>
            <a:ext cx="3009626" cy="306925"/>
          </a:xfrm>
          <a:prstGeom prst="rect">
            <a:avLst/>
          </a:prstGeom>
        </p:spPr>
        <p:txBody>
          <a:bodyPr lIns="0" tIns="0" rIns="0" bIns="0" rtlCol="0" anchor="t">
            <a:spAutoFit/>
          </a:bodyPr>
          <a:lstStyle/>
          <a:p>
            <a:pPr algn="l">
              <a:lnSpc>
                <a:spcPts val="2413"/>
              </a:lnSpc>
            </a:pPr>
            <a:r>
              <a:rPr lang="en-US" sz="1900" dirty="0">
                <a:solidFill>
                  <a:srgbClr val="FFFFFF"/>
                </a:solidFill>
                <a:latin typeface="Aileron"/>
                <a:ea typeface="Aileron"/>
                <a:cs typeface="Aileron"/>
                <a:sym typeface="Aileron"/>
              </a:rPr>
              <a:t>www.reallygreatsite.com</a:t>
            </a:r>
          </a:p>
        </p:txBody>
      </p:sp>
      <p:sp>
        <p:nvSpPr>
          <p:cNvPr id="19" name="Freeform 19">
            <a:extLst>
              <a:ext uri="{FF2B5EF4-FFF2-40B4-BE49-F238E27FC236}">
                <a16:creationId xmlns:a16="http://schemas.microsoft.com/office/drawing/2014/main" id="{56646327-060A-E552-7C5C-542C333DF7A1}"/>
              </a:ext>
            </a:extLst>
          </p:cNvPr>
          <p:cNvSpPr/>
          <p:nvPr/>
        </p:nvSpPr>
        <p:spPr>
          <a:xfrm>
            <a:off x="2412807" y="8799767"/>
            <a:ext cx="1483489" cy="458533"/>
          </a:xfrm>
          <a:custGeom>
            <a:avLst/>
            <a:gdLst/>
            <a:ahLst/>
            <a:cxnLst/>
            <a:rect l="l" t="t" r="r" b="b"/>
            <a:pathLst>
              <a:path w="1483489" h="458533">
                <a:moveTo>
                  <a:pt x="0" y="0"/>
                </a:moveTo>
                <a:lnTo>
                  <a:pt x="1483489" y="0"/>
                </a:lnTo>
                <a:lnTo>
                  <a:pt x="1483489" y="458533"/>
                </a:lnTo>
                <a:lnTo>
                  <a:pt x="0" y="45853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Tree>
    <p:extLst>
      <p:ext uri="{BB962C8B-B14F-4D97-AF65-F5344CB8AC3E}">
        <p14:creationId xmlns:p14="http://schemas.microsoft.com/office/powerpoint/2010/main" val="39421368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E357C-B918-EADB-C218-B83A6D48A39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43B9818-615F-23AF-D649-2DA477923C51}"/>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8B024F6B-8237-BCEE-CC17-4412986164A3}"/>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51B206AC-8D5C-5E47-623C-A11F6C6303EA}"/>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1DA0824F-AC87-399E-D80A-2B64F822CA1E}"/>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0DB7345C-F8FE-8C10-035E-DBF4D3984978}"/>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1478CBF8-5A76-714D-1B43-E51F402D7A2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FF6E2DE0-1442-D936-D847-AEC727F5535B}"/>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DF8BBE25-BFA5-7185-3C20-D9ACCEE990F1}"/>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4AB5BD40-C7E0-2A86-045A-C0B24F668F04}"/>
              </a:ext>
            </a:extLst>
          </p:cNvPr>
          <p:cNvSpPr txBox="1"/>
          <p:nvPr/>
        </p:nvSpPr>
        <p:spPr>
          <a:xfrm>
            <a:off x="228600" y="202666"/>
            <a:ext cx="18059400" cy="940450"/>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Scenario 1</a:t>
            </a:r>
          </a:p>
        </p:txBody>
      </p:sp>
      <p:sp>
        <p:nvSpPr>
          <p:cNvPr id="16" name="Freeform 16">
            <a:extLst>
              <a:ext uri="{FF2B5EF4-FFF2-40B4-BE49-F238E27FC236}">
                <a16:creationId xmlns:a16="http://schemas.microsoft.com/office/drawing/2014/main" id="{D9737AAD-3C64-A4B6-AC7A-2184B7DFCAE1}"/>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FD7BF91F-4D43-55B8-B7EC-70EE3B72AF06}"/>
              </a:ext>
            </a:extLst>
          </p:cNvPr>
          <p:cNvSpPr>
            <a:spLocks noGrp="1"/>
          </p:cNvSpPr>
          <p:nvPr>
            <p:ph idx="1"/>
          </p:nvPr>
        </p:nvSpPr>
        <p:spPr>
          <a:xfrm>
            <a:off x="1959454" y="2262013"/>
            <a:ext cx="15181219" cy="7852963"/>
          </a:xfrm>
        </p:spPr>
        <p:txBody>
          <a:bodyPr>
            <a:normAutofit/>
          </a:bodyPr>
          <a:lstStyle/>
          <a:p>
            <a:pPr>
              <a:lnSpc>
                <a:spcPts val="7000"/>
              </a:lnSpc>
            </a:pPr>
            <a:r>
              <a:rPr lang="en-US" sz="5000" b="1" dirty="0">
                <a:latin typeface="Century Gothic" panose="020B0502020202020204" pitchFamily="34" charset="0"/>
                <a:ea typeface="Be Vietnam Ultra-Bold"/>
                <a:cs typeface="Be Vietnam Ultra-Bold"/>
                <a:sym typeface="Be Vietnam Ultra-Bold"/>
              </a:rPr>
              <a:t>Server Crash During Office Hours</a:t>
            </a:r>
          </a:p>
          <a:p>
            <a:pPr>
              <a:lnSpc>
                <a:spcPts val="7000"/>
              </a:lnSpc>
            </a:pPr>
            <a:r>
              <a:rPr lang="en-US" sz="5000" b="1" dirty="0">
                <a:latin typeface="Century Gothic" panose="020B0502020202020204" pitchFamily="34" charset="0"/>
                <a:ea typeface="Be Vietnam Ultra-Bold"/>
                <a:cs typeface="Be Vietnam Ultra-Bold"/>
                <a:sym typeface="Be Vietnam Ultra-Bold"/>
              </a:rPr>
              <a:t>Scenario:</a:t>
            </a:r>
          </a:p>
          <a:p>
            <a:pPr marL="1079578" lvl="1" indent="-539789">
              <a:lnSpc>
                <a:spcPts val="7000"/>
              </a:lnSpc>
              <a:buFont typeface="Arial"/>
              <a:buChar char="•"/>
            </a:pPr>
            <a:r>
              <a:rPr lang="en-US" sz="5000" b="1" dirty="0">
                <a:latin typeface="Century Gothic" panose="020B0502020202020204" pitchFamily="34" charset="0"/>
                <a:ea typeface="Be Vietnam Ultra-Bold"/>
                <a:cs typeface="Be Vietnam Ultra-Bold"/>
                <a:sym typeface="Be Vietnam Ultra-Bold"/>
              </a:rPr>
              <a:t>It’s Monday morning, and the company’s main file server suddenly goes down. Employees can’t access shared documents, and the system.</a:t>
            </a:r>
          </a:p>
          <a:p>
            <a:pPr marL="0" indent="0">
              <a:buNone/>
            </a:pPr>
            <a:endParaRPr lang="en-US" sz="5000" b="1" dirty="0">
              <a:latin typeface="Century Gothic" panose="020B0502020202020204" pitchFamily="34" charset="0"/>
            </a:endParaRPr>
          </a:p>
        </p:txBody>
      </p:sp>
    </p:spTree>
    <p:extLst>
      <p:ext uri="{BB962C8B-B14F-4D97-AF65-F5344CB8AC3E}">
        <p14:creationId xmlns:p14="http://schemas.microsoft.com/office/powerpoint/2010/main" val="12668734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1E147-06E0-8508-96E1-FB83AA841A4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AFCADC2-5110-D78C-8F53-5F933676E280}"/>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15BDAF1C-6DEA-0D52-1CF4-DB6D379993D9}"/>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BE7A66C7-CF2B-F296-F336-CEA9F0B175B0}"/>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2C0A7270-A7B0-69B0-5B8D-8D25C7B987AC}"/>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5B9C2232-490F-C51D-D931-C2B5282A463A}"/>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4BCEEBBD-D3A2-BE67-2F1A-99B22739B08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37D07F4D-D175-752B-82DC-A578CAB05768}"/>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7B224962-6B01-8F7F-0A88-5BDB13A44BB9}"/>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EC9CFB4A-5F17-023F-652B-E73C96392E33}"/>
              </a:ext>
            </a:extLst>
          </p:cNvPr>
          <p:cNvSpPr txBox="1"/>
          <p:nvPr/>
        </p:nvSpPr>
        <p:spPr>
          <a:xfrm>
            <a:off x="228600" y="202666"/>
            <a:ext cx="18059400" cy="940450"/>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Scenario 1</a:t>
            </a:r>
          </a:p>
        </p:txBody>
      </p:sp>
      <p:sp>
        <p:nvSpPr>
          <p:cNvPr id="16" name="Freeform 16">
            <a:extLst>
              <a:ext uri="{FF2B5EF4-FFF2-40B4-BE49-F238E27FC236}">
                <a16:creationId xmlns:a16="http://schemas.microsoft.com/office/drawing/2014/main" id="{A399DAFB-DC6B-F0B0-9DCA-CB961485A680}"/>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581C81D4-8BF3-DFF1-6690-D8365715CAAB}"/>
              </a:ext>
            </a:extLst>
          </p:cNvPr>
          <p:cNvSpPr>
            <a:spLocks noGrp="1"/>
          </p:cNvSpPr>
          <p:nvPr>
            <p:ph idx="1"/>
          </p:nvPr>
        </p:nvSpPr>
        <p:spPr>
          <a:xfrm>
            <a:off x="1959454" y="2262013"/>
            <a:ext cx="15181219" cy="7852963"/>
          </a:xfrm>
        </p:spPr>
        <p:txBody>
          <a:bodyPr>
            <a:normAutofit/>
          </a:bodyPr>
          <a:lstStyle/>
          <a:p>
            <a:pPr>
              <a:lnSpc>
                <a:spcPts val="7000"/>
              </a:lnSpc>
            </a:pPr>
            <a:r>
              <a:rPr lang="en-US" sz="5000" b="1" dirty="0" err="1">
                <a:latin typeface="Century Gothic" panose="020B0502020202020204" pitchFamily="34" charset="0"/>
                <a:ea typeface="Be Vietnam Ultra-Bold"/>
                <a:cs typeface="Be Vietnam Ultra-Bold"/>
                <a:sym typeface="Be Vietnam Ultra-Bold"/>
              </a:rPr>
              <a:t>SysAdmin</a:t>
            </a:r>
            <a:r>
              <a:rPr lang="en-US" sz="5000" b="1" dirty="0">
                <a:latin typeface="Century Gothic" panose="020B0502020202020204" pitchFamily="34" charset="0"/>
                <a:ea typeface="Be Vietnam Ultra-Bold"/>
                <a:cs typeface="Be Vietnam Ultra-Bold"/>
                <a:sym typeface="Be Vietnam Ultra-Bold"/>
              </a:rPr>
              <a:t> Role:</a:t>
            </a:r>
          </a:p>
          <a:p>
            <a:pPr marL="1079578" lvl="1" indent="-539789">
              <a:lnSpc>
                <a:spcPts val="7000"/>
              </a:lnSpc>
              <a:buFont typeface="Arial"/>
              <a:buChar char="•"/>
            </a:pPr>
            <a:r>
              <a:rPr lang="en-US" sz="5000" b="1" dirty="0">
                <a:latin typeface="Century Gothic" panose="020B0502020202020204" pitchFamily="34" charset="0"/>
                <a:ea typeface="Be Vietnam Ultra-Bold"/>
                <a:cs typeface="Be Vietnam Ultra-Bold"/>
                <a:sym typeface="Be Vietnam Ultra-Bold"/>
              </a:rPr>
              <a:t>Diagnose the cause (hardware failure, power outage, corrupted OS).</a:t>
            </a:r>
          </a:p>
          <a:p>
            <a:pPr marL="1079578" lvl="1" indent="-539789">
              <a:lnSpc>
                <a:spcPts val="7000"/>
              </a:lnSpc>
              <a:buFont typeface="Arial"/>
              <a:buChar char="•"/>
            </a:pPr>
            <a:r>
              <a:rPr lang="en-US" sz="5000" b="1" dirty="0">
                <a:latin typeface="Century Gothic" panose="020B0502020202020204" pitchFamily="34" charset="0"/>
                <a:ea typeface="Be Vietnam Ultra-Bold"/>
                <a:cs typeface="Be Vietnam Ultra-Bold"/>
                <a:sym typeface="Be Vietnam Ultra-Bold"/>
              </a:rPr>
              <a:t>Restore the system from backups.</a:t>
            </a:r>
          </a:p>
          <a:p>
            <a:pPr marL="1079578" lvl="1" indent="-539789">
              <a:lnSpc>
                <a:spcPts val="7000"/>
              </a:lnSpc>
              <a:buFont typeface="Arial"/>
              <a:buChar char="•"/>
            </a:pPr>
            <a:r>
              <a:rPr lang="en-US" sz="5000" b="1" dirty="0">
                <a:latin typeface="Century Gothic" panose="020B0502020202020204" pitchFamily="34" charset="0"/>
                <a:ea typeface="Be Vietnam Ultra-Bold"/>
                <a:cs typeface="Be Vietnam Ultra-Bold"/>
                <a:sym typeface="Be Vietnam Ultra-Bold"/>
              </a:rPr>
              <a:t>Communicate updates to staff while minimizing downtime.</a:t>
            </a:r>
          </a:p>
          <a:p>
            <a:pPr marL="0" indent="0">
              <a:buNone/>
            </a:pPr>
            <a:endParaRPr lang="en-US" sz="5000" b="1" dirty="0">
              <a:latin typeface="Century Gothic" panose="020B0502020202020204" pitchFamily="34" charset="0"/>
            </a:endParaRPr>
          </a:p>
        </p:txBody>
      </p:sp>
    </p:spTree>
    <p:extLst>
      <p:ext uri="{BB962C8B-B14F-4D97-AF65-F5344CB8AC3E}">
        <p14:creationId xmlns:p14="http://schemas.microsoft.com/office/powerpoint/2010/main" val="4746669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16C9A-E723-1459-6E21-5DF2D999122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759F4AF-37DF-048B-DB4F-F6901620C2BD}"/>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39F719FD-A1B4-9E76-333F-6B4F0899000C}"/>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A5D2BAE3-CBB1-2410-F95F-503659C4194A}"/>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155CFADD-5015-4D54-6914-7CCD44729509}"/>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A5168CDD-76B9-2D55-CE4D-47A3483F016E}"/>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B770B7E9-1F61-3804-BAFF-85190C3E57F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1CDC22B0-3EA0-42DC-54AC-80F30305E444}"/>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0108C06E-4F93-F2EC-9885-D0EC2B28DA04}"/>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7475119C-8328-FEC8-DE78-D3D0E1F2CD62}"/>
              </a:ext>
            </a:extLst>
          </p:cNvPr>
          <p:cNvSpPr txBox="1"/>
          <p:nvPr/>
        </p:nvSpPr>
        <p:spPr>
          <a:xfrm>
            <a:off x="228600" y="202666"/>
            <a:ext cx="18059400" cy="940450"/>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Scenario 2</a:t>
            </a:r>
          </a:p>
        </p:txBody>
      </p:sp>
      <p:sp>
        <p:nvSpPr>
          <p:cNvPr id="16" name="Freeform 16">
            <a:extLst>
              <a:ext uri="{FF2B5EF4-FFF2-40B4-BE49-F238E27FC236}">
                <a16:creationId xmlns:a16="http://schemas.microsoft.com/office/drawing/2014/main" id="{B21D3B77-D75D-2961-C1F7-506DDD57D006}"/>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FD6EF3A1-E67B-119C-E197-452F4E58FF09}"/>
              </a:ext>
            </a:extLst>
          </p:cNvPr>
          <p:cNvSpPr>
            <a:spLocks noGrp="1"/>
          </p:cNvSpPr>
          <p:nvPr>
            <p:ph idx="1"/>
          </p:nvPr>
        </p:nvSpPr>
        <p:spPr>
          <a:xfrm>
            <a:off x="1959454" y="2262013"/>
            <a:ext cx="15181219" cy="7852963"/>
          </a:xfrm>
        </p:spPr>
        <p:txBody>
          <a:bodyPr>
            <a:normAutofit/>
          </a:bodyPr>
          <a:lstStyle/>
          <a:p>
            <a:pPr>
              <a:lnSpc>
                <a:spcPts val="7000"/>
              </a:lnSpc>
            </a:pPr>
            <a:r>
              <a:rPr lang="en-US" sz="5000" b="1" dirty="0">
                <a:latin typeface="Century Gothic" panose="020B0502020202020204" pitchFamily="34" charset="0"/>
                <a:ea typeface="Be Vietnam Ultra-Bold"/>
                <a:cs typeface="Be Vietnam Ultra-Bold"/>
                <a:sym typeface="Be Vietnam Ultra-Bold"/>
              </a:rPr>
              <a:t>Phishing Attack Detected</a:t>
            </a:r>
          </a:p>
          <a:p>
            <a:pPr>
              <a:lnSpc>
                <a:spcPts val="7000"/>
              </a:lnSpc>
            </a:pPr>
            <a:r>
              <a:rPr lang="en-US" sz="5000" b="1" dirty="0">
                <a:latin typeface="Century Gothic" panose="020B0502020202020204" pitchFamily="34" charset="0"/>
                <a:ea typeface="Be Vietnam Ultra-Bold"/>
                <a:cs typeface="Be Vietnam Ultra-Bold"/>
                <a:sym typeface="Be Vietnam Ultra-Bold"/>
              </a:rPr>
              <a:t>Scenario:</a:t>
            </a:r>
          </a:p>
          <a:p>
            <a:pPr marL="0" indent="0" fontAlgn="base">
              <a:buNone/>
            </a:pPr>
            <a:r>
              <a:rPr lang="en-US" sz="5000" b="1" dirty="0">
                <a:latin typeface="Century Gothic" panose="020B0502020202020204" pitchFamily="34" charset="0"/>
              </a:rPr>
              <a:t>	Several employees report suspicious emails asking for login credentials</a:t>
            </a:r>
          </a:p>
        </p:txBody>
      </p:sp>
    </p:spTree>
    <p:extLst>
      <p:ext uri="{BB962C8B-B14F-4D97-AF65-F5344CB8AC3E}">
        <p14:creationId xmlns:p14="http://schemas.microsoft.com/office/powerpoint/2010/main" val="1936917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548D6-6CFE-77D0-89AF-9AEDB2DCE74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1994953-68C5-5533-8FBE-F3CE1FAC992F}"/>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32FC4A5D-9391-42D1-1CE2-A4988A66A96E}"/>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29A90DCB-9A16-1B9A-8D51-F16C37419FCF}"/>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E8642F55-36FC-5FA9-CDA6-F64C3E8527FC}"/>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48233D0F-E4D9-B8BD-380A-B5F7BBDADAB2}"/>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973A2C88-61F3-CA08-32DF-5F1535B45F5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88FE12B9-1A87-7B78-4BE5-6627C394807D}"/>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D1A80159-EB5B-3842-7AF9-17D1F6DCC8A4}"/>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5C0ABF94-FF4E-7FF9-6F10-3F78C57A0EF7}"/>
              </a:ext>
            </a:extLst>
          </p:cNvPr>
          <p:cNvSpPr txBox="1"/>
          <p:nvPr/>
        </p:nvSpPr>
        <p:spPr>
          <a:xfrm>
            <a:off x="228600" y="202666"/>
            <a:ext cx="18059400" cy="940450"/>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Scenario 2</a:t>
            </a:r>
          </a:p>
        </p:txBody>
      </p:sp>
      <p:sp>
        <p:nvSpPr>
          <p:cNvPr id="16" name="Freeform 16">
            <a:extLst>
              <a:ext uri="{FF2B5EF4-FFF2-40B4-BE49-F238E27FC236}">
                <a16:creationId xmlns:a16="http://schemas.microsoft.com/office/drawing/2014/main" id="{E9384DCF-DD68-8275-6660-C6EEBBBB9771}"/>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2A0A44E6-8E5E-6D9B-7AC6-BCAD37252AE8}"/>
              </a:ext>
            </a:extLst>
          </p:cNvPr>
          <p:cNvSpPr>
            <a:spLocks noGrp="1"/>
          </p:cNvSpPr>
          <p:nvPr>
            <p:ph idx="1"/>
          </p:nvPr>
        </p:nvSpPr>
        <p:spPr>
          <a:xfrm>
            <a:off x="1959454" y="1780942"/>
            <a:ext cx="15181219" cy="7852963"/>
          </a:xfrm>
        </p:spPr>
        <p:txBody>
          <a:bodyPr>
            <a:normAutofit/>
          </a:bodyPr>
          <a:lstStyle/>
          <a:p>
            <a:pPr>
              <a:lnSpc>
                <a:spcPts val="7000"/>
              </a:lnSpc>
            </a:pPr>
            <a:r>
              <a:rPr lang="en-US" sz="5000" b="1" dirty="0" err="1">
                <a:latin typeface="Century Gothic" panose="020B0502020202020204" pitchFamily="34" charset="0"/>
                <a:ea typeface="Be Vietnam Ultra-Bold"/>
                <a:cs typeface="Be Vietnam Ultra-Bold"/>
                <a:sym typeface="Be Vietnam Ultra-Bold"/>
              </a:rPr>
              <a:t>SysAdmin</a:t>
            </a:r>
            <a:r>
              <a:rPr lang="en-US" sz="5000" b="1" dirty="0">
                <a:latin typeface="Century Gothic" panose="020B0502020202020204" pitchFamily="34" charset="0"/>
                <a:ea typeface="Be Vietnam Ultra-Bold"/>
                <a:cs typeface="Be Vietnam Ultra-Bold"/>
                <a:sym typeface="Be Vietnam Ultra-Bold"/>
              </a:rPr>
              <a:t> Role:</a:t>
            </a:r>
          </a:p>
          <a:p>
            <a:pPr fontAlgn="base"/>
            <a:r>
              <a:rPr lang="en-US" sz="5000" b="1" dirty="0">
                <a:latin typeface="Century Gothic" panose="020B0502020202020204" pitchFamily="34" charset="0"/>
              </a:rPr>
              <a:t>Alert all employees about the phishing attempt</a:t>
            </a:r>
          </a:p>
          <a:p>
            <a:pPr fontAlgn="base"/>
            <a:r>
              <a:rPr lang="en-US" sz="5000" b="1" dirty="0">
                <a:latin typeface="Century Gothic" panose="020B0502020202020204" pitchFamily="34" charset="0"/>
              </a:rPr>
              <a:t>Block the sender's email address and domain</a:t>
            </a:r>
          </a:p>
          <a:p>
            <a:pPr fontAlgn="base"/>
            <a:r>
              <a:rPr lang="en-US" sz="5000" b="1" dirty="0">
                <a:latin typeface="Century Gothic" panose="020B0502020202020204" pitchFamily="34" charset="0"/>
              </a:rPr>
              <a:t> Scan affected systems for malware</a:t>
            </a:r>
          </a:p>
          <a:p>
            <a:pPr fontAlgn="base"/>
            <a:r>
              <a:rPr lang="en-US" sz="5000" b="1" dirty="0">
                <a:latin typeface="Century Gothic" panose="020B0502020202020204" pitchFamily="34" charset="0"/>
              </a:rPr>
              <a:t> Reset passwords for potentially compromised accounts</a:t>
            </a:r>
          </a:p>
          <a:p>
            <a:pPr fontAlgn="base"/>
            <a:r>
              <a:rPr lang="en-US" sz="5000" b="1" dirty="0">
                <a:latin typeface="Century Gothic" panose="020B0502020202020204" pitchFamily="34" charset="0"/>
              </a:rPr>
              <a:t> Conduct a company-wide security awareness training</a:t>
            </a:r>
          </a:p>
        </p:txBody>
      </p:sp>
    </p:spTree>
    <p:extLst>
      <p:ext uri="{BB962C8B-B14F-4D97-AF65-F5344CB8AC3E}">
        <p14:creationId xmlns:p14="http://schemas.microsoft.com/office/powerpoint/2010/main" val="23727388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81D14-050D-ED4A-A093-7285656E200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0E6BE02-5300-3536-95D9-93CEB4F6ED51}"/>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C13AA1A6-B775-6C95-E5CA-616EC2B94E15}"/>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7A128EE2-5279-2140-4946-36C329997C04}"/>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5D0F19F0-384B-B493-EBF8-A15871B9F98F}"/>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875A620C-358F-7CBE-0593-4978C365A8F9}"/>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3A667486-76D1-4668-3839-8F19962D84F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99E1E190-A2CD-0BAB-BC95-F467DDF1F8D8}"/>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E908FA95-5480-22CC-2637-2067495A3DB9}"/>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38BF39BD-2A24-A886-07F4-6C6546589AD9}"/>
              </a:ext>
            </a:extLst>
          </p:cNvPr>
          <p:cNvSpPr txBox="1"/>
          <p:nvPr/>
        </p:nvSpPr>
        <p:spPr>
          <a:xfrm>
            <a:off x="228600" y="202666"/>
            <a:ext cx="18059400" cy="940450"/>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Scenario 3</a:t>
            </a:r>
          </a:p>
        </p:txBody>
      </p:sp>
      <p:sp>
        <p:nvSpPr>
          <p:cNvPr id="16" name="Freeform 16">
            <a:extLst>
              <a:ext uri="{FF2B5EF4-FFF2-40B4-BE49-F238E27FC236}">
                <a16:creationId xmlns:a16="http://schemas.microsoft.com/office/drawing/2014/main" id="{35C13754-B2B3-D947-8A30-CBB52D70D468}"/>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2644CC5C-9AE2-3BC6-0098-6065FD9CA9BF}"/>
              </a:ext>
            </a:extLst>
          </p:cNvPr>
          <p:cNvSpPr>
            <a:spLocks noGrp="1"/>
          </p:cNvSpPr>
          <p:nvPr>
            <p:ph idx="1"/>
          </p:nvPr>
        </p:nvSpPr>
        <p:spPr>
          <a:xfrm>
            <a:off x="1959454" y="2262013"/>
            <a:ext cx="15181219" cy="7852963"/>
          </a:xfrm>
        </p:spPr>
        <p:txBody>
          <a:bodyPr>
            <a:normAutofit/>
          </a:bodyPr>
          <a:lstStyle/>
          <a:p>
            <a:pPr>
              <a:lnSpc>
                <a:spcPts val="7000"/>
              </a:lnSpc>
            </a:pPr>
            <a:r>
              <a:rPr lang="en-US" sz="5000" b="1" dirty="0">
                <a:latin typeface="Century Gothic" panose="020B0502020202020204" pitchFamily="34" charset="0"/>
                <a:ea typeface="Be Vietnam Ultra-Bold"/>
                <a:cs typeface="Be Vietnam Ultra-Bold"/>
                <a:sym typeface="Be Vietnam Ultra-Bold"/>
              </a:rPr>
              <a:t>Sudden Network Slowdown</a:t>
            </a:r>
          </a:p>
          <a:p>
            <a:pPr>
              <a:lnSpc>
                <a:spcPts val="7000"/>
              </a:lnSpc>
            </a:pPr>
            <a:r>
              <a:rPr lang="en-US" sz="5000" b="1" dirty="0">
                <a:latin typeface="Century Gothic" panose="020B0502020202020204" pitchFamily="34" charset="0"/>
                <a:ea typeface="Be Vietnam Ultra-Bold"/>
                <a:cs typeface="Be Vietnam Ultra-Bold"/>
                <a:sym typeface="Be Vietnam Ultra-Bold"/>
              </a:rPr>
              <a:t>Scenario:</a:t>
            </a:r>
          </a:p>
          <a:p>
            <a:pPr marL="0" indent="0">
              <a:lnSpc>
                <a:spcPts val="7000"/>
              </a:lnSpc>
              <a:buNone/>
            </a:pPr>
            <a:r>
              <a:rPr lang="en-US" sz="5000" b="1" dirty="0">
                <a:solidFill>
                  <a:srgbClr val="1B1C54"/>
                </a:solidFill>
                <a:latin typeface="Be Vietnam Ultra-Bold"/>
                <a:ea typeface="Be Vietnam Ultra-Bold"/>
                <a:cs typeface="Be Vietnam Ultra-Bold"/>
                <a:sym typeface="Be Vietnam Ultra-Bold"/>
              </a:rPr>
              <a:t>Users complain that internet access and internal apps are extremely slow.</a:t>
            </a:r>
          </a:p>
        </p:txBody>
      </p:sp>
    </p:spTree>
    <p:extLst>
      <p:ext uri="{BB962C8B-B14F-4D97-AF65-F5344CB8AC3E}">
        <p14:creationId xmlns:p14="http://schemas.microsoft.com/office/powerpoint/2010/main" val="962359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73073-9A9E-6407-7520-4771E36F086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B5BE62A-D6DD-C515-0AB3-84F80BDF6A64}"/>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9F01CBD5-410B-80B3-C05D-09CE10F2B452}"/>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8A93B2D4-799E-3ADC-B502-AE8E76F5EE02}"/>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32589035-946A-9F92-BD64-A7223D0FB63C}"/>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B24C4F31-D96B-A90D-1F94-90CF953C7B54}"/>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21178DFE-5CA7-60C1-4E30-C5364ACBE13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D6AD7889-CD0E-0747-1BEB-E88AE3223CC5}"/>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F85F6496-0A60-924D-4058-8DBF4D475960}"/>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5BE194E2-D395-41EF-99FA-AD7B3C3E502E}"/>
              </a:ext>
            </a:extLst>
          </p:cNvPr>
          <p:cNvSpPr txBox="1"/>
          <p:nvPr/>
        </p:nvSpPr>
        <p:spPr>
          <a:xfrm>
            <a:off x="228600" y="202666"/>
            <a:ext cx="18059400" cy="940450"/>
          </a:xfrm>
          <a:prstGeom prst="rect">
            <a:avLst/>
          </a:prstGeom>
        </p:spPr>
        <p:txBody>
          <a:bodyPr wrap="square" lIns="0" tIns="0" rIns="0" bIns="0" rtlCol="0" anchor="t">
            <a:spAutoFit/>
          </a:bodyPr>
          <a:lstStyle/>
          <a:p>
            <a:pPr algn="ctr">
              <a:lnSpc>
                <a:spcPts val="7619"/>
              </a:lnSpc>
            </a:pPr>
            <a:r>
              <a:rPr lang="en-US" sz="5999" b="1">
                <a:solidFill>
                  <a:srgbClr val="0E2F5F"/>
                </a:solidFill>
                <a:latin typeface="Akzidenz-Grotesk Heavy"/>
                <a:ea typeface="Akzidenz-Grotesk Heavy"/>
                <a:cs typeface="Akzidenz-Grotesk Heavy"/>
                <a:sym typeface="Akzidenz-Grotesk Heavy"/>
              </a:rPr>
              <a:t>Scenario </a:t>
            </a:r>
            <a:r>
              <a:rPr lang="en-US" sz="5999" b="1" dirty="0">
                <a:solidFill>
                  <a:srgbClr val="0E2F5F"/>
                </a:solidFill>
                <a:latin typeface="Akzidenz-Grotesk Heavy"/>
                <a:ea typeface="Akzidenz-Grotesk Heavy"/>
                <a:cs typeface="Akzidenz-Grotesk Heavy"/>
                <a:sym typeface="Akzidenz-Grotesk Heavy"/>
              </a:rPr>
              <a:t>3</a:t>
            </a:r>
          </a:p>
        </p:txBody>
      </p:sp>
      <p:sp>
        <p:nvSpPr>
          <p:cNvPr id="16" name="Freeform 16">
            <a:extLst>
              <a:ext uri="{FF2B5EF4-FFF2-40B4-BE49-F238E27FC236}">
                <a16:creationId xmlns:a16="http://schemas.microsoft.com/office/drawing/2014/main" id="{B1FD89C9-B823-B308-59C2-D476DD7DC9A2}"/>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1E7C8E28-9B9F-6A8A-EF38-BA15AD4D1931}"/>
              </a:ext>
            </a:extLst>
          </p:cNvPr>
          <p:cNvSpPr>
            <a:spLocks noGrp="1"/>
          </p:cNvSpPr>
          <p:nvPr>
            <p:ph idx="1"/>
          </p:nvPr>
        </p:nvSpPr>
        <p:spPr>
          <a:xfrm>
            <a:off x="1959454" y="2262013"/>
            <a:ext cx="15181219" cy="7852963"/>
          </a:xfrm>
        </p:spPr>
        <p:txBody>
          <a:bodyPr>
            <a:normAutofit/>
          </a:bodyPr>
          <a:lstStyle/>
          <a:p>
            <a:pPr>
              <a:lnSpc>
                <a:spcPts val="7000"/>
              </a:lnSpc>
            </a:pPr>
            <a:r>
              <a:rPr lang="en-US" sz="5000" b="1" dirty="0" err="1">
                <a:latin typeface="Century Gothic" panose="020B0502020202020204" pitchFamily="34" charset="0"/>
                <a:ea typeface="Be Vietnam Ultra-Bold"/>
                <a:cs typeface="Be Vietnam Ultra-Bold"/>
                <a:sym typeface="Be Vietnam Ultra-Bold"/>
              </a:rPr>
              <a:t>SysAdmin</a:t>
            </a:r>
            <a:r>
              <a:rPr lang="en-US" sz="5000" b="1" dirty="0">
                <a:latin typeface="Century Gothic" panose="020B0502020202020204" pitchFamily="34" charset="0"/>
                <a:ea typeface="Be Vietnam Ultra-Bold"/>
                <a:cs typeface="Be Vietnam Ultra-Bold"/>
                <a:sym typeface="Be Vietnam Ultra-Bold"/>
              </a:rPr>
              <a:t> Role:</a:t>
            </a:r>
          </a:p>
          <a:p>
            <a:pPr marL="1079578" lvl="1" indent="-539789">
              <a:lnSpc>
                <a:spcPts val="7000"/>
              </a:lnSpc>
              <a:buFont typeface="Arial"/>
              <a:buChar char="•"/>
            </a:pPr>
            <a:r>
              <a:rPr lang="en-US" sz="5400" b="1" dirty="0">
                <a:latin typeface="Century Gothic" panose="020B0502020202020204" pitchFamily="34" charset="0"/>
                <a:ea typeface="Be Vietnam Ultra-Bold"/>
                <a:cs typeface="Be Vietnam Ultra-Bold"/>
                <a:sym typeface="Be Vietnam Ultra-Bold"/>
              </a:rPr>
              <a:t>Monitor network traffic to identify bandwidth hogs (e.g., large file downloads, streaming).</a:t>
            </a:r>
          </a:p>
          <a:p>
            <a:pPr marL="1079578" lvl="1" indent="-539789">
              <a:lnSpc>
                <a:spcPts val="7000"/>
              </a:lnSpc>
              <a:buFont typeface="Arial"/>
              <a:buChar char="•"/>
            </a:pPr>
            <a:r>
              <a:rPr lang="en-US" sz="5400" b="1" dirty="0">
                <a:latin typeface="Century Gothic" panose="020B0502020202020204" pitchFamily="34" charset="0"/>
                <a:ea typeface="Be Vietnam Ultra-Bold"/>
                <a:cs typeface="Be Vietnam Ultra-Bold"/>
                <a:sym typeface="Be Vietnam Ultra-Bold"/>
              </a:rPr>
              <a:t>Throttle non-essential traffic or block suspicious IPs.</a:t>
            </a:r>
          </a:p>
          <a:p>
            <a:pPr marL="1079578" lvl="1" indent="-539789">
              <a:lnSpc>
                <a:spcPts val="7000"/>
              </a:lnSpc>
              <a:buFont typeface="Arial"/>
              <a:buChar char="•"/>
            </a:pPr>
            <a:r>
              <a:rPr lang="en-US" sz="5400" b="1" dirty="0">
                <a:latin typeface="Century Gothic" panose="020B0502020202020204" pitchFamily="34" charset="0"/>
                <a:ea typeface="Be Vietnam Ultra-Bold"/>
                <a:cs typeface="Be Vietnam Ultra-Bold"/>
                <a:sym typeface="Be Vietnam Ultra-Bold"/>
              </a:rPr>
              <a:t>Optimize network routing or replace faulty switches.</a:t>
            </a:r>
          </a:p>
        </p:txBody>
      </p:sp>
    </p:spTree>
    <p:extLst>
      <p:ext uri="{BB962C8B-B14F-4D97-AF65-F5344CB8AC3E}">
        <p14:creationId xmlns:p14="http://schemas.microsoft.com/office/powerpoint/2010/main" val="27132000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30419-E687-A434-A1C2-EBA13D24C81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8D22F9A-F408-5385-BE17-5E2F7541A98D}"/>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D8ED0C4C-00C4-0FEF-1C82-6AA62BDE1070}"/>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80F65065-129F-C8EC-86B7-B21F58AB846F}"/>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3EFE6951-437C-B333-430F-3571A41D88F9}"/>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8445AD30-1214-9DE6-81DC-C1A25538EA37}"/>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24B28A87-A392-2F14-EFE9-766BFFAE2AA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C8010464-AA4A-3BDF-07A4-D3862CC0BC25}"/>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84C56C88-EED8-CBF1-AD36-05A2A6F6D232}"/>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BCA5DB74-3ACE-4FA5-8074-B135B4756DC8}"/>
              </a:ext>
            </a:extLst>
          </p:cNvPr>
          <p:cNvSpPr txBox="1"/>
          <p:nvPr/>
        </p:nvSpPr>
        <p:spPr>
          <a:xfrm>
            <a:off x="228600" y="202666"/>
            <a:ext cx="18059400" cy="940450"/>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Scenario 4</a:t>
            </a:r>
          </a:p>
        </p:txBody>
      </p:sp>
      <p:sp>
        <p:nvSpPr>
          <p:cNvPr id="16" name="Freeform 16">
            <a:extLst>
              <a:ext uri="{FF2B5EF4-FFF2-40B4-BE49-F238E27FC236}">
                <a16:creationId xmlns:a16="http://schemas.microsoft.com/office/drawing/2014/main" id="{6CB65B6B-3CDB-0BBF-9DFE-8815F6F50924}"/>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BCDF3968-91EE-C39F-8EBD-14A5118D1A79}"/>
              </a:ext>
            </a:extLst>
          </p:cNvPr>
          <p:cNvSpPr>
            <a:spLocks noGrp="1"/>
          </p:cNvSpPr>
          <p:nvPr>
            <p:ph idx="1"/>
          </p:nvPr>
        </p:nvSpPr>
        <p:spPr>
          <a:xfrm>
            <a:off x="1959454" y="2262013"/>
            <a:ext cx="15181219" cy="7852963"/>
          </a:xfrm>
        </p:spPr>
        <p:txBody>
          <a:bodyPr>
            <a:normAutofit/>
          </a:bodyPr>
          <a:lstStyle/>
          <a:p>
            <a:pPr>
              <a:lnSpc>
                <a:spcPts val="7000"/>
              </a:lnSpc>
            </a:pPr>
            <a:r>
              <a:rPr lang="en-US" sz="5000" b="1" dirty="0">
                <a:latin typeface="Century Gothic" panose="020B0502020202020204" pitchFamily="34" charset="0"/>
                <a:ea typeface="Be Vietnam Ultra-Bold"/>
                <a:cs typeface="Be Vietnam Ultra-Bold"/>
                <a:sym typeface="Be Vietnam Ultra-Bold"/>
              </a:rPr>
              <a:t>Employee Onboarding &amp; Offboarding </a:t>
            </a:r>
          </a:p>
          <a:p>
            <a:pPr>
              <a:lnSpc>
                <a:spcPts val="7000"/>
              </a:lnSpc>
            </a:pPr>
            <a:r>
              <a:rPr lang="en-US" sz="5000" b="1" dirty="0">
                <a:latin typeface="Century Gothic" panose="020B0502020202020204" pitchFamily="34" charset="0"/>
                <a:ea typeface="Be Vietnam Ultra-Bold"/>
                <a:cs typeface="Be Vietnam Ultra-Bold"/>
                <a:sym typeface="Be Vietnam Ultra-Bold"/>
              </a:rPr>
              <a:t>Scenario:</a:t>
            </a:r>
          </a:p>
          <a:p>
            <a:pPr marL="0" indent="0">
              <a:lnSpc>
                <a:spcPts val="7000"/>
              </a:lnSpc>
              <a:buNone/>
            </a:pPr>
            <a:r>
              <a:rPr lang="en-US" sz="5000" b="1" dirty="0">
                <a:latin typeface="Century Gothic" panose="020B0502020202020204" pitchFamily="34" charset="0"/>
                <a:ea typeface="Be Vietnam Ultra-Bold"/>
                <a:cs typeface="Be Vietnam Ultra-Bold"/>
                <a:sym typeface="Be Vietnam Ultra-Bold"/>
              </a:rPr>
              <a:t>A new employee joins, and another resigns.</a:t>
            </a:r>
          </a:p>
          <a:p>
            <a:pPr marL="0" indent="0">
              <a:lnSpc>
                <a:spcPts val="7000"/>
              </a:lnSpc>
              <a:buNone/>
            </a:pPr>
            <a:endParaRPr lang="en-US" sz="5000" b="1" dirty="0">
              <a:latin typeface="Century Gothic" panose="020B0502020202020204" pitchFamily="34" charset="0"/>
              <a:ea typeface="Be Vietnam Ultra-Bold"/>
              <a:cs typeface="Be Vietnam Ultra-Bold"/>
              <a:sym typeface="Be Vietnam Ultra-Bold"/>
            </a:endParaRPr>
          </a:p>
        </p:txBody>
      </p:sp>
    </p:spTree>
    <p:extLst>
      <p:ext uri="{BB962C8B-B14F-4D97-AF65-F5344CB8AC3E}">
        <p14:creationId xmlns:p14="http://schemas.microsoft.com/office/powerpoint/2010/main" val="33234976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364B3-4DC7-36BD-8D64-D9EBBC9B725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3F3F6DE-3026-FA30-FCA7-899933D7360B}"/>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B1A6BA7F-02EA-5210-B536-D406EF42B563}"/>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722EF534-DB5B-D8CB-3F8B-A467C8770481}"/>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0ADD19CE-BEE3-0816-9F4B-6AB5A330CB88}"/>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331A347D-3EFD-CDE3-5477-EEAD831873E3}"/>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639EE69F-1BFD-FBD3-84EB-EA85E358BAB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23916223-F755-849C-84F7-7F60C141E912}"/>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4026E70D-11D9-A5C1-27AF-4E737FB0A1B7}"/>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1949AB6E-3B01-A2B2-E7D9-594B54C0014D}"/>
              </a:ext>
            </a:extLst>
          </p:cNvPr>
          <p:cNvSpPr txBox="1"/>
          <p:nvPr/>
        </p:nvSpPr>
        <p:spPr>
          <a:xfrm>
            <a:off x="228600" y="202666"/>
            <a:ext cx="18059400" cy="940450"/>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Scenario 4</a:t>
            </a:r>
          </a:p>
        </p:txBody>
      </p:sp>
      <p:sp>
        <p:nvSpPr>
          <p:cNvPr id="16" name="Freeform 16">
            <a:extLst>
              <a:ext uri="{FF2B5EF4-FFF2-40B4-BE49-F238E27FC236}">
                <a16:creationId xmlns:a16="http://schemas.microsoft.com/office/drawing/2014/main" id="{4444B03C-FA52-BB27-18DD-EA7A34AC5083}"/>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1C10A848-88EF-80AC-B71F-8E40A562F334}"/>
              </a:ext>
            </a:extLst>
          </p:cNvPr>
          <p:cNvSpPr>
            <a:spLocks noGrp="1"/>
          </p:cNvSpPr>
          <p:nvPr>
            <p:ph idx="1"/>
          </p:nvPr>
        </p:nvSpPr>
        <p:spPr>
          <a:xfrm>
            <a:off x="1959454" y="2262013"/>
            <a:ext cx="15181219" cy="7852963"/>
          </a:xfrm>
        </p:spPr>
        <p:txBody>
          <a:bodyPr>
            <a:normAutofit/>
          </a:bodyPr>
          <a:lstStyle/>
          <a:p>
            <a:pPr>
              <a:lnSpc>
                <a:spcPts val="7000"/>
              </a:lnSpc>
            </a:pPr>
            <a:r>
              <a:rPr lang="en-US" sz="5000" b="1" dirty="0" err="1">
                <a:latin typeface="Century Gothic" panose="020B0502020202020204" pitchFamily="34" charset="0"/>
                <a:ea typeface="Be Vietnam Ultra-Bold"/>
                <a:cs typeface="Be Vietnam Ultra-Bold"/>
                <a:sym typeface="Be Vietnam Ultra-Bold"/>
              </a:rPr>
              <a:t>SysAdmin</a:t>
            </a:r>
            <a:r>
              <a:rPr lang="en-US" sz="5000" b="1" dirty="0">
                <a:latin typeface="Century Gothic" panose="020B0502020202020204" pitchFamily="34" charset="0"/>
                <a:ea typeface="Be Vietnam Ultra-Bold"/>
                <a:cs typeface="Be Vietnam Ultra-Bold"/>
                <a:sym typeface="Be Vietnam Ultra-Bold"/>
              </a:rPr>
              <a:t> Role:</a:t>
            </a:r>
          </a:p>
          <a:p>
            <a:pPr marL="1079578" lvl="1" indent="-539789">
              <a:lnSpc>
                <a:spcPts val="7000"/>
              </a:lnSpc>
              <a:buFont typeface="Arial"/>
              <a:buChar char="•"/>
            </a:pPr>
            <a:r>
              <a:rPr lang="en-US" sz="5400" b="1" dirty="0">
                <a:latin typeface="Century Gothic" panose="020B0502020202020204" pitchFamily="34" charset="0"/>
                <a:ea typeface="Be Vietnam Ultra-Bold"/>
                <a:cs typeface="Be Vietnam Ultra-Bold"/>
                <a:sym typeface="Be Vietnam Ultra-Bold"/>
              </a:rPr>
              <a:t>Set up user accounts, email, and permissions for the new hire.</a:t>
            </a:r>
          </a:p>
          <a:p>
            <a:pPr marL="1079578" lvl="1" indent="-539789">
              <a:lnSpc>
                <a:spcPts val="7000"/>
              </a:lnSpc>
              <a:buFont typeface="Arial"/>
              <a:buChar char="•"/>
            </a:pPr>
            <a:r>
              <a:rPr lang="en-US" sz="5400" b="1" dirty="0">
                <a:latin typeface="Century Gothic" panose="020B0502020202020204" pitchFamily="34" charset="0"/>
                <a:ea typeface="Be Vietnam Ultra-Bold"/>
                <a:cs typeface="Be Vietnam Ultra-Bold"/>
                <a:sym typeface="Be Vietnam Ultra-Bold"/>
              </a:rPr>
              <a:t>Securely remove departing employee’s access to systems.</a:t>
            </a:r>
          </a:p>
          <a:p>
            <a:pPr marL="1079578" lvl="1" indent="-539789">
              <a:lnSpc>
                <a:spcPts val="7000"/>
              </a:lnSpc>
              <a:buFont typeface="Arial"/>
              <a:buChar char="•"/>
            </a:pPr>
            <a:r>
              <a:rPr lang="en-US" sz="5400" b="1" dirty="0">
                <a:latin typeface="Century Gothic" panose="020B0502020202020204" pitchFamily="34" charset="0"/>
                <a:ea typeface="Be Vietnam Ultra-Bold"/>
                <a:cs typeface="Be Vietnam Ultra-Bold"/>
                <a:sym typeface="Be Vietnam Ultra-Bold"/>
              </a:rPr>
              <a:t>Transfer important files and archive data.</a:t>
            </a:r>
          </a:p>
        </p:txBody>
      </p:sp>
    </p:spTree>
    <p:extLst>
      <p:ext uri="{BB962C8B-B14F-4D97-AF65-F5344CB8AC3E}">
        <p14:creationId xmlns:p14="http://schemas.microsoft.com/office/powerpoint/2010/main" val="36834744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5AA3C-98E0-C78B-4292-4AAC6441A0D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F6615E3-FF43-7ED8-2515-48C8ED50B60C}"/>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357B3829-6802-A0EA-A5B8-AC72CCC038D0}"/>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34207595-17FD-D6E9-30D9-BF87AC1A870A}"/>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CCAA84DB-3347-B7B0-E30F-4E115723186D}"/>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AF9B91CC-BC6D-8A2D-91D5-42D0FCBADE0A}"/>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6C6ACA82-4852-4B61-A603-84BA96FB322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91CD2E57-CA74-20E8-5CE1-9CFA77BF2915}"/>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9D750BFD-8002-A04A-C299-FA2317199221}"/>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7373E8F4-EC83-A4DF-95A5-B4F5FAF2A4EF}"/>
              </a:ext>
            </a:extLst>
          </p:cNvPr>
          <p:cNvSpPr txBox="1"/>
          <p:nvPr/>
        </p:nvSpPr>
        <p:spPr>
          <a:xfrm>
            <a:off x="228600" y="202666"/>
            <a:ext cx="18059400" cy="940450"/>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Scenario 5</a:t>
            </a:r>
          </a:p>
        </p:txBody>
      </p:sp>
      <p:sp>
        <p:nvSpPr>
          <p:cNvPr id="16" name="Freeform 16">
            <a:extLst>
              <a:ext uri="{FF2B5EF4-FFF2-40B4-BE49-F238E27FC236}">
                <a16:creationId xmlns:a16="http://schemas.microsoft.com/office/drawing/2014/main" id="{0A333FE4-C7AC-CF89-E978-55183E0364FA}"/>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FAE499E3-C31B-350C-EE2F-6524B6EDF5E8}"/>
              </a:ext>
            </a:extLst>
          </p:cNvPr>
          <p:cNvSpPr>
            <a:spLocks noGrp="1"/>
          </p:cNvSpPr>
          <p:nvPr>
            <p:ph idx="1"/>
          </p:nvPr>
        </p:nvSpPr>
        <p:spPr>
          <a:xfrm>
            <a:off x="1959454" y="2262013"/>
            <a:ext cx="15181219" cy="7852963"/>
          </a:xfrm>
        </p:spPr>
        <p:txBody>
          <a:bodyPr>
            <a:normAutofit/>
          </a:bodyPr>
          <a:lstStyle/>
          <a:p>
            <a:pPr>
              <a:lnSpc>
                <a:spcPts val="7000"/>
              </a:lnSpc>
            </a:pPr>
            <a:r>
              <a:rPr lang="en-US" sz="5000" b="1" dirty="0">
                <a:latin typeface="Century Gothic" panose="020B0502020202020204" pitchFamily="34" charset="0"/>
              </a:rPr>
              <a:t>The Software Rollout</a:t>
            </a:r>
          </a:p>
          <a:p>
            <a:pPr>
              <a:lnSpc>
                <a:spcPts val="7000"/>
              </a:lnSpc>
            </a:pPr>
            <a:r>
              <a:rPr lang="en-US" sz="5000" b="1" dirty="0">
                <a:latin typeface="Century Gothic" panose="020B0502020202020204" pitchFamily="34" charset="0"/>
                <a:ea typeface="Be Vietnam Ultra-Bold"/>
                <a:cs typeface="Be Vietnam Ultra-Bold"/>
                <a:sym typeface="Be Vietnam Ultra-Bold"/>
              </a:rPr>
              <a:t>Scenario:</a:t>
            </a:r>
          </a:p>
          <a:p>
            <a:pPr marL="0" indent="0">
              <a:lnSpc>
                <a:spcPts val="7000"/>
              </a:lnSpc>
              <a:buNone/>
            </a:pPr>
            <a:r>
              <a:rPr lang="en-US" sz="5000" b="1" dirty="0">
                <a:latin typeface="Century Gothic" panose="020B0502020202020204" pitchFamily="34" charset="0"/>
              </a:rPr>
              <a:t>Your company is upgrading to a new operating system across all departments</a:t>
            </a:r>
            <a:endParaRPr lang="en-US" sz="5000" b="1" dirty="0">
              <a:latin typeface="Century Gothic" panose="020B0502020202020204" pitchFamily="34" charset="0"/>
              <a:ea typeface="Be Vietnam Ultra-Bold"/>
              <a:cs typeface="Be Vietnam Ultra-Bold"/>
              <a:sym typeface="Be Vietnam Ultra-Bold"/>
            </a:endParaRPr>
          </a:p>
        </p:txBody>
      </p:sp>
    </p:spTree>
    <p:extLst>
      <p:ext uri="{BB962C8B-B14F-4D97-AF65-F5344CB8AC3E}">
        <p14:creationId xmlns:p14="http://schemas.microsoft.com/office/powerpoint/2010/main" val="23438942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BEEC3-625D-2D54-D4DE-49957704D0F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D7ED0BF-0BF0-15E7-0620-9E4C53DA4E6B}"/>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74919B5E-E624-50B0-1FF3-59FCFED12D9B}"/>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7C7887B8-CF6A-B3AD-4CB4-983C1184F963}"/>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E215C515-A21A-F838-6954-3EA242332515}"/>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4FBB9AAA-48E5-1469-7C34-97A4B1E70A53}"/>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AF52E9EA-D2F6-9F58-71C8-1006C86D1A9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765B440A-F5A7-E231-88F0-381182AC5F6C}"/>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FAF9D84C-B6E8-A25A-DF98-42EFC2D33E97}"/>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A11CD6DE-8BCB-974B-5DC3-5037FEF14921}"/>
              </a:ext>
            </a:extLst>
          </p:cNvPr>
          <p:cNvSpPr txBox="1"/>
          <p:nvPr/>
        </p:nvSpPr>
        <p:spPr>
          <a:xfrm>
            <a:off x="228600" y="202666"/>
            <a:ext cx="18059400" cy="940450"/>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Scenario 5</a:t>
            </a:r>
          </a:p>
        </p:txBody>
      </p:sp>
      <p:sp>
        <p:nvSpPr>
          <p:cNvPr id="16" name="Freeform 16">
            <a:extLst>
              <a:ext uri="{FF2B5EF4-FFF2-40B4-BE49-F238E27FC236}">
                <a16:creationId xmlns:a16="http://schemas.microsoft.com/office/drawing/2014/main" id="{BFF72C5C-8E66-E2FE-4411-25B42401D0AB}"/>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482ED866-4E56-5A38-D5A8-04CF3CA33E82}"/>
              </a:ext>
            </a:extLst>
          </p:cNvPr>
          <p:cNvSpPr>
            <a:spLocks noGrp="1"/>
          </p:cNvSpPr>
          <p:nvPr>
            <p:ph idx="1"/>
          </p:nvPr>
        </p:nvSpPr>
        <p:spPr>
          <a:xfrm>
            <a:off x="1785197" y="1502415"/>
            <a:ext cx="15207403" cy="8441685"/>
          </a:xfrm>
        </p:spPr>
        <p:txBody>
          <a:bodyPr>
            <a:noAutofit/>
          </a:bodyPr>
          <a:lstStyle/>
          <a:p>
            <a:pPr marL="0" indent="0">
              <a:lnSpc>
                <a:spcPts val="7000"/>
              </a:lnSpc>
              <a:buNone/>
            </a:pPr>
            <a:r>
              <a:rPr lang="en-US" sz="4800" b="1" dirty="0" err="1">
                <a:latin typeface="Century Gothic" panose="020B0502020202020204" pitchFamily="34" charset="0"/>
                <a:ea typeface="Be Vietnam Ultra-Bold"/>
                <a:cs typeface="Be Vietnam Ultra-Bold"/>
                <a:sym typeface="Be Vietnam Ultra-Bold"/>
              </a:rPr>
              <a:t>SysAdmin</a:t>
            </a:r>
            <a:r>
              <a:rPr lang="en-US" sz="4800" b="1" dirty="0">
                <a:latin typeface="Century Gothic" panose="020B0502020202020204" pitchFamily="34" charset="0"/>
                <a:ea typeface="Be Vietnam Ultra-Bold"/>
                <a:cs typeface="Be Vietnam Ultra-Bold"/>
                <a:sym typeface="Be Vietnam Ultra-Bold"/>
              </a:rPr>
              <a:t> Role:</a:t>
            </a:r>
          </a:p>
          <a:p>
            <a:pPr fontAlgn="base"/>
            <a:r>
              <a:rPr lang="en-US" sz="4800" b="1" dirty="0">
                <a:latin typeface="Century Gothic" panose="020B0502020202020204" pitchFamily="34" charset="0"/>
              </a:rPr>
              <a:t>Create a detailed rollout plan with timeline and milestones</a:t>
            </a:r>
          </a:p>
          <a:p>
            <a:pPr fontAlgn="base"/>
            <a:r>
              <a:rPr lang="en-US" sz="4800" b="1" dirty="0">
                <a:latin typeface="Century Gothic" panose="020B0502020202020204" pitchFamily="34" charset="0"/>
              </a:rPr>
              <a:t>Test the new OS in a controlled environment</a:t>
            </a:r>
          </a:p>
          <a:p>
            <a:pPr fontAlgn="base"/>
            <a:r>
              <a:rPr lang="en-US" sz="4800" b="1" dirty="0">
                <a:latin typeface="Century Gothic" panose="020B0502020202020204" pitchFamily="34" charset="0"/>
              </a:rPr>
              <a:t>Develop a comprehensive training program for employees</a:t>
            </a:r>
          </a:p>
          <a:p>
            <a:pPr fontAlgn="base"/>
            <a:r>
              <a:rPr lang="en-US" sz="4800" b="1" dirty="0">
                <a:latin typeface="Century Gothic" panose="020B0502020202020204" pitchFamily="34" charset="0"/>
              </a:rPr>
              <a:t>Establish a dedicated support team for the transition</a:t>
            </a:r>
          </a:p>
          <a:p>
            <a:pPr fontAlgn="base"/>
            <a:r>
              <a:rPr lang="en-US" sz="4800" b="1" dirty="0">
                <a:latin typeface="Century Gothic" panose="020B0502020202020204" pitchFamily="34" charset="0"/>
              </a:rPr>
              <a:t>Implement a phased rollout to minimize disruption</a:t>
            </a:r>
          </a:p>
        </p:txBody>
      </p:sp>
    </p:spTree>
    <p:extLst>
      <p:ext uri="{BB962C8B-B14F-4D97-AF65-F5344CB8AC3E}">
        <p14:creationId xmlns:p14="http://schemas.microsoft.com/office/powerpoint/2010/main" val="11250377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AA0C1-4710-D6AD-F783-1CFB9BF3776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C797E7B-0BCD-4FDF-C1AD-2707A75985BF}"/>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9977CC2C-EE50-C37C-0101-459A6BE3951E}"/>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D4C12817-62AC-BF59-C00C-D4D75EF3D562}"/>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D9984227-C18C-E965-1051-101A4BEBD646}"/>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8DC7500A-5993-9E3B-FAFA-147E33A7F139}"/>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359BC4E0-1DE0-78F9-51BA-1B4B171ADE1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3ADC00DB-57EA-BAE6-6B41-0DCFD9812BDB}"/>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5BDF8475-76C8-56FE-3F33-8F0F43EF37F0}"/>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C603F262-A68B-4F14-5BB3-9C253823152C}"/>
              </a:ext>
            </a:extLst>
          </p:cNvPr>
          <p:cNvSpPr txBox="1"/>
          <p:nvPr/>
        </p:nvSpPr>
        <p:spPr>
          <a:xfrm>
            <a:off x="228600" y="202666"/>
            <a:ext cx="18059400" cy="940450"/>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Scenario 6</a:t>
            </a:r>
          </a:p>
        </p:txBody>
      </p:sp>
      <p:sp>
        <p:nvSpPr>
          <p:cNvPr id="16" name="Freeform 16">
            <a:extLst>
              <a:ext uri="{FF2B5EF4-FFF2-40B4-BE49-F238E27FC236}">
                <a16:creationId xmlns:a16="http://schemas.microsoft.com/office/drawing/2014/main" id="{5FE081BF-E0A3-9BF5-9988-3BD8FF14B05B}"/>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2751837E-D359-E052-76C5-2DDE9BA8B2D4}"/>
              </a:ext>
            </a:extLst>
          </p:cNvPr>
          <p:cNvSpPr>
            <a:spLocks noGrp="1"/>
          </p:cNvSpPr>
          <p:nvPr>
            <p:ph idx="1"/>
          </p:nvPr>
        </p:nvSpPr>
        <p:spPr>
          <a:xfrm>
            <a:off x="1959454" y="2262013"/>
            <a:ext cx="15181219" cy="7852963"/>
          </a:xfrm>
        </p:spPr>
        <p:txBody>
          <a:bodyPr>
            <a:normAutofit/>
          </a:bodyPr>
          <a:lstStyle/>
          <a:p>
            <a:pPr>
              <a:lnSpc>
                <a:spcPts val="7000"/>
              </a:lnSpc>
            </a:pPr>
            <a:r>
              <a:rPr lang="en-US" sz="5000" b="1" dirty="0">
                <a:latin typeface="Century Gothic" panose="020B0502020202020204" pitchFamily="34" charset="0"/>
              </a:rPr>
              <a:t>The Natural Disaster</a:t>
            </a:r>
          </a:p>
          <a:p>
            <a:pPr>
              <a:lnSpc>
                <a:spcPts val="7000"/>
              </a:lnSpc>
            </a:pPr>
            <a:r>
              <a:rPr lang="en-US" sz="5000" b="1" dirty="0">
                <a:latin typeface="Century Gothic" panose="020B0502020202020204" pitchFamily="34" charset="0"/>
                <a:ea typeface="Be Vietnam Ultra-Bold"/>
                <a:cs typeface="Be Vietnam Ultra-Bold"/>
                <a:sym typeface="Be Vietnam Ultra-Bold"/>
              </a:rPr>
              <a:t>Scenario:</a:t>
            </a:r>
          </a:p>
          <a:p>
            <a:pPr marL="0" indent="0" fontAlgn="base">
              <a:buNone/>
            </a:pPr>
            <a:r>
              <a:rPr lang="en-US" sz="5000" b="1" dirty="0">
                <a:latin typeface="Century Gothic" panose="020B0502020202020204" pitchFamily="34" charset="0"/>
              </a:rPr>
              <a:t>A Typhoon is approaching. You have 24 hours to prepare IT systems</a:t>
            </a:r>
            <a:r>
              <a:rPr lang="en-US" sz="5000" dirty="0">
                <a:latin typeface="Century Gothic" panose="020B0502020202020204" pitchFamily="34" charset="0"/>
              </a:rPr>
              <a:t>.</a:t>
            </a:r>
          </a:p>
        </p:txBody>
      </p:sp>
    </p:spTree>
    <p:extLst>
      <p:ext uri="{BB962C8B-B14F-4D97-AF65-F5344CB8AC3E}">
        <p14:creationId xmlns:p14="http://schemas.microsoft.com/office/powerpoint/2010/main" val="14090227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B21F7-A89A-30A0-6221-5C344AD29DB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29F58D7-2F18-3C9F-5705-078B27C4AB12}"/>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D6371D41-E302-6E98-F964-DEF0EA0A396E}"/>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CC80FE32-DA9D-71A3-6791-3346D16ABF52}"/>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7166E74E-A6CB-BABD-F03C-3F9FC498ECA5}"/>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076202B2-A0A8-B7E1-40D4-D09001863242}"/>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60EB53BA-4EFE-782A-9876-A94505AD99A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D03036C1-15ED-8629-B3C4-113FAADC147B}"/>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216B448F-24BC-7052-976B-AC638C9FCCE2}"/>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D803D11E-8A7B-9F9C-90AA-B774F4EC6076}"/>
              </a:ext>
            </a:extLst>
          </p:cNvPr>
          <p:cNvSpPr txBox="1"/>
          <p:nvPr/>
        </p:nvSpPr>
        <p:spPr>
          <a:xfrm>
            <a:off x="228600" y="202666"/>
            <a:ext cx="18059400" cy="940450"/>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Scenario 6</a:t>
            </a:r>
          </a:p>
        </p:txBody>
      </p:sp>
      <p:sp>
        <p:nvSpPr>
          <p:cNvPr id="16" name="Freeform 16">
            <a:extLst>
              <a:ext uri="{FF2B5EF4-FFF2-40B4-BE49-F238E27FC236}">
                <a16:creationId xmlns:a16="http://schemas.microsoft.com/office/drawing/2014/main" id="{FA3C5B3B-9007-77B9-9CC7-D88EA7AB49FB}"/>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BDDBE014-57AA-8BB0-AB81-5A1001C6F1CA}"/>
              </a:ext>
            </a:extLst>
          </p:cNvPr>
          <p:cNvSpPr>
            <a:spLocks noGrp="1"/>
          </p:cNvSpPr>
          <p:nvPr>
            <p:ph idx="1"/>
          </p:nvPr>
        </p:nvSpPr>
        <p:spPr>
          <a:xfrm>
            <a:off x="1785197" y="1502415"/>
            <a:ext cx="15207403" cy="8441685"/>
          </a:xfrm>
        </p:spPr>
        <p:txBody>
          <a:bodyPr>
            <a:noAutofit/>
          </a:bodyPr>
          <a:lstStyle/>
          <a:p>
            <a:pPr marL="0" indent="0">
              <a:lnSpc>
                <a:spcPts val="7000"/>
              </a:lnSpc>
              <a:buNone/>
            </a:pPr>
            <a:r>
              <a:rPr lang="en-US" sz="4800" b="1" dirty="0" err="1">
                <a:latin typeface="Century Gothic" panose="020B0502020202020204" pitchFamily="34" charset="0"/>
                <a:ea typeface="Be Vietnam Ultra-Bold"/>
                <a:cs typeface="Be Vietnam Ultra-Bold"/>
                <a:sym typeface="Be Vietnam Ultra-Bold"/>
              </a:rPr>
              <a:t>SysAdmin</a:t>
            </a:r>
            <a:r>
              <a:rPr lang="en-US" sz="4800" b="1" dirty="0">
                <a:latin typeface="Century Gothic" panose="020B0502020202020204" pitchFamily="34" charset="0"/>
                <a:ea typeface="Be Vietnam Ultra-Bold"/>
                <a:cs typeface="Be Vietnam Ultra-Bold"/>
                <a:sym typeface="Be Vietnam Ultra-Bold"/>
              </a:rPr>
              <a:t> Role:</a:t>
            </a:r>
          </a:p>
          <a:p>
            <a:pPr fontAlgn="base"/>
            <a:r>
              <a:rPr lang="en-US" sz="5000" b="1" dirty="0">
                <a:latin typeface="Century Gothic" panose="020B0502020202020204" pitchFamily="34" charset="0"/>
              </a:rPr>
              <a:t>Verify and test offsite backups</a:t>
            </a:r>
          </a:p>
          <a:p>
            <a:pPr fontAlgn="base"/>
            <a:r>
              <a:rPr lang="en-US" sz="5000" b="1" dirty="0">
                <a:latin typeface="Century Gothic" panose="020B0502020202020204" pitchFamily="34" charset="0"/>
              </a:rPr>
              <a:t>Ensure remote access systems are functional</a:t>
            </a:r>
          </a:p>
          <a:p>
            <a:pPr fontAlgn="base"/>
            <a:r>
              <a:rPr lang="en-US" sz="5000" b="1" dirty="0">
                <a:latin typeface="Century Gothic" panose="020B0502020202020204" pitchFamily="34" charset="0"/>
              </a:rPr>
              <a:t>Secure physical hardware and infrastructure</a:t>
            </a:r>
          </a:p>
          <a:p>
            <a:pPr fontAlgn="base"/>
            <a:r>
              <a:rPr lang="en-US" sz="5000" b="1" dirty="0">
                <a:latin typeface="Century Gothic" panose="020B0502020202020204" pitchFamily="34" charset="0"/>
              </a:rPr>
              <a:t>Update and distribute emergency contact information</a:t>
            </a:r>
          </a:p>
        </p:txBody>
      </p:sp>
    </p:spTree>
    <p:extLst>
      <p:ext uri="{BB962C8B-B14F-4D97-AF65-F5344CB8AC3E}">
        <p14:creationId xmlns:p14="http://schemas.microsoft.com/office/powerpoint/2010/main" val="11494733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83FE8-17ED-8D17-22AD-EB3BCF50F28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08F237B-DCAB-5BAD-24DE-40151E97643E}"/>
              </a:ext>
            </a:extLst>
          </p:cNvPr>
          <p:cNvSpPr/>
          <p:nvPr/>
        </p:nvSpPr>
        <p:spPr>
          <a:xfrm>
            <a:off x="13469396" y="2719229"/>
            <a:ext cx="2544433" cy="2544433"/>
          </a:xfrm>
          <a:custGeom>
            <a:avLst/>
            <a:gdLst/>
            <a:ahLst/>
            <a:cxnLst/>
            <a:rect l="l" t="t" r="r" b="b"/>
            <a:pathLst>
              <a:path w="2544433" h="2544433">
                <a:moveTo>
                  <a:pt x="0" y="0"/>
                </a:moveTo>
                <a:lnTo>
                  <a:pt x="2544432" y="0"/>
                </a:lnTo>
                <a:lnTo>
                  <a:pt x="2544432" y="2544433"/>
                </a:lnTo>
                <a:lnTo>
                  <a:pt x="0" y="25444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5" name="Group 5">
            <a:extLst>
              <a:ext uri="{FF2B5EF4-FFF2-40B4-BE49-F238E27FC236}">
                <a16:creationId xmlns:a16="http://schemas.microsoft.com/office/drawing/2014/main" id="{AE4DECE1-46D9-B2CF-97F5-C340B7C95607}"/>
              </a:ext>
            </a:extLst>
          </p:cNvPr>
          <p:cNvGrpSpPr/>
          <p:nvPr/>
        </p:nvGrpSpPr>
        <p:grpSpPr>
          <a:xfrm>
            <a:off x="-1136521" y="3307946"/>
            <a:ext cx="2594369" cy="4588246"/>
            <a:chOff x="0" y="0"/>
            <a:chExt cx="683291" cy="1208427"/>
          </a:xfrm>
        </p:grpSpPr>
        <p:sp>
          <p:nvSpPr>
            <p:cNvPr id="6" name="Freeform 6">
              <a:extLst>
                <a:ext uri="{FF2B5EF4-FFF2-40B4-BE49-F238E27FC236}">
                  <a16:creationId xmlns:a16="http://schemas.microsoft.com/office/drawing/2014/main" id="{09C55B84-3A19-7286-AA95-834212FB5DB4}"/>
                </a:ext>
              </a:extLst>
            </p:cNvPr>
            <p:cNvSpPr/>
            <p:nvPr/>
          </p:nvSpPr>
          <p:spPr>
            <a:xfrm>
              <a:off x="0" y="0"/>
              <a:ext cx="683291" cy="1208427"/>
            </a:xfrm>
            <a:custGeom>
              <a:avLst/>
              <a:gdLst/>
              <a:ahLst/>
              <a:cxnLst/>
              <a:rect l="l" t="t" r="r" b="b"/>
              <a:pathLst>
                <a:path w="683291" h="1208427">
                  <a:moveTo>
                    <a:pt x="152190" y="0"/>
                  </a:moveTo>
                  <a:lnTo>
                    <a:pt x="531100" y="0"/>
                  </a:lnTo>
                  <a:cubicBezTo>
                    <a:pt x="571464" y="0"/>
                    <a:pt x="610174" y="16034"/>
                    <a:pt x="638715" y="44576"/>
                  </a:cubicBezTo>
                  <a:cubicBezTo>
                    <a:pt x="667256" y="73117"/>
                    <a:pt x="683291" y="111827"/>
                    <a:pt x="683291" y="152190"/>
                  </a:cubicBezTo>
                  <a:lnTo>
                    <a:pt x="683291" y="1056237"/>
                  </a:lnTo>
                  <a:cubicBezTo>
                    <a:pt x="683291" y="1096600"/>
                    <a:pt x="667256" y="1135310"/>
                    <a:pt x="638715" y="1163852"/>
                  </a:cubicBezTo>
                  <a:cubicBezTo>
                    <a:pt x="610174" y="1192393"/>
                    <a:pt x="571464" y="1208427"/>
                    <a:pt x="531100" y="1208427"/>
                  </a:cubicBezTo>
                  <a:lnTo>
                    <a:pt x="152190" y="1208427"/>
                  </a:lnTo>
                  <a:cubicBezTo>
                    <a:pt x="111827" y="1208427"/>
                    <a:pt x="73117" y="1192393"/>
                    <a:pt x="44576" y="1163852"/>
                  </a:cubicBezTo>
                  <a:cubicBezTo>
                    <a:pt x="16034" y="1135310"/>
                    <a:pt x="0" y="1096600"/>
                    <a:pt x="0" y="1056237"/>
                  </a:cubicBezTo>
                  <a:lnTo>
                    <a:pt x="0" y="152190"/>
                  </a:lnTo>
                  <a:cubicBezTo>
                    <a:pt x="0" y="111827"/>
                    <a:pt x="16034" y="73117"/>
                    <a:pt x="44576" y="44576"/>
                  </a:cubicBezTo>
                  <a:cubicBezTo>
                    <a:pt x="73117" y="16034"/>
                    <a:pt x="111827" y="0"/>
                    <a:pt x="152190" y="0"/>
                  </a:cubicBezTo>
                  <a:close/>
                </a:path>
              </a:pathLst>
            </a:custGeom>
            <a:solidFill>
              <a:srgbClr val="5188CC"/>
            </a:solidFill>
          </p:spPr>
        </p:sp>
        <p:sp>
          <p:nvSpPr>
            <p:cNvPr id="7" name="TextBox 7">
              <a:extLst>
                <a:ext uri="{FF2B5EF4-FFF2-40B4-BE49-F238E27FC236}">
                  <a16:creationId xmlns:a16="http://schemas.microsoft.com/office/drawing/2014/main" id="{E4DEE113-1406-86CA-CEC3-A296E2853B5C}"/>
                </a:ext>
              </a:extLst>
            </p:cNvPr>
            <p:cNvSpPr txBox="1"/>
            <p:nvPr/>
          </p:nvSpPr>
          <p:spPr>
            <a:xfrm>
              <a:off x="0" y="-47625"/>
              <a:ext cx="683291" cy="1256052"/>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89EF0646-A66E-981F-2041-4C70AEEEF4BD}"/>
              </a:ext>
            </a:extLst>
          </p:cNvPr>
          <p:cNvSpPr/>
          <p:nvPr/>
        </p:nvSpPr>
        <p:spPr>
          <a:xfrm>
            <a:off x="13731511" y="1434222"/>
            <a:ext cx="305535" cy="302202"/>
          </a:xfrm>
          <a:custGeom>
            <a:avLst/>
            <a:gdLst/>
            <a:ahLst/>
            <a:cxnLst/>
            <a:rect l="l" t="t" r="r" b="b"/>
            <a:pathLst>
              <a:path w="305535" h="302202">
                <a:moveTo>
                  <a:pt x="0" y="0"/>
                </a:moveTo>
                <a:lnTo>
                  <a:pt x="305535" y="0"/>
                </a:lnTo>
                <a:lnTo>
                  <a:pt x="305535" y="302203"/>
                </a:lnTo>
                <a:lnTo>
                  <a:pt x="0" y="30220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a:extLst>
              <a:ext uri="{FF2B5EF4-FFF2-40B4-BE49-F238E27FC236}">
                <a16:creationId xmlns:a16="http://schemas.microsoft.com/office/drawing/2014/main" id="{E86CBAA1-56DB-37ED-611D-56CDFAE6BD5F}"/>
              </a:ext>
            </a:extLst>
          </p:cNvPr>
          <p:cNvSpPr/>
          <p:nvPr/>
        </p:nvSpPr>
        <p:spPr>
          <a:xfrm>
            <a:off x="1028700" y="-252231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a:extLst>
              <a:ext uri="{FF2B5EF4-FFF2-40B4-BE49-F238E27FC236}">
                <a16:creationId xmlns:a16="http://schemas.microsoft.com/office/drawing/2014/main" id="{EDBDCD75-47BF-4C48-FE2E-1EC2C66446A6}"/>
              </a:ext>
            </a:extLst>
          </p:cNvPr>
          <p:cNvSpPr/>
          <p:nvPr/>
        </p:nvSpPr>
        <p:spPr>
          <a:xfrm>
            <a:off x="11958605" y="3307946"/>
            <a:ext cx="1025128" cy="1025128"/>
          </a:xfrm>
          <a:custGeom>
            <a:avLst/>
            <a:gdLst/>
            <a:ahLst/>
            <a:cxnLst/>
            <a:rect l="l" t="t" r="r" b="b"/>
            <a:pathLst>
              <a:path w="1025128" h="1025128">
                <a:moveTo>
                  <a:pt x="0" y="0"/>
                </a:moveTo>
                <a:lnTo>
                  <a:pt x="1025127" y="0"/>
                </a:lnTo>
                <a:lnTo>
                  <a:pt x="1025127" y="1025127"/>
                </a:lnTo>
                <a:lnTo>
                  <a:pt x="0" y="102512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4" name="Freeform 14">
            <a:extLst>
              <a:ext uri="{FF2B5EF4-FFF2-40B4-BE49-F238E27FC236}">
                <a16:creationId xmlns:a16="http://schemas.microsoft.com/office/drawing/2014/main" id="{E44476EE-4A73-4DD9-78EB-42871A73C5C0}"/>
              </a:ext>
            </a:extLst>
          </p:cNvPr>
          <p:cNvSpPr/>
          <p:nvPr/>
        </p:nvSpPr>
        <p:spPr>
          <a:xfrm>
            <a:off x="7843805" y="8248617"/>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TextBox 15">
            <a:extLst>
              <a:ext uri="{FF2B5EF4-FFF2-40B4-BE49-F238E27FC236}">
                <a16:creationId xmlns:a16="http://schemas.microsoft.com/office/drawing/2014/main" id="{99610A3B-7567-C55A-90F9-133364680CE1}"/>
              </a:ext>
            </a:extLst>
          </p:cNvPr>
          <p:cNvSpPr txBox="1"/>
          <p:nvPr/>
        </p:nvSpPr>
        <p:spPr>
          <a:xfrm>
            <a:off x="2412807" y="3028963"/>
            <a:ext cx="14808393" cy="3231654"/>
          </a:xfrm>
          <a:prstGeom prst="rect">
            <a:avLst/>
          </a:prstGeom>
        </p:spPr>
        <p:txBody>
          <a:bodyPr wrap="square" lIns="0" tIns="0" rIns="0" bIns="0" rtlCol="0" anchor="t">
            <a:spAutoFit/>
          </a:bodyPr>
          <a:lstStyle/>
          <a:p>
            <a:pPr algn="l">
              <a:lnSpc>
                <a:spcPts val="12564"/>
              </a:lnSpc>
            </a:pPr>
            <a:r>
              <a:rPr lang="en-US" sz="12198" b="1" dirty="0">
                <a:solidFill>
                  <a:srgbClr val="0E2F5F"/>
                </a:solidFill>
                <a:latin typeface="Barlow Condensed Heavy"/>
                <a:ea typeface="Barlow Condensed Heavy"/>
                <a:cs typeface="Barlow Condensed Heavy"/>
                <a:sym typeface="Barlow Condensed Heavy"/>
              </a:rPr>
              <a:t>Three Pillars of System Designs</a:t>
            </a:r>
          </a:p>
        </p:txBody>
      </p:sp>
      <p:sp>
        <p:nvSpPr>
          <p:cNvPr id="16" name="Freeform 16">
            <a:extLst>
              <a:ext uri="{FF2B5EF4-FFF2-40B4-BE49-F238E27FC236}">
                <a16:creationId xmlns:a16="http://schemas.microsoft.com/office/drawing/2014/main" id="{39D2F6AA-4B8B-9520-D1BA-DCACB367FCB9}"/>
              </a:ext>
            </a:extLst>
          </p:cNvPr>
          <p:cNvSpPr/>
          <p:nvPr/>
        </p:nvSpPr>
        <p:spPr>
          <a:xfrm>
            <a:off x="12769424" y="2436835"/>
            <a:ext cx="806841" cy="564789"/>
          </a:xfrm>
          <a:custGeom>
            <a:avLst/>
            <a:gdLst/>
            <a:ahLst/>
            <a:cxnLst/>
            <a:rect l="l" t="t" r="r" b="b"/>
            <a:pathLst>
              <a:path w="806841" h="564789">
                <a:moveTo>
                  <a:pt x="0" y="0"/>
                </a:moveTo>
                <a:lnTo>
                  <a:pt x="806840" y="0"/>
                </a:lnTo>
                <a:lnTo>
                  <a:pt x="806840" y="564788"/>
                </a:lnTo>
                <a:lnTo>
                  <a:pt x="0" y="56478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8" name="TextBox 18">
            <a:extLst>
              <a:ext uri="{FF2B5EF4-FFF2-40B4-BE49-F238E27FC236}">
                <a16:creationId xmlns:a16="http://schemas.microsoft.com/office/drawing/2014/main" id="{30C62C73-D9EB-92D5-9153-690E86E76BF1}"/>
              </a:ext>
            </a:extLst>
          </p:cNvPr>
          <p:cNvSpPr txBox="1"/>
          <p:nvPr/>
        </p:nvSpPr>
        <p:spPr>
          <a:xfrm>
            <a:off x="14211574" y="1415172"/>
            <a:ext cx="3009626" cy="306925"/>
          </a:xfrm>
          <a:prstGeom prst="rect">
            <a:avLst/>
          </a:prstGeom>
        </p:spPr>
        <p:txBody>
          <a:bodyPr lIns="0" tIns="0" rIns="0" bIns="0" rtlCol="0" anchor="t">
            <a:spAutoFit/>
          </a:bodyPr>
          <a:lstStyle/>
          <a:p>
            <a:pPr algn="l">
              <a:lnSpc>
                <a:spcPts val="2413"/>
              </a:lnSpc>
            </a:pPr>
            <a:r>
              <a:rPr lang="en-US" sz="1900" dirty="0">
                <a:solidFill>
                  <a:srgbClr val="FFFFFF"/>
                </a:solidFill>
                <a:latin typeface="Aileron"/>
                <a:ea typeface="Aileron"/>
                <a:cs typeface="Aileron"/>
                <a:sym typeface="Aileron"/>
              </a:rPr>
              <a:t>www.reallygreatsite.com</a:t>
            </a:r>
          </a:p>
        </p:txBody>
      </p:sp>
      <p:sp>
        <p:nvSpPr>
          <p:cNvPr id="19" name="Freeform 19">
            <a:extLst>
              <a:ext uri="{FF2B5EF4-FFF2-40B4-BE49-F238E27FC236}">
                <a16:creationId xmlns:a16="http://schemas.microsoft.com/office/drawing/2014/main" id="{43A1B7F0-A5C8-9D70-B857-DC715EC05922}"/>
              </a:ext>
            </a:extLst>
          </p:cNvPr>
          <p:cNvSpPr/>
          <p:nvPr/>
        </p:nvSpPr>
        <p:spPr>
          <a:xfrm>
            <a:off x="2412807" y="8799767"/>
            <a:ext cx="1483489" cy="458533"/>
          </a:xfrm>
          <a:custGeom>
            <a:avLst/>
            <a:gdLst/>
            <a:ahLst/>
            <a:cxnLst/>
            <a:rect l="l" t="t" r="r" b="b"/>
            <a:pathLst>
              <a:path w="1483489" h="458533">
                <a:moveTo>
                  <a:pt x="0" y="0"/>
                </a:moveTo>
                <a:lnTo>
                  <a:pt x="1483489" y="0"/>
                </a:lnTo>
                <a:lnTo>
                  <a:pt x="1483489" y="458533"/>
                </a:lnTo>
                <a:lnTo>
                  <a:pt x="0" y="45853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Tree>
    <p:extLst>
      <p:ext uri="{BB962C8B-B14F-4D97-AF65-F5344CB8AC3E}">
        <p14:creationId xmlns:p14="http://schemas.microsoft.com/office/powerpoint/2010/main" val="30441346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95A3E-12CC-E1C9-8DAB-7BDC22EA95D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C54C977-EFAC-DD3D-E3DB-E4DD0F007FAD}"/>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35D2ED1C-B78A-3AFD-38F7-EB7CB0A78826}"/>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0B5CA325-95F5-A3CA-F605-2CA6728B1F8F}"/>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DCA39052-80A9-B432-8092-1CF9C9C5745B}"/>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BF8F62B4-17D4-7F87-4731-030C8E054799}"/>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DB727920-C87F-C332-5B55-490ECEEE0FB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8D4B13AF-F926-C2EA-6582-48B48010F522}"/>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94AB9A59-CBAB-77B4-468F-73C82FC161BB}"/>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731D8914-F116-4035-1F67-C92139E29DA2}"/>
              </a:ext>
            </a:extLst>
          </p:cNvPr>
          <p:cNvSpPr txBox="1"/>
          <p:nvPr/>
        </p:nvSpPr>
        <p:spPr>
          <a:xfrm>
            <a:off x="228600" y="202666"/>
            <a:ext cx="18059400" cy="940450"/>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Scalability</a:t>
            </a:r>
          </a:p>
        </p:txBody>
      </p:sp>
      <p:sp>
        <p:nvSpPr>
          <p:cNvPr id="16" name="Freeform 16">
            <a:extLst>
              <a:ext uri="{FF2B5EF4-FFF2-40B4-BE49-F238E27FC236}">
                <a16:creationId xmlns:a16="http://schemas.microsoft.com/office/drawing/2014/main" id="{60754C57-14FF-27E5-1B94-489F9D755DA2}"/>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CC8A5EFE-197C-DF11-F8EB-690501354C6C}"/>
              </a:ext>
            </a:extLst>
          </p:cNvPr>
          <p:cNvSpPr>
            <a:spLocks noGrp="1"/>
          </p:cNvSpPr>
          <p:nvPr>
            <p:ph idx="1"/>
          </p:nvPr>
        </p:nvSpPr>
        <p:spPr>
          <a:xfrm>
            <a:off x="1959454" y="2262013"/>
            <a:ext cx="15181219" cy="7852963"/>
          </a:xfrm>
        </p:spPr>
        <p:txBody>
          <a:bodyPr>
            <a:normAutofit/>
          </a:bodyPr>
          <a:lstStyle/>
          <a:p>
            <a:pPr marL="457200" lvl="0">
              <a:lnSpc>
                <a:spcPct val="150000"/>
              </a:lnSpc>
              <a:spcBef>
                <a:spcPts val="0"/>
              </a:spcBef>
              <a:buSzPts val="1800"/>
              <a:buChar char="●"/>
            </a:pPr>
            <a:r>
              <a:rPr lang="en-US" sz="5000" b="1" dirty="0">
                <a:latin typeface="Century Gothic" panose="020B0502020202020204" pitchFamily="34" charset="0"/>
              </a:rPr>
              <a:t>Scalability is the ability of a system to handle more users, data, or traffic as demand grows by adding resources without requiring a major redesign.</a:t>
            </a:r>
          </a:p>
        </p:txBody>
      </p:sp>
    </p:spTree>
    <p:extLst>
      <p:ext uri="{BB962C8B-B14F-4D97-AF65-F5344CB8AC3E}">
        <p14:creationId xmlns:p14="http://schemas.microsoft.com/office/powerpoint/2010/main" val="3355003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2F55F-0655-89CB-C43C-6A23837E2CB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1E06C94-A0B4-3C51-6E47-14582C0C9140}"/>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8CB27E42-5A4B-89BE-0DEC-7FCA4C48BCB8}"/>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1C7C4339-0538-1CCB-E94B-0F22B46C789F}"/>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23057335-8BE5-8AA0-792B-0CCB9B7E3F90}"/>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C6F8DF4B-3DBA-6FB8-8BFA-6251378A37EF}"/>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662418BD-DEE9-4587-DE84-F7C92CB11EA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9A84E0BD-5588-17C4-E7A4-EAA1AAF43F13}"/>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8CEE75A6-8B6A-43BD-3EF9-FADAC35D954B}"/>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11AA3337-43EF-C68A-8A87-3CE4BCF2BBDB}"/>
              </a:ext>
            </a:extLst>
          </p:cNvPr>
          <p:cNvSpPr txBox="1"/>
          <p:nvPr/>
        </p:nvSpPr>
        <p:spPr>
          <a:xfrm>
            <a:off x="228600" y="202666"/>
            <a:ext cx="18059400" cy="940450"/>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Reliability</a:t>
            </a:r>
          </a:p>
        </p:txBody>
      </p:sp>
      <p:sp>
        <p:nvSpPr>
          <p:cNvPr id="16" name="Freeform 16">
            <a:extLst>
              <a:ext uri="{FF2B5EF4-FFF2-40B4-BE49-F238E27FC236}">
                <a16:creationId xmlns:a16="http://schemas.microsoft.com/office/drawing/2014/main" id="{39D9A63D-99F4-9B73-71CD-0758B7CB91AD}"/>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86CF356B-83CE-D515-5E20-A236EA463CF6}"/>
              </a:ext>
            </a:extLst>
          </p:cNvPr>
          <p:cNvSpPr>
            <a:spLocks noGrp="1"/>
          </p:cNvSpPr>
          <p:nvPr>
            <p:ph idx="1"/>
          </p:nvPr>
        </p:nvSpPr>
        <p:spPr>
          <a:xfrm>
            <a:off x="1959454" y="2262013"/>
            <a:ext cx="15181219" cy="7852963"/>
          </a:xfrm>
        </p:spPr>
        <p:txBody>
          <a:bodyPr>
            <a:normAutofit/>
          </a:bodyPr>
          <a:lstStyle/>
          <a:p>
            <a:pPr>
              <a:lnSpc>
                <a:spcPts val="8260"/>
              </a:lnSpc>
            </a:pPr>
            <a:r>
              <a:rPr lang="en-US" sz="5000" b="1" dirty="0">
                <a:latin typeface="Century Gothic" panose="020B0502020202020204" pitchFamily="34" charset="0"/>
                <a:ea typeface="Be Vietnam Ultra-Bold"/>
                <a:cs typeface="Be Vietnam Ultra-Bold"/>
                <a:sym typeface="Be Vietnam Ultra-Bold"/>
              </a:rPr>
              <a:t>The system should perform its intended function consistently and correctly, even in the face of failures, unexpected inputs, or changing conditions.</a:t>
            </a:r>
          </a:p>
        </p:txBody>
      </p:sp>
    </p:spTree>
    <p:extLst>
      <p:ext uri="{BB962C8B-B14F-4D97-AF65-F5344CB8AC3E}">
        <p14:creationId xmlns:p14="http://schemas.microsoft.com/office/powerpoint/2010/main" val="24852370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67CCB-C89A-89B6-618B-E05B625B44E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53A3150-53F7-B41B-3316-6BA033F8FD5E}"/>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0D9566B8-8E03-3067-915E-85603D6AFB73}"/>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40A503D4-7C05-184A-4A0A-8FF2751D310B}"/>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6B117816-292E-E29D-6CE1-249F4FD81A03}"/>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756E5347-B9D2-CDBE-F7F0-29D9F51D6E27}"/>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686C994D-0B8D-855C-595B-8C94A17EBB8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A992C395-B6A5-014A-E51B-D68BB6BC0D9C}"/>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4A08BD39-AA5D-A17E-5808-1280A9DC42D6}"/>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73FEA985-E07C-891D-E0E4-F66D1D36A502}"/>
              </a:ext>
            </a:extLst>
          </p:cNvPr>
          <p:cNvSpPr txBox="1"/>
          <p:nvPr/>
        </p:nvSpPr>
        <p:spPr>
          <a:xfrm>
            <a:off x="228600" y="202666"/>
            <a:ext cx="18059400" cy="940450"/>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Maintainability</a:t>
            </a:r>
          </a:p>
        </p:txBody>
      </p:sp>
      <p:sp>
        <p:nvSpPr>
          <p:cNvPr id="16" name="Freeform 16">
            <a:extLst>
              <a:ext uri="{FF2B5EF4-FFF2-40B4-BE49-F238E27FC236}">
                <a16:creationId xmlns:a16="http://schemas.microsoft.com/office/drawing/2014/main" id="{92842543-3AC6-094A-FC21-FD5FB749A503}"/>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5FE1BADA-6656-BA49-B97D-9B20031C45AF}"/>
              </a:ext>
            </a:extLst>
          </p:cNvPr>
          <p:cNvSpPr>
            <a:spLocks noGrp="1"/>
          </p:cNvSpPr>
          <p:nvPr>
            <p:ph idx="1"/>
          </p:nvPr>
        </p:nvSpPr>
        <p:spPr>
          <a:xfrm>
            <a:off x="1959454" y="2262013"/>
            <a:ext cx="15181219" cy="7852963"/>
          </a:xfrm>
        </p:spPr>
        <p:txBody>
          <a:bodyPr>
            <a:normAutofit/>
          </a:bodyPr>
          <a:lstStyle/>
          <a:p>
            <a:pPr>
              <a:lnSpc>
                <a:spcPts val="8260"/>
              </a:lnSpc>
            </a:pPr>
            <a:r>
              <a:rPr lang="en-US" sz="5000" b="1" dirty="0">
                <a:latin typeface="Century Gothic" panose="020B0502020202020204" pitchFamily="34" charset="0"/>
                <a:ea typeface="Be Vietnam Ultra-Bold"/>
                <a:cs typeface="Be Vietnam Ultra-Bold"/>
                <a:sym typeface="Be Vietnam Ultra-Bold"/>
              </a:rPr>
              <a:t>The system should be easy to understand, modify, and extend over time, minimizing technical debt. </a:t>
            </a:r>
          </a:p>
          <a:p>
            <a:pPr>
              <a:lnSpc>
                <a:spcPts val="8260"/>
              </a:lnSpc>
            </a:pPr>
            <a:r>
              <a:rPr lang="en-US" sz="5400" b="1" dirty="0">
                <a:latin typeface="Century Gothic" panose="020B0502020202020204" pitchFamily="34" charset="0"/>
              </a:rPr>
              <a:t>How easy it is to update, fix, or improve the system over time.</a:t>
            </a:r>
            <a:endParaRPr lang="en-US" sz="5000" b="1" dirty="0">
              <a:latin typeface="Century Gothic" panose="020B0502020202020204" pitchFamily="34" charset="0"/>
              <a:ea typeface="Be Vietnam Ultra-Bold"/>
              <a:cs typeface="Be Vietnam Ultra-Bold"/>
              <a:sym typeface="Be Vietnam Ultra-Bold"/>
            </a:endParaRPr>
          </a:p>
        </p:txBody>
      </p:sp>
    </p:spTree>
    <p:extLst>
      <p:ext uri="{BB962C8B-B14F-4D97-AF65-F5344CB8AC3E}">
        <p14:creationId xmlns:p14="http://schemas.microsoft.com/office/powerpoint/2010/main" val="33455886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6B3E1-9F3C-FD72-152E-BC47A9287D7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2AE83E2-EC33-FBE2-A280-54B086A564E8}"/>
              </a:ext>
            </a:extLst>
          </p:cNvPr>
          <p:cNvSpPr/>
          <p:nvPr/>
        </p:nvSpPr>
        <p:spPr>
          <a:xfrm>
            <a:off x="13469396" y="2719229"/>
            <a:ext cx="2544433" cy="2544433"/>
          </a:xfrm>
          <a:custGeom>
            <a:avLst/>
            <a:gdLst/>
            <a:ahLst/>
            <a:cxnLst/>
            <a:rect l="l" t="t" r="r" b="b"/>
            <a:pathLst>
              <a:path w="2544433" h="2544433">
                <a:moveTo>
                  <a:pt x="0" y="0"/>
                </a:moveTo>
                <a:lnTo>
                  <a:pt x="2544432" y="0"/>
                </a:lnTo>
                <a:lnTo>
                  <a:pt x="2544432" y="2544433"/>
                </a:lnTo>
                <a:lnTo>
                  <a:pt x="0" y="25444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5" name="Group 5">
            <a:extLst>
              <a:ext uri="{FF2B5EF4-FFF2-40B4-BE49-F238E27FC236}">
                <a16:creationId xmlns:a16="http://schemas.microsoft.com/office/drawing/2014/main" id="{64FB177D-0E7F-DCF0-68CA-9FD4D49C29EC}"/>
              </a:ext>
            </a:extLst>
          </p:cNvPr>
          <p:cNvGrpSpPr/>
          <p:nvPr/>
        </p:nvGrpSpPr>
        <p:grpSpPr>
          <a:xfrm>
            <a:off x="-1136521" y="3307946"/>
            <a:ext cx="2594369" cy="4588246"/>
            <a:chOff x="0" y="0"/>
            <a:chExt cx="683291" cy="1208427"/>
          </a:xfrm>
        </p:grpSpPr>
        <p:sp>
          <p:nvSpPr>
            <p:cNvPr id="6" name="Freeform 6">
              <a:extLst>
                <a:ext uri="{FF2B5EF4-FFF2-40B4-BE49-F238E27FC236}">
                  <a16:creationId xmlns:a16="http://schemas.microsoft.com/office/drawing/2014/main" id="{BEA22568-DE82-18F2-4EAD-60D4DC775CDA}"/>
                </a:ext>
              </a:extLst>
            </p:cNvPr>
            <p:cNvSpPr/>
            <p:nvPr/>
          </p:nvSpPr>
          <p:spPr>
            <a:xfrm>
              <a:off x="0" y="0"/>
              <a:ext cx="683291" cy="1208427"/>
            </a:xfrm>
            <a:custGeom>
              <a:avLst/>
              <a:gdLst/>
              <a:ahLst/>
              <a:cxnLst/>
              <a:rect l="l" t="t" r="r" b="b"/>
              <a:pathLst>
                <a:path w="683291" h="1208427">
                  <a:moveTo>
                    <a:pt x="152190" y="0"/>
                  </a:moveTo>
                  <a:lnTo>
                    <a:pt x="531100" y="0"/>
                  </a:lnTo>
                  <a:cubicBezTo>
                    <a:pt x="571464" y="0"/>
                    <a:pt x="610174" y="16034"/>
                    <a:pt x="638715" y="44576"/>
                  </a:cubicBezTo>
                  <a:cubicBezTo>
                    <a:pt x="667256" y="73117"/>
                    <a:pt x="683291" y="111827"/>
                    <a:pt x="683291" y="152190"/>
                  </a:cubicBezTo>
                  <a:lnTo>
                    <a:pt x="683291" y="1056237"/>
                  </a:lnTo>
                  <a:cubicBezTo>
                    <a:pt x="683291" y="1096600"/>
                    <a:pt x="667256" y="1135310"/>
                    <a:pt x="638715" y="1163852"/>
                  </a:cubicBezTo>
                  <a:cubicBezTo>
                    <a:pt x="610174" y="1192393"/>
                    <a:pt x="571464" y="1208427"/>
                    <a:pt x="531100" y="1208427"/>
                  </a:cubicBezTo>
                  <a:lnTo>
                    <a:pt x="152190" y="1208427"/>
                  </a:lnTo>
                  <a:cubicBezTo>
                    <a:pt x="111827" y="1208427"/>
                    <a:pt x="73117" y="1192393"/>
                    <a:pt x="44576" y="1163852"/>
                  </a:cubicBezTo>
                  <a:cubicBezTo>
                    <a:pt x="16034" y="1135310"/>
                    <a:pt x="0" y="1096600"/>
                    <a:pt x="0" y="1056237"/>
                  </a:cubicBezTo>
                  <a:lnTo>
                    <a:pt x="0" y="152190"/>
                  </a:lnTo>
                  <a:cubicBezTo>
                    <a:pt x="0" y="111827"/>
                    <a:pt x="16034" y="73117"/>
                    <a:pt x="44576" y="44576"/>
                  </a:cubicBezTo>
                  <a:cubicBezTo>
                    <a:pt x="73117" y="16034"/>
                    <a:pt x="111827" y="0"/>
                    <a:pt x="152190" y="0"/>
                  </a:cubicBezTo>
                  <a:close/>
                </a:path>
              </a:pathLst>
            </a:custGeom>
            <a:solidFill>
              <a:srgbClr val="5188CC"/>
            </a:solidFill>
          </p:spPr>
        </p:sp>
        <p:sp>
          <p:nvSpPr>
            <p:cNvPr id="7" name="TextBox 7">
              <a:extLst>
                <a:ext uri="{FF2B5EF4-FFF2-40B4-BE49-F238E27FC236}">
                  <a16:creationId xmlns:a16="http://schemas.microsoft.com/office/drawing/2014/main" id="{01ABEA5B-545F-E59E-401B-89957452FB34}"/>
                </a:ext>
              </a:extLst>
            </p:cNvPr>
            <p:cNvSpPr txBox="1"/>
            <p:nvPr/>
          </p:nvSpPr>
          <p:spPr>
            <a:xfrm>
              <a:off x="0" y="-47625"/>
              <a:ext cx="683291" cy="1256052"/>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B330F12E-3850-EA3D-4E8C-68A2989D117D}"/>
              </a:ext>
            </a:extLst>
          </p:cNvPr>
          <p:cNvSpPr/>
          <p:nvPr/>
        </p:nvSpPr>
        <p:spPr>
          <a:xfrm>
            <a:off x="13731511" y="1434222"/>
            <a:ext cx="305535" cy="302202"/>
          </a:xfrm>
          <a:custGeom>
            <a:avLst/>
            <a:gdLst/>
            <a:ahLst/>
            <a:cxnLst/>
            <a:rect l="l" t="t" r="r" b="b"/>
            <a:pathLst>
              <a:path w="305535" h="302202">
                <a:moveTo>
                  <a:pt x="0" y="0"/>
                </a:moveTo>
                <a:lnTo>
                  <a:pt x="305535" y="0"/>
                </a:lnTo>
                <a:lnTo>
                  <a:pt x="305535" y="302203"/>
                </a:lnTo>
                <a:lnTo>
                  <a:pt x="0" y="30220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a:extLst>
              <a:ext uri="{FF2B5EF4-FFF2-40B4-BE49-F238E27FC236}">
                <a16:creationId xmlns:a16="http://schemas.microsoft.com/office/drawing/2014/main" id="{0696766F-5F70-3D04-3004-DC89F32EEA68}"/>
              </a:ext>
            </a:extLst>
          </p:cNvPr>
          <p:cNvSpPr/>
          <p:nvPr/>
        </p:nvSpPr>
        <p:spPr>
          <a:xfrm>
            <a:off x="1028700" y="-252231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a:extLst>
              <a:ext uri="{FF2B5EF4-FFF2-40B4-BE49-F238E27FC236}">
                <a16:creationId xmlns:a16="http://schemas.microsoft.com/office/drawing/2014/main" id="{6F3A4E3B-8A9C-16A9-C181-B611A3AC0195}"/>
              </a:ext>
            </a:extLst>
          </p:cNvPr>
          <p:cNvSpPr/>
          <p:nvPr/>
        </p:nvSpPr>
        <p:spPr>
          <a:xfrm>
            <a:off x="11958605" y="3307946"/>
            <a:ext cx="1025128" cy="1025128"/>
          </a:xfrm>
          <a:custGeom>
            <a:avLst/>
            <a:gdLst/>
            <a:ahLst/>
            <a:cxnLst/>
            <a:rect l="l" t="t" r="r" b="b"/>
            <a:pathLst>
              <a:path w="1025128" h="1025128">
                <a:moveTo>
                  <a:pt x="0" y="0"/>
                </a:moveTo>
                <a:lnTo>
                  <a:pt x="1025127" y="0"/>
                </a:lnTo>
                <a:lnTo>
                  <a:pt x="1025127" y="1025127"/>
                </a:lnTo>
                <a:lnTo>
                  <a:pt x="0" y="102512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4" name="Freeform 14">
            <a:extLst>
              <a:ext uri="{FF2B5EF4-FFF2-40B4-BE49-F238E27FC236}">
                <a16:creationId xmlns:a16="http://schemas.microsoft.com/office/drawing/2014/main" id="{985996B3-B91F-5762-90B7-A40F14B472FE}"/>
              </a:ext>
            </a:extLst>
          </p:cNvPr>
          <p:cNvSpPr/>
          <p:nvPr/>
        </p:nvSpPr>
        <p:spPr>
          <a:xfrm>
            <a:off x="7843805" y="8248617"/>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TextBox 15">
            <a:extLst>
              <a:ext uri="{FF2B5EF4-FFF2-40B4-BE49-F238E27FC236}">
                <a16:creationId xmlns:a16="http://schemas.microsoft.com/office/drawing/2014/main" id="{C421E0DB-6E6F-BFF6-9095-DD407615C2C0}"/>
              </a:ext>
            </a:extLst>
          </p:cNvPr>
          <p:cNvSpPr txBox="1"/>
          <p:nvPr/>
        </p:nvSpPr>
        <p:spPr>
          <a:xfrm>
            <a:off x="2412807" y="3028963"/>
            <a:ext cx="14808393" cy="3231654"/>
          </a:xfrm>
          <a:prstGeom prst="rect">
            <a:avLst/>
          </a:prstGeom>
        </p:spPr>
        <p:txBody>
          <a:bodyPr wrap="square" lIns="0" tIns="0" rIns="0" bIns="0" rtlCol="0" anchor="t">
            <a:spAutoFit/>
          </a:bodyPr>
          <a:lstStyle/>
          <a:p>
            <a:pPr algn="l">
              <a:lnSpc>
                <a:spcPts val="12564"/>
              </a:lnSpc>
            </a:pPr>
            <a:r>
              <a:rPr lang="en-US" sz="12198" b="1" dirty="0">
                <a:solidFill>
                  <a:srgbClr val="0E2F5F"/>
                </a:solidFill>
                <a:latin typeface="Barlow Condensed Heavy"/>
                <a:ea typeface="Barlow Condensed Heavy"/>
                <a:cs typeface="Barlow Condensed Heavy"/>
                <a:sym typeface="Barlow Condensed Heavy"/>
              </a:rPr>
              <a:t>Challenges in System Administration</a:t>
            </a:r>
          </a:p>
        </p:txBody>
      </p:sp>
      <p:sp>
        <p:nvSpPr>
          <p:cNvPr id="16" name="Freeform 16">
            <a:extLst>
              <a:ext uri="{FF2B5EF4-FFF2-40B4-BE49-F238E27FC236}">
                <a16:creationId xmlns:a16="http://schemas.microsoft.com/office/drawing/2014/main" id="{BD7D1642-1EC0-CB3D-2869-13E8679E2DC0}"/>
              </a:ext>
            </a:extLst>
          </p:cNvPr>
          <p:cNvSpPr/>
          <p:nvPr/>
        </p:nvSpPr>
        <p:spPr>
          <a:xfrm>
            <a:off x="12769424" y="2436835"/>
            <a:ext cx="806841" cy="564789"/>
          </a:xfrm>
          <a:custGeom>
            <a:avLst/>
            <a:gdLst/>
            <a:ahLst/>
            <a:cxnLst/>
            <a:rect l="l" t="t" r="r" b="b"/>
            <a:pathLst>
              <a:path w="806841" h="564789">
                <a:moveTo>
                  <a:pt x="0" y="0"/>
                </a:moveTo>
                <a:lnTo>
                  <a:pt x="806840" y="0"/>
                </a:lnTo>
                <a:lnTo>
                  <a:pt x="806840" y="564788"/>
                </a:lnTo>
                <a:lnTo>
                  <a:pt x="0" y="56478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8" name="TextBox 18">
            <a:extLst>
              <a:ext uri="{FF2B5EF4-FFF2-40B4-BE49-F238E27FC236}">
                <a16:creationId xmlns:a16="http://schemas.microsoft.com/office/drawing/2014/main" id="{254AA2BB-E004-14DA-A767-70DEB1427487}"/>
              </a:ext>
            </a:extLst>
          </p:cNvPr>
          <p:cNvSpPr txBox="1"/>
          <p:nvPr/>
        </p:nvSpPr>
        <p:spPr>
          <a:xfrm>
            <a:off x="14211574" y="1415172"/>
            <a:ext cx="3009626" cy="306925"/>
          </a:xfrm>
          <a:prstGeom prst="rect">
            <a:avLst/>
          </a:prstGeom>
        </p:spPr>
        <p:txBody>
          <a:bodyPr lIns="0" tIns="0" rIns="0" bIns="0" rtlCol="0" anchor="t">
            <a:spAutoFit/>
          </a:bodyPr>
          <a:lstStyle/>
          <a:p>
            <a:pPr algn="l">
              <a:lnSpc>
                <a:spcPts val="2413"/>
              </a:lnSpc>
            </a:pPr>
            <a:r>
              <a:rPr lang="en-US" sz="1900" dirty="0">
                <a:solidFill>
                  <a:srgbClr val="FFFFFF"/>
                </a:solidFill>
                <a:latin typeface="Aileron"/>
                <a:ea typeface="Aileron"/>
                <a:cs typeface="Aileron"/>
                <a:sym typeface="Aileron"/>
              </a:rPr>
              <a:t>www.reallygreatsite.com</a:t>
            </a:r>
          </a:p>
        </p:txBody>
      </p:sp>
      <p:sp>
        <p:nvSpPr>
          <p:cNvPr id="19" name="Freeform 19">
            <a:extLst>
              <a:ext uri="{FF2B5EF4-FFF2-40B4-BE49-F238E27FC236}">
                <a16:creationId xmlns:a16="http://schemas.microsoft.com/office/drawing/2014/main" id="{20A86AD5-BA67-E9D7-6347-25CB9719C9D9}"/>
              </a:ext>
            </a:extLst>
          </p:cNvPr>
          <p:cNvSpPr/>
          <p:nvPr/>
        </p:nvSpPr>
        <p:spPr>
          <a:xfrm>
            <a:off x="2412807" y="8799767"/>
            <a:ext cx="1483489" cy="458533"/>
          </a:xfrm>
          <a:custGeom>
            <a:avLst/>
            <a:gdLst/>
            <a:ahLst/>
            <a:cxnLst/>
            <a:rect l="l" t="t" r="r" b="b"/>
            <a:pathLst>
              <a:path w="1483489" h="458533">
                <a:moveTo>
                  <a:pt x="0" y="0"/>
                </a:moveTo>
                <a:lnTo>
                  <a:pt x="1483489" y="0"/>
                </a:lnTo>
                <a:lnTo>
                  <a:pt x="1483489" y="458533"/>
                </a:lnTo>
                <a:lnTo>
                  <a:pt x="0" y="45853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Tree>
    <p:extLst>
      <p:ext uri="{BB962C8B-B14F-4D97-AF65-F5344CB8AC3E}">
        <p14:creationId xmlns:p14="http://schemas.microsoft.com/office/powerpoint/2010/main" val="23262433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0863E-45B5-6121-86F3-D51C57B0656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6ED23E0-70F4-AC41-A075-69E3B7BD130E}"/>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F35EF226-915C-C73E-1C49-88E78060EFA5}"/>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9B7946CF-AFB2-FD61-53BD-E977D132D53C}"/>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5500F6BD-3E85-8470-2203-4A7910714B0E}"/>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40416310-9938-C552-ED7B-CE9C3B12D7EE}"/>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4CEF0066-172B-4CEA-5001-69A0542880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AA5FC83F-FD39-3405-24F7-7489B3F59391}"/>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8367A36F-3657-65BF-8C9C-7748A55F501C}"/>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36DB1DD8-4F64-C30B-CE4A-2F66059650A3}"/>
              </a:ext>
            </a:extLst>
          </p:cNvPr>
          <p:cNvSpPr txBox="1"/>
          <p:nvPr/>
        </p:nvSpPr>
        <p:spPr>
          <a:xfrm>
            <a:off x="228600" y="202666"/>
            <a:ext cx="18059400" cy="1915076"/>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Keeping Up with Rapidly Evolving Technologies</a:t>
            </a:r>
          </a:p>
        </p:txBody>
      </p:sp>
      <p:sp>
        <p:nvSpPr>
          <p:cNvPr id="16" name="Freeform 16">
            <a:extLst>
              <a:ext uri="{FF2B5EF4-FFF2-40B4-BE49-F238E27FC236}">
                <a16:creationId xmlns:a16="http://schemas.microsoft.com/office/drawing/2014/main" id="{3EE1DDBA-30B6-7FA3-72FC-E0CA6ADA7921}"/>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E01C0ACB-8E79-1FF9-2C6F-67633DBEB76B}"/>
              </a:ext>
            </a:extLst>
          </p:cNvPr>
          <p:cNvSpPr>
            <a:spLocks noGrp="1"/>
          </p:cNvSpPr>
          <p:nvPr>
            <p:ph idx="1"/>
          </p:nvPr>
        </p:nvSpPr>
        <p:spPr>
          <a:xfrm>
            <a:off x="1959454" y="2262013"/>
            <a:ext cx="15181219" cy="7852963"/>
          </a:xfrm>
        </p:spPr>
        <p:txBody>
          <a:bodyPr>
            <a:normAutofit/>
          </a:bodyPr>
          <a:lstStyle/>
          <a:p>
            <a:r>
              <a:rPr lang="en-US" sz="4000" b="1" dirty="0">
                <a:latin typeface="Century Gothic" panose="020B0502020202020204" pitchFamily="34" charset="0"/>
              </a:rPr>
              <a:t>System administrators must continuously learn and adapt to avoid outdated practices</a:t>
            </a:r>
          </a:p>
          <a:p>
            <a:endParaRPr lang="en-US" sz="4000" b="1" dirty="0">
              <a:latin typeface="Century Gothic" panose="020B0502020202020204" pitchFamily="34" charset="0"/>
            </a:endParaRPr>
          </a:p>
          <a:p>
            <a:r>
              <a:rPr lang="en-US" sz="4000" b="1" dirty="0">
                <a:latin typeface="Century Gothic" panose="020B0502020202020204" pitchFamily="34" charset="0"/>
              </a:rPr>
              <a:t>Failure to stay updated can lead to vulnerabilities, inefficiencies, or missed opportunities for improvement.</a:t>
            </a:r>
          </a:p>
          <a:p>
            <a:endParaRPr lang="en-US" sz="4000" b="1" dirty="0">
              <a:latin typeface="Century Gothic" panose="020B0502020202020204" pitchFamily="34" charset="0"/>
            </a:endParaRPr>
          </a:p>
          <a:p>
            <a:pPr lvl="1"/>
            <a:r>
              <a:rPr lang="en-US" sz="3600" b="1" dirty="0">
                <a:latin typeface="Century Gothic" panose="020B0502020202020204" pitchFamily="34" charset="0"/>
              </a:rPr>
              <a:t>Effect</a:t>
            </a:r>
          </a:p>
          <a:p>
            <a:pPr lvl="2"/>
            <a:r>
              <a:rPr lang="en-US" sz="3200" b="1" dirty="0">
                <a:latin typeface="Century Gothic" panose="020B0502020202020204" pitchFamily="34" charset="0"/>
              </a:rPr>
              <a:t>If a system </a:t>
            </a:r>
            <a:r>
              <a:rPr lang="en-US" sz="3200" b="1" dirty="0" err="1">
                <a:latin typeface="Century Gothic" panose="020B0502020202020204" pitchFamily="34" charset="0"/>
              </a:rPr>
              <a:t>adminstrator</a:t>
            </a:r>
            <a:r>
              <a:rPr lang="en-US" sz="3200" b="1" dirty="0">
                <a:latin typeface="Century Gothic" panose="020B0502020202020204" pitchFamily="34" charset="0"/>
              </a:rPr>
              <a:t> can’t adapt, the organization might lose its competitive edge, run outdated systems, or suffer security risks from unpatched tools</a:t>
            </a:r>
            <a:r>
              <a:rPr lang="en-US" sz="3200" dirty="0">
                <a:latin typeface="Century Gothic" panose="020B0502020202020204" pitchFamily="34" charset="0"/>
              </a:rPr>
              <a:t>.</a:t>
            </a:r>
          </a:p>
          <a:p>
            <a:pPr marL="914400" lvl="2" indent="0">
              <a:buNone/>
            </a:pPr>
            <a:endParaRPr lang="en-US" sz="3200" b="1" dirty="0">
              <a:latin typeface="Century Gothic" panose="020B0502020202020204" pitchFamily="34" charset="0"/>
            </a:endParaRPr>
          </a:p>
        </p:txBody>
      </p:sp>
    </p:spTree>
    <p:extLst>
      <p:ext uri="{BB962C8B-B14F-4D97-AF65-F5344CB8AC3E}">
        <p14:creationId xmlns:p14="http://schemas.microsoft.com/office/powerpoint/2010/main" val="31242836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D4EF3-5140-AFC1-8A31-700CF37A0F4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46937CB-15B4-B316-DCF4-368F257F2FBB}"/>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87DE5786-AABA-FFE4-82E4-B4436DD328C8}"/>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78778DFF-6394-47E2-1C95-C62592607E12}"/>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259944D9-19B8-5A42-3316-C0210115222A}"/>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DC8996D6-B318-FA55-442F-8CA79B458BBB}"/>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937CBFE3-72F2-F009-6D85-6E8C4DAEC6A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550BC133-3EBD-8E83-583E-A666C287EB93}"/>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F2D6AE8D-FA6F-B6B4-B02B-F759791BE2C2}"/>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4355CF62-5388-F214-85A2-7C091569A538}"/>
              </a:ext>
            </a:extLst>
          </p:cNvPr>
          <p:cNvSpPr txBox="1"/>
          <p:nvPr/>
        </p:nvSpPr>
        <p:spPr>
          <a:xfrm>
            <a:off x="228600" y="202666"/>
            <a:ext cx="18059400" cy="940450"/>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Balancing Security with User Accessibility</a:t>
            </a:r>
          </a:p>
        </p:txBody>
      </p:sp>
      <p:sp>
        <p:nvSpPr>
          <p:cNvPr id="16" name="Freeform 16">
            <a:extLst>
              <a:ext uri="{FF2B5EF4-FFF2-40B4-BE49-F238E27FC236}">
                <a16:creationId xmlns:a16="http://schemas.microsoft.com/office/drawing/2014/main" id="{F00D1A4B-C529-D919-A155-7864D253C535}"/>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0CCB27A2-FBB0-3F56-4071-9B0CB8A72CF3}"/>
              </a:ext>
            </a:extLst>
          </p:cNvPr>
          <p:cNvSpPr>
            <a:spLocks noGrp="1"/>
          </p:cNvSpPr>
          <p:nvPr>
            <p:ph idx="1"/>
          </p:nvPr>
        </p:nvSpPr>
        <p:spPr>
          <a:xfrm>
            <a:off x="1959454" y="2262013"/>
            <a:ext cx="15181219" cy="7852963"/>
          </a:xfrm>
        </p:spPr>
        <p:txBody>
          <a:bodyPr>
            <a:normAutofit/>
          </a:bodyPr>
          <a:lstStyle/>
          <a:p>
            <a:r>
              <a:rPr lang="en-US" sz="4000" b="1" dirty="0">
                <a:latin typeface="Century Gothic" panose="020B0502020202020204" pitchFamily="34" charset="0"/>
              </a:rPr>
              <a:t>The stronger the security, the more steps users need to log in or access files.</a:t>
            </a:r>
          </a:p>
          <a:p>
            <a:r>
              <a:rPr lang="en-US" sz="4000" b="1" dirty="0">
                <a:latin typeface="Century Gothic" panose="020B0502020202020204" pitchFamily="34" charset="0"/>
              </a:rPr>
              <a:t>Users often want convenience while system administrator is at risk</a:t>
            </a:r>
          </a:p>
          <a:p>
            <a:endParaRPr lang="en-US" sz="3600" b="1" dirty="0">
              <a:latin typeface="Century Gothic" panose="020B0502020202020204" pitchFamily="34" charset="0"/>
            </a:endParaRPr>
          </a:p>
          <a:p>
            <a:pPr lvl="1"/>
            <a:r>
              <a:rPr lang="en-US" sz="3600" b="1" dirty="0">
                <a:latin typeface="Century Gothic" panose="020B0502020202020204" pitchFamily="34" charset="0"/>
              </a:rPr>
              <a:t>Effect</a:t>
            </a:r>
          </a:p>
          <a:p>
            <a:pPr lvl="2"/>
            <a:r>
              <a:rPr lang="en-US" sz="3200" b="1" dirty="0">
                <a:latin typeface="Century Gothic" panose="020B0502020202020204" pitchFamily="34" charset="0"/>
              </a:rPr>
              <a:t>Poor balance can lead to data breaches (too little security) or frustrated employees (too much security), both of which harm the organization</a:t>
            </a:r>
            <a:r>
              <a:rPr lang="en-US" sz="3200" dirty="0">
                <a:latin typeface="Century Gothic" panose="020B0502020202020204" pitchFamily="34" charset="0"/>
              </a:rPr>
              <a:t>.</a:t>
            </a:r>
          </a:p>
          <a:p>
            <a:pPr marL="914400" lvl="2" indent="0">
              <a:buNone/>
            </a:pPr>
            <a:endParaRPr lang="en-US" sz="3200" b="1" dirty="0">
              <a:latin typeface="Century Gothic" panose="020B0502020202020204" pitchFamily="34" charset="0"/>
            </a:endParaRPr>
          </a:p>
        </p:txBody>
      </p:sp>
    </p:spTree>
    <p:extLst>
      <p:ext uri="{BB962C8B-B14F-4D97-AF65-F5344CB8AC3E}">
        <p14:creationId xmlns:p14="http://schemas.microsoft.com/office/powerpoint/2010/main" val="4792335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9F6A5-641A-15C3-12B1-36A1A97394D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5B4337E-EA5B-0EE4-0F71-A73212D7863E}"/>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6F3C25BF-C309-5D53-1FB4-914676EBB7A6}"/>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AC869AA2-734C-8334-2083-796DF42B4074}"/>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B91186ED-C5EB-4189-6D94-4BFF97705603}"/>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14B78420-5F3D-67F1-1DEB-DC72FBD4703B}"/>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219F11ED-10CD-FEB0-7B3B-D7B8C55CA23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B40A9C5D-CE95-5685-68DD-1F74716D5F45}"/>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D30D6DD4-2CAA-88E5-CD78-E6001580BA78}"/>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6BFC9FA9-65EC-1DE0-88F5-2B46A5F26639}"/>
              </a:ext>
            </a:extLst>
          </p:cNvPr>
          <p:cNvSpPr txBox="1"/>
          <p:nvPr/>
        </p:nvSpPr>
        <p:spPr>
          <a:xfrm>
            <a:off x="228600" y="202666"/>
            <a:ext cx="18059400" cy="1915076"/>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Dealing with Unexpected Outrages and Emergencies</a:t>
            </a:r>
          </a:p>
        </p:txBody>
      </p:sp>
      <p:sp>
        <p:nvSpPr>
          <p:cNvPr id="16" name="Freeform 16">
            <a:extLst>
              <a:ext uri="{FF2B5EF4-FFF2-40B4-BE49-F238E27FC236}">
                <a16:creationId xmlns:a16="http://schemas.microsoft.com/office/drawing/2014/main" id="{CC9851AC-500B-CD0D-B94E-DE09C5E5BE1A}"/>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322BDD7B-0F1D-9883-694B-49BD3B6D7913}"/>
              </a:ext>
            </a:extLst>
          </p:cNvPr>
          <p:cNvSpPr>
            <a:spLocks noGrp="1"/>
          </p:cNvSpPr>
          <p:nvPr>
            <p:ph idx="1"/>
          </p:nvPr>
        </p:nvSpPr>
        <p:spPr>
          <a:xfrm>
            <a:off x="1959454" y="2262013"/>
            <a:ext cx="15181219" cy="7852963"/>
          </a:xfrm>
        </p:spPr>
        <p:txBody>
          <a:bodyPr>
            <a:normAutofit/>
          </a:bodyPr>
          <a:lstStyle/>
          <a:p>
            <a:r>
              <a:rPr lang="en-US" sz="4000" b="1" dirty="0">
                <a:latin typeface="Century Gothic" panose="020B0502020202020204" pitchFamily="34" charset="0"/>
              </a:rPr>
              <a:t>Requires quick diagnosis and problem-solving under extreme time pressure. </a:t>
            </a:r>
          </a:p>
          <a:p>
            <a:pPr>
              <a:lnSpc>
                <a:spcPct val="150000"/>
              </a:lnSpc>
            </a:pPr>
            <a:r>
              <a:rPr lang="en-US" sz="4000" b="1" dirty="0">
                <a:latin typeface="Century Gothic" panose="020B0502020202020204" pitchFamily="34" charset="0"/>
              </a:rPr>
              <a:t>Root cause is not always obvious</a:t>
            </a:r>
          </a:p>
          <a:p>
            <a:pPr>
              <a:lnSpc>
                <a:spcPct val="150000"/>
              </a:lnSpc>
            </a:pPr>
            <a:r>
              <a:rPr lang="en-US" sz="4000" b="1" dirty="0">
                <a:latin typeface="Century Gothic" panose="020B0502020202020204" pitchFamily="34" charset="0"/>
              </a:rPr>
              <a:t>Data loss risks</a:t>
            </a:r>
          </a:p>
          <a:p>
            <a:pPr lvl="1"/>
            <a:r>
              <a:rPr lang="en-US" sz="3600" b="1" dirty="0">
                <a:latin typeface="Century Gothic" panose="020B0502020202020204" pitchFamily="34" charset="0"/>
              </a:rPr>
              <a:t>Effect</a:t>
            </a:r>
          </a:p>
          <a:p>
            <a:pPr lvl="2"/>
            <a:r>
              <a:rPr lang="en-US" sz="3200" b="1" dirty="0">
                <a:latin typeface="Century Gothic" panose="020B0502020202020204" pitchFamily="34" charset="0"/>
              </a:rPr>
              <a:t>If a company’s cloud-based file server suddenly goes offline due to a data center outage, employees can’t access important project files. This halts ongoing work, delays client deliverables, and may require the IT team to work overtime to restore access — damaging productivity and potentially breaching service contracts.</a:t>
            </a:r>
          </a:p>
        </p:txBody>
      </p:sp>
    </p:spTree>
    <p:extLst>
      <p:ext uri="{BB962C8B-B14F-4D97-AF65-F5344CB8AC3E}">
        <p14:creationId xmlns:p14="http://schemas.microsoft.com/office/powerpoint/2010/main" val="25354138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1CF71-E099-D5BD-3777-970C5809405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9354DDC-C196-FD2C-05DF-87C3AFCF3186}"/>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84E461C0-3690-EEDF-A2F0-F5F35748203D}"/>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F217B04E-84C9-AFEF-F5C9-DB5176E44CA8}"/>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B3C2D0D7-4698-EFF6-2A02-93195A020F41}"/>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008DEF85-6279-56ED-CCBE-F38F4A107884}"/>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1F903AEF-866F-7443-F253-78FCE1860F7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1907D3E9-E573-4610-20D0-883F3765CB93}"/>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D71B26FD-363E-5431-F679-B13D754B22AE}"/>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5DEAF7B0-0C16-6DE4-9AF4-1CD51DB0865D}"/>
              </a:ext>
            </a:extLst>
          </p:cNvPr>
          <p:cNvSpPr txBox="1"/>
          <p:nvPr/>
        </p:nvSpPr>
        <p:spPr>
          <a:xfrm>
            <a:off x="228600" y="202666"/>
            <a:ext cx="18059400" cy="1915076"/>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Communicating Technical Concepts to Non Technical Stakeholder</a:t>
            </a:r>
          </a:p>
        </p:txBody>
      </p:sp>
      <p:sp>
        <p:nvSpPr>
          <p:cNvPr id="16" name="Freeform 16">
            <a:extLst>
              <a:ext uri="{FF2B5EF4-FFF2-40B4-BE49-F238E27FC236}">
                <a16:creationId xmlns:a16="http://schemas.microsoft.com/office/drawing/2014/main" id="{1632E71E-F0E0-640A-D4D4-58FA20E3DE2B}"/>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54C67DD0-F728-9428-36B0-824D4B323599}"/>
              </a:ext>
            </a:extLst>
          </p:cNvPr>
          <p:cNvSpPr>
            <a:spLocks noGrp="1"/>
          </p:cNvSpPr>
          <p:nvPr>
            <p:ph idx="1"/>
          </p:nvPr>
        </p:nvSpPr>
        <p:spPr>
          <a:xfrm>
            <a:off x="1959454" y="2262013"/>
            <a:ext cx="15181219" cy="7852963"/>
          </a:xfrm>
        </p:spPr>
        <p:txBody>
          <a:bodyPr>
            <a:normAutofit/>
          </a:bodyPr>
          <a:lstStyle/>
          <a:p>
            <a:r>
              <a:rPr lang="en-US" sz="4000" b="1" dirty="0">
                <a:latin typeface="Century Gothic" panose="020B0502020202020204" pitchFamily="34" charset="0"/>
              </a:rPr>
              <a:t>Complex topics must be explained simply without losing accuracy. </a:t>
            </a:r>
          </a:p>
          <a:p>
            <a:r>
              <a:rPr lang="en-US" sz="4000" b="1" dirty="0">
                <a:latin typeface="Century Gothic" panose="020B0502020202020204" pitchFamily="34" charset="0"/>
              </a:rPr>
              <a:t>If explained poorly, decisions might be made without understanding risks. </a:t>
            </a:r>
          </a:p>
          <a:p>
            <a:pPr lvl="1">
              <a:lnSpc>
                <a:spcPct val="150000"/>
              </a:lnSpc>
            </a:pPr>
            <a:r>
              <a:rPr lang="en-US" sz="3200" b="1" dirty="0">
                <a:latin typeface="Century Gothic" panose="020B0502020202020204" pitchFamily="34" charset="0"/>
              </a:rPr>
              <a:t>Effect</a:t>
            </a:r>
          </a:p>
          <a:p>
            <a:pPr lvl="2"/>
            <a:r>
              <a:rPr lang="en-US" sz="3200" b="1" dirty="0">
                <a:latin typeface="Century Gothic" panose="020B0502020202020204" pitchFamily="34" charset="0"/>
              </a:rPr>
              <a:t>If a sysadmin doesn’t clearly explain the need for regular backups, the company might skip them — until a hard drive fails and critical files are lost.</a:t>
            </a:r>
          </a:p>
          <a:p>
            <a:pPr lvl="2"/>
            <a:r>
              <a:rPr lang="en-US" sz="3200" b="1" dirty="0">
                <a:latin typeface="Century Gothic" panose="020B0502020202020204" pitchFamily="34" charset="0"/>
              </a:rPr>
              <a:t>If a sysadmin can’t make users understand the reason for strong passwords, employees might keep using “123456” — leading to an account being hacked.</a:t>
            </a:r>
          </a:p>
        </p:txBody>
      </p:sp>
    </p:spTree>
    <p:extLst>
      <p:ext uri="{BB962C8B-B14F-4D97-AF65-F5344CB8AC3E}">
        <p14:creationId xmlns:p14="http://schemas.microsoft.com/office/powerpoint/2010/main" val="30111547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E3B5E-0CF4-81A3-DBED-7EB78E124F2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FB03A28-9B6B-26C2-D8B7-2F0190FAF605}"/>
              </a:ext>
            </a:extLst>
          </p:cNvPr>
          <p:cNvSpPr/>
          <p:nvPr/>
        </p:nvSpPr>
        <p:spPr>
          <a:xfrm>
            <a:off x="13469396" y="2719229"/>
            <a:ext cx="2544433" cy="2544433"/>
          </a:xfrm>
          <a:custGeom>
            <a:avLst/>
            <a:gdLst/>
            <a:ahLst/>
            <a:cxnLst/>
            <a:rect l="l" t="t" r="r" b="b"/>
            <a:pathLst>
              <a:path w="2544433" h="2544433">
                <a:moveTo>
                  <a:pt x="0" y="0"/>
                </a:moveTo>
                <a:lnTo>
                  <a:pt x="2544432" y="0"/>
                </a:lnTo>
                <a:lnTo>
                  <a:pt x="2544432" y="2544433"/>
                </a:lnTo>
                <a:lnTo>
                  <a:pt x="0" y="25444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5" name="Group 5">
            <a:extLst>
              <a:ext uri="{FF2B5EF4-FFF2-40B4-BE49-F238E27FC236}">
                <a16:creationId xmlns:a16="http://schemas.microsoft.com/office/drawing/2014/main" id="{C77C2762-A8AB-8FDA-D718-4C780C848286}"/>
              </a:ext>
            </a:extLst>
          </p:cNvPr>
          <p:cNvGrpSpPr/>
          <p:nvPr/>
        </p:nvGrpSpPr>
        <p:grpSpPr>
          <a:xfrm>
            <a:off x="-1136521" y="3307946"/>
            <a:ext cx="2594369" cy="4588246"/>
            <a:chOff x="0" y="0"/>
            <a:chExt cx="683291" cy="1208427"/>
          </a:xfrm>
        </p:grpSpPr>
        <p:sp>
          <p:nvSpPr>
            <p:cNvPr id="6" name="Freeform 6">
              <a:extLst>
                <a:ext uri="{FF2B5EF4-FFF2-40B4-BE49-F238E27FC236}">
                  <a16:creationId xmlns:a16="http://schemas.microsoft.com/office/drawing/2014/main" id="{36394BDE-E9A9-9E3E-F06F-700330E98E8D}"/>
                </a:ext>
              </a:extLst>
            </p:cNvPr>
            <p:cNvSpPr/>
            <p:nvPr/>
          </p:nvSpPr>
          <p:spPr>
            <a:xfrm>
              <a:off x="0" y="0"/>
              <a:ext cx="683291" cy="1208427"/>
            </a:xfrm>
            <a:custGeom>
              <a:avLst/>
              <a:gdLst/>
              <a:ahLst/>
              <a:cxnLst/>
              <a:rect l="l" t="t" r="r" b="b"/>
              <a:pathLst>
                <a:path w="683291" h="1208427">
                  <a:moveTo>
                    <a:pt x="152190" y="0"/>
                  </a:moveTo>
                  <a:lnTo>
                    <a:pt x="531100" y="0"/>
                  </a:lnTo>
                  <a:cubicBezTo>
                    <a:pt x="571464" y="0"/>
                    <a:pt x="610174" y="16034"/>
                    <a:pt x="638715" y="44576"/>
                  </a:cubicBezTo>
                  <a:cubicBezTo>
                    <a:pt x="667256" y="73117"/>
                    <a:pt x="683291" y="111827"/>
                    <a:pt x="683291" y="152190"/>
                  </a:cubicBezTo>
                  <a:lnTo>
                    <a:pt x="683291" y="1056237"/>
                  </a:lnTo>
                  <a:cubicBezTo>
                    <a:pt x="683291" y="1096600"/>
                    <a:pt x="667256" y="1135310"/>
                    <a:pt x="638715" y="1163852"/>
                  </a:cubicBezTo>
                  <a:cubicBezTo>
                    <a:pt x="610174" y="1192393"/>
                    <a:pt x="571464" y="1208427"/>
                    <a:pt x="531100" y="1208427"/>
                  </a:cubicBezTo>
                  <a:lnTo>
                    <a:pt x="152190" y="1208427"/>
                  </a:lnTo>
                  <a:cubicBezTo>
                    <a:pt x="111827" y="1208427"/>
                    <a:pt x="73117" y="1192393"/>
                    <a:pt x="44576" y="1163852"/>
                  </a:cubicBezTo>
                  <a:cubicBezTo>
                    <a:pt x="16034" y="1135310"/>
                    <a:pt x="0" y="1096600"/>
                    <a:pt x="0" y="1056237"/>
                  </a:cubicBezTo>
                  <a:lnTo>
                    <a:pt x="0" y="152190"/>
                  </a:lnTo>
                  <a:cubicBezTo>
                    <a:pt x="0" y="111827"/>
                    <a:pt x="16034" y="73117"/>
                    <a:pt x="44576" y="44576"/>
                  </a:cubicBezTo>
                  <a:cubicBezTo>
                    <a:pt x="73117" y="16034"/>
                    <a:pt x="111827" y="0"/>
                    <a:pt x="152190" y="0"/>
                  </a:cubicBezTo>
                  <a:close/>
                </a:path>
              </a:pathLst>
            </a:custGeom>
            <a:solidFill>
              <a:srgbClr val="5188CC"/>
            </a:solidFill>
          </p:spPr>
        </p:sp>
        <p:sp>
          <p:nvSpPr>
            <p:cNvPr id="7" name="TextBox 7">
              <a:extLst>
                <a:ext uri="{FF2B5EF4-FFF2-40B4-BE49-F238E27FC236}">
                  <a16:creationId xmlns:a16="http://schemas.microsoft.com/office/drawing/2014/main" id="{EACA0541-30E5-3B86-5D9E-2EAA6ECB57BD}"/>
                </a:ext>
              </a:extLst>
            </p:cNvPr>
            <p:cNvSpPr txBox="1"/>
            <p:nvPr/>
          </p:nvSpPr>
          <p:spPr>
            <a:xfrm>
              <a:off x="0" y="-47625"/>
              <a:ext cx="683291" cy="1256052"/>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65FCB472-F479-AC8E-01A3-A5114972C6D9}"/>
              </a:ext>
            </a:extLst>
          </p:cNvPr>
          <p:cNvSpPr/>
          <p:nvPr/>
        </p:nvSpPr>
        <p:spPr>
          <a:xfrm>
            <a:off x="13731511" y="1434222"/>
            <a:ext cx="305535" cy="302202"/>
          </a:xfrm>
          <a:custGeom>
            <a:avLst/>
            <a:gdLst/>
            <a:ahLst/>
            <a:cxnLst/>
            <a:rect l="l" t="t" r="r" b="b"/>
            <a:pathLst>
              <a:path w="305535" h="302202">
                <a:moveTo>
                  <a:pt x="0" y="0"/>
                </a:moveTo>
                <a:lnTo>
                  <a:pt x="305535" y="0"/>
                </a:lnTo>
                <a:lnTo>
                  <a:pt x="305535" y="302203"/>
                </a:lnTo>
                <a:lnTo>
                  <a:pt x="0" y="30220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a:extLst>
              <a:ext uri="{FF2B5EF4-FFF2-40B4-BE49-F238E27FC236}">
                <a16:creationId xmlns:a16="http://schemas.microsoft.com/office/drawing/2014/main" id="{D36A8A9A-CD7A-C6C5-2B23-50C94C3977C3}"/>
              </a:ext>
            </a:extLst>
          </p:cNvPr>
          <p:cNvSpPr/>
          <p:nvPr/>
        </p:nvSpPr>
        <p:spPr>
          <a:xfrm>
            <a:off x="1028700" y="-252231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a:extLst>
              <a:ext uri="{FF2B5EF4-FFF2-40B4-BE49-F238E27FC236}">
                <a16:creationId xmlns:a16="http://schemas.microsoft.com/office/drawing/2014/main" id="{CC93552B-1172-A3AA-73D4-9AB3BC5F066B}"/>
              </a:ext>
            </a:extLst>
          </p:cNvPr>
          <p:cNvSpPr/>
          <p:nvPr/>
        </p:nvSpPr>
        <p:spPr>
          <a:xfrm>
            <a:off x="11958605" y="3307946"/>
            <a:ext cx="1025128" cy="1025128"/>
          </a:xfrm>
          <a:custGeom>
            <a:avLst/>
            <a:gdLst/>
            <a:ahLst/>
            <a:cxnLst/>
            <a:rect l="l" t="t" r="r" b="b"/>
            <a:pathLst>
              <a:path w="1025128" h="1025128">
                <a:moveTo>
                  <a:pt x="0" y="0"/>
                </a:moveTo>
                <a:lnTo>
                  <a:pt x="1025127" y="0"/>
                </a:lnTo>
                <a:lnTo>
                  <a:pt x="1025127" y="1025127"/>
                </a:lnTo>
                <a:lnTo>
                  <a:pt x="0" y="102512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4" name="Freeform 14">
            <a:extLst>
              <a:ext uri="{FF2B5EF4-FFF2-40B4-BE49-F238E27FC236}">
                <a16:creationId xmlns:a16="http://schemas.microsoft.com/office/drawing/2014/main" id="{9CBAB77D-B9D6-D1B4-2C19-411D8B66C318}"/>
              </a:ext>
            </a:extLst>
          </p:cNvPr>
          <p:cNvSpPr/>
          <p:nvPr/>
        </p:nvSpPr>
        <p:spPr>
          <a:xfrm>
            <a:off x="7843805" y="8248617"/>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TextBox 15">
            <a:extLst>
              <a:ext uri="{FF2B5EF4-FFF2-40B4-BE49-F238E27FC236}">
                <a16:creationId xmlns:a16="http://schemas.microsoft.com/office/drawing/2014/main" id="{A0FE4B8B-7109-101E-7580-B5C4A59D3BA1}"/>
              </a:ext>
            </a:extLst>
          </p:cNvPr>
          <p:cNvSpPr txBox="1"/>
          <p:nvPr/>
        </p:nvSpPr>
        <p:spPr>
          <a:xfrm>
            <a:off x="2412807" y="3028963"/>
            <a:ext cx="14808393" cy="3231654"/>
          </a:xfrm>
          <a:prstGeom prst="rect">
            <a:avLst/>
          </a:prstGeom>
        </p:spPr>
        <p:txBody>
          <a:bodyPr wrap="square" lIns="0" tIns="0" rIns="0" bIns="0" rtlCol="0" anchor="t">
            <a:spAutoFit/>
          </a:bodyPr>
          <a:lstStyle/>
          <a:p>
            <a:pPr algn="l">
              <a:lnSpc>
                <a:spcPts val="12564"/>
              </a:lnSpc>
            </a:pPr>
            <a:r>
              <a:rPr lang="en-US" sz="12198" b="1" dirty="0">
                <a:solidFill>
                  <a:srgbClr val="0E2F5F"/>
                </a:solidFill>
                <a:latin typeface="Barlow Condensed Heavy"/>
                <a:ea typeface="Barlow Condensed Heavy"/>
                <a:cs typeface="Barlow Condensed Heavy"/>
                <a:sym typeface="Barlow Condensed Heavy"/>
              </a:rPr>
              <a:t>Future of System Administration</a:t>
            </a:r>
          </a:p>
        </p:txBody>
      </p:sp>
      <p:sp>
        <p:nvSpPr>
          <p:cNvPr id="16" name="Freeform 16">
            <a:extLst>
              <a:ext uri="{FF2B5EF4-FFF2-40B4-BE49-F238E27FC236}">
                <a16:creationId xmlns:a16="http://schemas.microsoft.com/office/drawing/2014/main" id="{FDBC4A1A-251A-E124-74EA-CAD020B434F9}"/>
              </a:ext>
            </a:extLst>
          </p:cNvPr>
          <p:cNvSpPr/>
          <p:nvPr/>
        </p:nvSpPr>
        <p:spPr>
          <a:xfrm>
            <a:off x="12769424" y="2436835"/>
            <a:ext cx="806841" cy="564789"/>
          </a:xfrm>
          <a:custGeom>
            <a:avLst/>
            <a:gdLst/>
            <a:ahLst/>
            <a:cxnLst/>
            <a:rect l="l" t="t" r="r" b="b"/>
            <a:pathLst>
              <a:path w="806841" h="564789">
                <a:moveTo>
                  <a:pt x="0" y="0"/>
                </a:moveTo>
                <a:lnTo>
                  <a:pt x="806840" y="0"/>
                </a:lnTo>
                <a:lnTo>
                  <a:pt x="806840" y="564788"/>
                </a:lnTo>
                <a:lnTo>
                  <a:pt x="0" y="56478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8" name="TextBox 18">
            <a:extLst>
              <a:ext uri="{FF2B5EF4-FFF2-40B4-BE49-F238E27FC236}">
                <a16:creationId xmlns:a16="http://schemas.microsoft.com/office/drawing/2014/main" id="{7A9BCD7E-8370-B835-6EAC-CC56F1BB3949}"/>
              </a:ext>
            </a:extLst>
          </p:cNvPr>
          <p:cNvSpPr txBox="1"/>
          <p:nvPr/>
        </p:nvSpPr>
        <p:spPr>
          <a:xfrm>
            <a:off x="14211574" y="1415172"/>
            <a:ext cx="3009626" cy="306925"/>
          </a:xfrm>
          <a:prstGeom prst="rect">
            <a:avLst/>
          </a:prstGeom>
        </p:spPr>
        <p:txBody>
          <a:bodyPr lIns="0" tIns="0" rIns="0" bIns="0" rtlCol="0" anchor="t">
            <a:spAutoFit/>
          </a:bodyPr>
          <a:lstStyle/>
          <a:p>
            <a:pPr algn="l">
              <a:lnSpc>
                <a:spcPts val="2413"/>
              </a:lnSpc>
            </a:pPr>
            <a:r>
              <a:rPr lang="en-US" sz="1900" dirty="0">
                <a:solidFill>
                  <a:srgbClr val="FFFFFF"/>
                </a:solidFill>
                <a:latin typeface="Aileron"/>
                <a:ea typeface="Aileron"/>
                <a:cs typeface="Aileron"/>
                <a:sym typeface="Aileron"/>
              </a:rPr>
              <a:t>www.reallygreatsite.com</a:t>
            </a:r>
          </a:p>
        </p:txBody>
      </p:sp>
      <p:sp>
        <p:nvSpPr>
          <p:cNvPr id="19" name="Freeform 19">
            <a:extLst>
              <a:ext uri="{FF2B5EF4-FFF2-40B4-BE49-F238E27FC236}">
                <a16:creationId xmlns:a16="http://schemas.microsoft.com/office/drawing/2014/main" id="{720BB795-4A8E-7312-68AB-D67572B30609}"/>
              </a:ext>
            </a:extLst>
          </p:cNvPr>
          <p:cNvSpPr/>
          <p:nvPr/>
        </p:nvSpPr>
        <p:spPr>
          <a:xfrm>
            <a:off x="2412807" y="8799767"/>
            <a:ext cx="1483489" cy="458533"/>
          </a:xfrm>
          <a:custGeom>
            <a:avLst/>
            <a:gdLst/>
            <a:ahLst/>
            <a:cxnLst/>
            <a:rect l="l" t="t" r="r" b="b"/>
            <a:pathLst>
              <a:path w="1483489" h="458533">
                <a:moveTo>
                  <a:pt x="0" y="0"/>
                </a:moveTo>
                <a:lnTo>
                  <a:pt x="1483489" y="0"/>
                </a:lnTo>
                <a:lnTo>
                  <a:pt x="1483489" y="458533"/>
                </a:lnTo>
                <a:lnTo>
                  <a:pt x="0" y="45853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Tree>
    <p:extLst>
      <p:ext uri="{BB962C8B-B14F-4D97-AF65-F5344CB8AC3E}">
        <p14:creationId xmlns:p14="http://schemas.microsoft.com/office/powerpoint/2010/main" val="24300671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A9E53-3D24-3286-6771-84196B38A02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40CF1C2-CC02-95F6-D5A3-6EE45955C101}"/>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B87E0A59-F3F7-E64E-C71D-5C16AB5CBBE9}"/>
              </a:ext>
            </a:extLst>
          </p:cNvPr>
          <p:cNvGrpSpPr/>
          <p:nvPr/>
        </p:nvGrpSpPr>
        <p:grpSpPr>
          <a:xfrm>
            <a:off x="1028700" y="4392170"/>
            <a:ext cx="5650143" cy="5894830"/>
            <a:chOff x="0" y="0"/>
            <a:chExt cx="1488104" cy="1552548"/>
          </a:xfrm>
        </p:grpSpPr>
        <p:sp>
          <p:nvSpPr>
            <p:cNvPr id="4" name="Freeform 4">
              <a:extLst>
                <a:ext uri="{FF2B5EF4-FFF2-40B4-BE49-F238E27FC236}">
                  <a16:creationId xmlns:a16="http://schemas.microsoft.com/office/drawing/2014/main" id="{6EB2C4BA-1BB0-15E8-964E-46FCC3FE6ABA}"/>
                </a:ext>
              </a:extLst>
            </p:cNvPr>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a:extLst>
                <a:ext uri="{FF2B5EF4-FFF2-40B4-BE49-F238E27FC236}">
                  <a16:creationId xmlns:a16="http://schemas.microsoft.com/office/drawing/2014/main" id="{356980CB-7464-E33F-CB54-385D455531C5}"/>
                </a:ext>
              </a:extLst>
            </p:cNvPr>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8" name="Group 8">
            <a:extLst>
              <a:ext uri="{FF2B5EF4-FFF2-40B4-BE49-F238E27FC236}">
                <a16:creationId xmlns:a16="http://schemas.microsoft.com/office/drawing/2014/main" id="{F8FC9228-E770-E16F-D6DD-906BE3430E6A}"/>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050147D7-696A-A30B-94E4-ABF6FCBDC2D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F1A27AA1-41B6-CD7E-2E0C-F66258D07417}"/>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7DE14730-91E4-A0E3-81B1-BC815E1DDE0C}"/>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F68898BD-E1D4-73A6-1E50-0B696B5A5112}"/>
              </a:ext>
            </a:extLst>
          </p:cNvPr>
          <p:cNvSpPr txBox="1"/>
          <p:nvPr/>
        </p:nvSpPr>
        <p:spPr>
          <a:xfrm>
            <a:off x="228600" y="202666"/>
            <a:ext cx="18059400" cy="940450"/>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Less Manual Work</a:t>
            </a:r>
          </a:p>
        </p:txBody>
      </p:sp>
      <p:sp>
        <p:nvSpPr>
          <p:cNvPr id="16" name="Freeform 16">
            <a:extLst>
              <a:ext uri="{FF2B5EF4-FFF2-40B4-BE49-F238E27FC236}">
                <a16:creationId xmlns:a16="http://schemas.microsoft.com/office/drawing/2014/main" id="{94794F9E-01E0-0B9F-13AE-2AB8EBA8775C}"/>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930DF399-98E8-66EA-336E-A0357F4A9382}"/>
              </a:ext>
            </a:extLst>
          </p:cNvPr>
          <p:cNvSpPr>
            <a:spLocks noGrp="1"/>
          </p:cNvSpPr>
          <p:nvPr>
            <p:ph idx="1"/>
          </p:nvPr>
        </p:nvSpPr>
        <p:spPr>
          <a:xfrm>
            <a:off x="1360246" y="1958067"/>
            <a:ext cx="16031122" cy="8777471"/>
          </a:xfrm>
        </p:spPr>
        <p:txBody>
          <a:bodyPr>
            <a:normAutofit/>
          </a:bodyPr>
          <a:lstStyle/>
          <a:p>
            <a:pPr algn="just"/>
            <a:r>
              <a:rPr lang="en-US" sz="4000" b="1" dirty="0">
                <a:latin typeface="Century Gothic" panose="020B0502020202020204" pitchFamily="34" charset="0"/>
              </a:rPr>
              <a:t>System administrators will spend less time on repetitive manual tasks like installing software or plugging in cables. These jobs will be automated or handled by cloud services. This frees admins to focus on bigger responsibilities.</a:t>
            </a:r>
          </a:p>
          <a:p>
            <a:pPr algn="just"/>
            <a:endParaRPr lang="en-US" sz="4000" b="1" dirty="0">
              <a:latin typeface="Century Gothic" panose="020B0502020202020204" pitchFamily="34" charset="0"/>
            </a:endParaRPr>
          </a:p>
          <a:p>
            <a:pPr marL="0" indent="0" algn="just">
              <a:buNone/>
            </a:pPr>
            <a:r>
              <a:rPr lang="en-US" sz="3600" b="1" dirty="0">
                <a:latin typeface="Century Gothic" panose="020B0502020202020204" pitchFamily="34" charset="0"/>
              </a:rPr>
              <a:t>Example: </a:t>
            </a:r>
          </a:p>
          <a:p>
            <a:pPr marL="0" indent="0" algn="just">
              <a:buNone/>
            </a:pPr>
            <a:r>
              <a:rPr lang="en-US" sz="3600" b="1" dirty="0">
                <a:latin typeface="Century Gothic" panose="020B0502020202020204" pitchFamily="34" charset="0"/>
              </a:rPr>
              <a:t>	Instead of installing Microsoft Office on 100 computers one by one, an admin uses a single automated tool to install it on all devices at once.</a:t>
            </a:r>
          </a:p>
        </p:txBody>
      </p:sp>
    </p:spTree>
    <p:extLst>
      <p:ext uri="{BB962C8B-B14F-4D97-AF65-F5344CB8AC3E}">
        <p14:creationId xmlns:p14="http://schemas.microsoft.com/office/powerpoint/2010/main" val="5388787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79506-458D-FC39-68B2-5747761A800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FF6E195-BEB9-4201-AC93-7DA583297D40}"/>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8" name="Group 8">
            <a:extLst>
              <a:ext uri="{FF2B5EF4-FFF2-40B4-BE49-F238E27FC236}">
                <a16:creationId xmlns:a16="http://schemas.microsoft.com/office/drawing/2014/main" id="{20EFF2D5-4AAD-22E7-6D70-69ABDCAA8B60}"/>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4D87B377-A745-8E13-B0BC-72902953E94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AF2CC546-26E2-5D16-D96C-0BBB89F221D8}"/>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6B5A4EB3-F89E-C069-B162-E8A403D1A9C0}"/>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2B50326C-03E8-76ED-8AF9-7A5026FD183E}"/>
              </a:ext>
            </a:extLst>
          </p:cNvPr>
          <p:cNvSpPr txBox="1"/>
          <p:nvPr/>
        </p:nvSpPr>
        <p:spPr>
          <a:xfrm>
            <a:off x="228600" y="202666"/>
            <a:ext cx="18059400" cy="940450"/>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More Strategic Role</a:t>
            </a:r>
          </a:p>
        </p:txBody>
      </p:sp>
      <p:sp>
        <p:nvSpPr>
          <p:cNvPr id="16" name="Freeform 16">
            <a:extLst>
              <a:ext uri="{FF2B5EF4-FFF2-40B4-BE49-F238E27FC236}">
                <a16:creationId xmlns:a16="http://schemas.microsoft.com/office/drawing/2014/main" id="{4538756B-9AA0-9317-DA32-4E3559F04EAE}"/>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F02AA55D-0BD8-D2AE-DADE-E9C27ACCBF55}"/>
              </a:ext>
            </a:extLst>
          </p:cNvPr>
          <p:cNvSpPr>
            <a:spLocks noGrp="1"/>
          </p:cNvSpPr>
          <p:nvPr>
            <p:ph idx="1"/>
          </p:nvPr>
        </p:nvSpPr>
        <p:spPr>
          <a:xfrm>
            <a:off x="1494878" y="1509529"/>
            <a:ext cx="16031122" cy="8777471"/>
          </a:xfrm>
        </p:spPr>
        <p:txBody>
          <a:bodyPr>
            <a:normAutofit/>
          </a:bodyPr>
          <a:lstStyle/>
          <a:p>
            <a:pPr algn="just"/>
            <a:r>
              <a:rPr lang="en-US" sz="4000" b="1" dirty="0">
                <a:latin typeface="Century Gothic" panose="020B0502020202020204" pitchFamily="34" charset="0"/>
              </a:rPr>
              <a:t>Admins will take on a more strategic job, focusing on automation, cybersecurity, and cloud management. They will plan how technology supports the organization’s goals instead of just fixing problems. This makes them decision-makers in IT.</a:t>
            </a:r>
          </a:p>
          <a:p>
            <a:pPr algn="just"/>
            <a:endParaRPr lang="en-US" sz="4000" b="1" dirty="0">
              <a:latin typeface="Century Gothic" panose="020B0502020202020204" pitchFamily="34" charset="0"/>
            </a:endParaRPr>
          </a:p>
          <a:p>
            <a:r>
              <a:rPr lang="en-US" sz="4000" b="1" dirty="0">
                <a:latin typeface="Century Gothic" panose="020B0502020202020204" pitchFamily="34" charset="0"/>
              </a:rPr>
              <a:t> Example: </a:t>
            </a:r>
          </a:p>
          <a:p>
            <a:pPr marL="0" indent="0">
              <a:buNone/>
            </a:pPr>
            <a:r>
              <a:rPr lang="en-US" sz="4000" b="1" dirty="0">
                <a:latin typeface="Century Gothic" panose="020B0502020202020204" pitchFamily="34" charset="0"/>
              </a:rPr>
              <a:t>	An admin sets up a cloud system so employees can work from anywhere, helping the company grow faster.</a:t>
            </a:r>
            <a:endParaRPr lang="en-US" sz="3400" b="1" dirty="0">
              <a:latin typeface="Century Gothic" panose="020B0502020202020204" pitchFamily="34" charset="0"/>
            </a:endParaRPr>
          </a:p>
        </p:txBody>
      </p:sp>
    </p:spTree>
    <p:extLst>
      <p:ext uri="{BB962C8B-B14F-4D97-AF65-F5344CB8AC3E}">
        <p14:creationId xmlns:p14="http://schemas.microsoft.com/office/powerpoint/2010/main" val="16663753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D6B1C-F715-41AD-E797-C731CBA0AB2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12F3F08-0A51-28F3-46C8-49F570C83377}"/>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8" name="Group 8">
            <a:extLst>
              <a:ext uri="{FF2B5EF4-FFF2-40B4-BE49-F238E27FC236}">
                <a16:creationId xmlns:a16="http://schemas.microsoft.com/office/drawing/2014/main" id="{A0A81AD5-E6BA-2E90-2948-DF1276E10091}"/>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2810B4EC-6FCE-6053-BEFE-45CB6D184AC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5C90303C-0340-C5D0-ADC3-03D36613C9C8}"/>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51C31B86-88BD-8B32-1F00-FBE3D42A7858}"/>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7DD387D9-229B-769F-68BE-003A67223163}"/>
              </a:ext>
            </a:extLst>
          </p:cNvPr>
          <p:cNvSpPr txBox="1"/>
          <p:nvPr/>
        </p:nvSpPr>
        <p:spPr>
          <a:xfrm>
            <a:off x="228600" y="202666"/>
            <a:ext cx="18059400" cy="940450"/>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Becoming System Architect</a:t>
            </a:r>
          </a:p>
        </p:txBody>
      </p:sp>
      <p:sp>
        <p:nvSpPr>
          <p:cNvPr id="16" name="Freeform 16">
            <a:extLst>
              <a:ext uri="{FF2B5EF4-FFF2-40B4-BE49-F238E27FC236}">
                <a16:creationId xmlns:a16="http://schemas.microsoft.com/office/drawing/2014/main" id="{8E6F0AC6-0DB5-00FB-1F49-3322DF4CCDDC}"/>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199D4884-C9A5-D3A9-BBDE-7A1EF2FB5CC6}"/>
              </a:ext>
            </a:extLst>
          </p:cNvPr>
          <p:cNvSpPr>
            <a:spLocks noGrp="1"/>
          </p:cNvSpPr>
          <p:nvPr>
            <p:ph idx="1"/>
          </p:nvPr>
        </p:nvSpPr>
        <p:spPr>
          <a:xfrm>
            <a:off x="1650847" y="2453094"/>
            <a:ext cx="16031122" cy="8777471"/>
          </a:xfrm>
        </p:spPr>
        <p:txBody>
          <a:bodyPr>
            <a:normAutofit/>
          </a:bodyPr>
          <a:lstStyle/>
          <a:p>
            <a:pPr marL="0" indent="0">
              <a:buNone/>
            </a:pPr>
            <a:r>
              <a:rPr lang="en-US" sz="4000" b="1" dirty="0">
                <a:latin typeface="Century Gothic" panose="020B0502020202020204" pitchFamily="34" charset="0"/>
              </a:rPr>
              <a:t>Admins will act like architects, designing systems that are reliable, secure, and scalable. Their role is to ensure that IT can handle growth and adapt to new needs. They’ll think long-term instead of just fixing short-term issues.</a:t>
            </a:r>
          </a:p>
          <a:p>
            <a:pPr marL="0" indent="0">
              <a:buNone/>
            </a:pPr>
            <a:endParaRPr lang="en-US" sz="4000" b="1" dirty="0">
              <a:latin typeface="Century Gothic" panose="020B0502020202020204" pitchFamily="34" charset="0"/>
            </a:endParaRPr>
          </a:p>
          <a:p>
            <a:pPr marL="0" indent="0">
              <a:buNone/>
            </a:pPr>
            <a:r>
              <a:rPr lang="en-US" sz="3400" b="1" dirty="0">
                <a:latin typeface="Century Gothic" panose="020B0502020202020204" pitchFamily="34" charset="0"/>
              </a:rPr>
              <a:t>Example: </a:t>
            </a:r>
          </a:p>
          <a:p>
            <a:pPr marL="0" indent="0">
              <a:buNone/>
            </a:pPr>
            <a:r>
              <a:rPr lang="en-US" sz="3400" b="1" dirty="0">
                <a:latin typeface="Century Gothic" panose="020B0502020202020204" pitchFamily="34" charset="0"/>
              </a:rPr>
              <a:t>	</a:t>
            </a:r>
            <a:r>
              <a:rPr lang="en-US" sz="3600" b="1" dirty="0">
                <a:latin typeface="Century Gothic" panose="020B0502020202020204" pitchFamily="34" charset="0"/>
              </a:rPr>
              <a:t>An admin designs a school’s computer system so it can handle more students joining online classes in the future.</a:t>
            </a:r>
            <a:endParaRPr lang="en-US" sz="3400" b="1" dirty="0">
              <a:latin typeface="Century Gothic" panose="020B0502020202020204" pitchFamily="34" charset="0"/>
            </a:endParaRPr>
          </a:p>
        </p:txBody>
      </p:sp>
    </p:spTree>
    <p:extLst>
      <p:ext uri="{BB962C8B-B14F-4D97-AF65-F5344CB8AC3E}">
        <p14:creationId xmlns:p14="http://schemas.microsoft.com/office/powerpoint/2010/main" val="212082278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5E9F9-CD15-9355-6776-8056FE106D6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9B3EF50-7B05-F638-0581-83A24142DC1E}"/>
              </a:ext>
            </a:extLst>
          </p:cNvPr>
          <p:cNvSpPr/>
          <p:nvPr/>
        </p:nvSpPr>
        <p:spPr>
          <a:xfrm>
            <a:off x="14734028" y="6733028"/>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8" name="Group 8">
            <a:extLst>
              <a:ext uri="{FF2B5EF4-FFF2-40B4-BE49-F238E27FC236}">
                <a16:creationId xmlns:a16="http://schemas.microsoft.com/office/drawing/2014/main" id="{4C086D2E-94E2-4B0F-9EF6-E153E1AE9D09}"/>
              </a:ext>
            </a:extLst>
          </p:cNvPr>
          <p:cNvGrpSpPr/>
          <p:nvPr/>
        </p:nvGrpSpPr>
        <p:grpSpPr>
          <a:xfrm>
            <a:off x="-363855" y="4022946"/>
            <a:ext cx="1858734" cy="1858734"/>
            <a:chOff x="0" y="0"/>
            <a:chExt cx="812800" cy="812800"/>
          </a:xfrm>
        </p:grpSpPr>
        <p:sp>
          <p:nvSpPr>
            <p:cNvPr id="9" name="Freeform 9">
              <a:extLst>
                <a:ext uri="{FF2B5EF4-FFF2-40B4-BE49-F238E27FC236}">
                  <a16:creationId xmlns:a16="http://schemas.microsoft.com/office/drawing/2014/main" id="{8DA68182-A13E-9820-C713-475A5E00180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a:extLst>
                <a:ext uri="{FF2B5EF4-FFF2-40B4-BE49-F238E27FC236}">
                  <a16:creationId xmlns:a16="http://schemas.microsoft.com/office/drawing/2014/main" id="{E1AF8F49-2958-387A-E637-9CE34388B9BB}"/>
                </a:ext>
              </a:extLst>
            </p:cNvPr>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1" name="Freeform 11">
            <a:extLst>
              <a:ext uri="{FF2B5EF4-FFF2-40B4-BE49-F238E27FC236}">
                <a16:creationId xmlns:a16="http://schemas.microsoft.com/office/drawing/2014/main" id="{80EAE1A7-0954-BBE5-027E-BF73A2DEC29F}"/>
              </a:ext>
            </a:extLst>
          </p:cNvPr>
          <p:cNvSpPr/>
          <p:nvPr/>
        </p:nvSpPr>
        <p:spPr>
          <a:xfrm>
            <a:off x="5277754" y="1509529"/>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61257248-FFB8-0462-09CE-3C9570818CB5}"/>
              </a:ext>
            </a:extLst>
          </p:cNvPr>
          <p:cNvSpPr txBox="1"/>
          <p:nvPr/>
        </p:nvSpPr>
        <p:spPr>
          <a:xfrm>
            <a:off x="228600" y="202666"/>
            <a:ext cx="18059400" cy="940450"/>
          </a:xfrm>
          <a:prstGeom prst="rect">
            <a:avLst/>
          </a:prstGeom>
        </p:spPr>
        <p:txBody>
          <a:bodyPr wrap="square" lIns="0" tIns="0" rIns="0" bIns="0" rtlCol="0" anchor="t">
            <a:spAutoFit/>
          </a:bodyPr>
          <a:lstStyle/>
          <a:p>
            <a:pPr algn="ctr">
              <a:lnSpc>
                <a:spcPts val="7619"/>
              </a:lnSpc>
            </a:pPr>
            <a:r>
              <a:rPr lang="en-US" sz="5999" b="1" dirty="0">
                <a:solidFill>
                  <a:srgbClr val="0E2F5F"/>
                </a:solidFill>
                <a:latin typeface="Akzidenz-Grotesk Heavy"/>
                <a:ea typeface="Akzidenz-Grotesk Heavy"/>
                <a:cs typeface="Akzidenz-Grotesk Heavy"/>
                <a:sym typeface="Akzidenz-Grotesk Heavy"/>
              </a:rPr>
              <a:t>Experts in Modern IT</a:t>
            </a:r>
          </a:p>
        </p:txBody>
      </p:sp>
      <p:sp>
        <p:nvSpPr>
          <p:cNvPr id="16" name="Freeform 16">
            <a:extLst>
              <a:ext uri="{FF2B5EF4-FFF2-40B4-BE49-F238E27FC236}">
                <a16:creationId xmlns:a16="http://schemas.microsoft.com/office/drawing/2014/main" id="{F5FBD0C7-6FA0-4E30-50BF-074BCAAE8371}"/>
              </a:ext>
            </a:extLst>
          </p:cNvPr>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Content Placeholder 17">
            <a:extLst>
              <a:ext uri="{FF2B5EF4-FFF2-40B4-BE49-F238E27FC236}">
                <a16:creationId xmlns:a16="http://schemas.microsoft.com/office/drawing/2014/main" id="{821313FB-8E10-5DA6-6B79-F1A4311694CD}"/>
              </a:ext>
            </a:extLst>
          </p:cNvPr>
          <p:cNvSpPr>
            <a:spLocks noGrp="1"/>
          </p:cNvSpPr>
          <p:nvPr>
            <p:ph idx="1"/>
          </p:nvPr>
        </p:nvSpPr>
        <p:spPr>
          <a:xfrm>
            <a:off x="1513166" y="1714500"/>
            <a:ext cx="16031122" cy="8777471"/>
          </a:xfrm>
        </p:spPr>
        <p:txBody>
          <a:bodyPr>
            <a:normAutofit/>
          </a:bodyPr>
          <a:lstStyle/>
          <a:p>
            <a:pPr marL="0" indent="0">
              <a:buNone/>
            </a:pPr>
            <a:r>
              <a:rPr lang="en-US" sz="4000" b="1" dirty="0">
                <a:latin typeface="Century Gothic" panose="020B0502020202020204" pitchFamily="34" charset="0"/>
              </a:rPr>
              <a:t>The future sysadmin will be an expert in cloud computing, automation, security, and system design. They won’t just “fix servers” but will make sure the whole system is safe, efficient, and ready to grow. This makes them key players in an organization’s success.</a:t>
            </a:r>
          </a:p>
          <a:p>
            <a:pPr marL="0" indent="0">
              <a:buNone/>
            </a:pPr>
            <a:endParaRPr lang="en-US" sz="4000" b="1" dirty="0">
              <a:latin typeface="Century Gothic" panose="020B0502020202020204" pitchFamily="34" charset="0"/>
            </a:endParaRPr>
          </a:p>
          <a:p>
            <a:pPr marL="0" indent="0">
              <a:buNone/>
            </a:pPr>
            <a:r>
              <a:rPr lang="en-US" sz="3400" b="1" dirty="0">
                <a:latin typeface="Century Gothic" panose="020B0502020202020204" pitchFamily="34" charset="0"/>
              </a:rPr>
              <a:t>Example: </a:t>
            </a:r>
          </a:p>
          <a:p>
            <a:pPr marL="0" indent="0">
              <a:buNone/>
            </a:pPr>
            <a:r>
              <a:rPr lang="en-US" sz="3400" b="1" dirty="0">
                <a:latin typeface="Century Gothic" panose="020B0502020202020204" pitchFamily="34" charset="0"/>
              </a:rPr>
              <a:t>	</a:t>
            </a:r>
            <a:r>
              <a:rPr lang="en-US" sz="3600" b="1" dirty="0">
                <a:latin typeface="Century Gothic" panose="020B0502020202020204" pitchFamily="34" charset="0"/>
              </a:rPr>
              <a:t>An admin secures hospital data in the cloud, ensuring it is safe from hackers while still being accessible to doctors anytime.</a:t>
            </a:r>
            <a:endParaRPr lang="en-US" sz="3400" b="1" dirty="0">
              <a:latin typeface="Century Gothic" panose="020B0502020202020204" pitchFamily="34" charset="0"/>
            </a:endParaRPr>
          </a:p>
        </p:txBody>
      </p:sp>
    </p:spTree>
    <p:extLst>
      <p:ext uri="{BB962C8B-B14F-4D97-AF65-F5344CB8AC3E}">
        <p14:creationId xmlns:p14="http://schemas.microsoft.com/office/powerpoint/2010/main" val="31778489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470689" y="3176727"/>
            <a:ext cx="9346622" cy="3896988"/>
          </a:xfrm>
          <a:prstGeom prst="rect">
            <a:avLst/>
          </a:prstGeom>
        </p:spPr>
        <p:txBody>
          <a:bodyPr lIns="0" tIns="0" rIns="0" bIns="0" rtlCol="0" anchor="t">
            <a:spAutoFit/>
          </a:bodyPr>
          <a:lstStyle/>
          <a:p>
            <a:pPr algn="ctr">
              <a:lnSpc>
                <a:spcPts val="14658"/>
              </a:lnSpc>
            </a:pPr>
            <a:r>
              <a:rPr lang="en-US" sz="16848" b="1">
                <a:solidFill>
                  <a:srgbClr val="0E2F5F"/>
                </a:solidFill>
                <a:latin typeface="Barlow Condensed Heavy"/>
                <a:ea typeface="Barlow Condensed Heavy"/>
                <a:cs typeface="Barlow Condensed Heavy"/>
                <a:sym typeface="Barlow Condensed Heavy"/>
              </a:rPr>
              <a:t>THANK YOU!</a:t>
            </a:r>
          </a:p>
        </p:txBody>
      </p:sp>
      <p:sp>
        <p:nvSpPr>
          <p:cNvPr id="6" name="Freeform 6"/>
          <p:cNvSpPr/>
          <p:nvPr/>
        </p:nvSpPr>
        <p:spPr>
          <a:xfrm>
            <a:off x="7511163" y="7791225"/>
            <a:ext cx="305535" cy="302202"/>
          </a:xfrm>
          <a:custGeom>
            <a:avLst/>
            <a:gdLst/>
            <a:ahLst/>
            <a:cxnLst/>
            <a:rect l="l" t="t" r="r" b="b"/>
            <a:pathLst>
              <a:path w="305535" h="302202">
                <a:moveTo>
                  <a:pt x="0" y="0"/>
                </a:moveTo>
                <a:lnTo>
                  <a:pt x="305535" y="0"/>
                </a:lnTo>
                <a:lnTo>
                  <a:pt x="305535" y="302203"/>
                </a:lnTo>
                <a:lnTo>
                  <a:pt x="0" y="30220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7991226" y="7772175"/>
            <a:ext cx="3009626" cy="306925"/>
          </a:xfrm>
          <a:prstGeom prst="rect">
            <a:avLst/>
          </a:prstGeom>
        </p:spPr>
        <p:txBody>
          <a:bodyPr lIns="0" tIns="0" rIns="0" bIns="0" rtlCol="0" anchor="t">
            <a:spAutoFit/>
          </a:bodyPr>
          <a:lstStyle/>
          <a:p>
            <a:pPr algn="l">
              <a:lnSpc>
                <a:spcPts val="2413"/>
              </a:lnSpc>
            </a:pPr>
            <a:r>
              <a:rPr lang="en-US" sz="1900" dirty="0">
                <a:solidFill>
                  <a:srgbClr val="FFFFFF"/>
                </a:solidFill>
                <a:latin typeface="Aileron"/>
                <a:ea typeface="Aileron"/>
                <a:cs typeface="Aileron"/>
                <a:sym typeface="Aileron"/>
              </a:rPr>
              <a:t>www.reallygreatsite.com</a:t>
            </a:r>
          </a:p>
        </p:txBody>
      </p:sp>
      <p:grpSp>
        <p:nvGrpSpPr>
          <p:cNvPr id="8" name="Group 8"/>
          <p:cNvGrpSpPr/>
          <p:nvPr/>
        </p:nvGrpSpPr>
        <p:grpSpPr>
          <a:xfrm>
            <a:off x="3424608" y="-1072654"/>
            <a:ext cx="11438784" cy="2839490"/>
            <a:chOff x="0" y="0"/>
            <a:chExt cx="3012684" cy="747849"/>
          </a:xfrm>
        </p:grpSpPr>
        <p:sp>
          <p:nvSpPr>
            <p:cNvPr id="9" name="Freeform 9"/>
            <p:cNvSpPr/>
            <p:nvPr/>
          </p:nvSpPr>
          <p:spPr>
            <a:xfrm>
              <a:off x="0" y="0"/>
              <a:ext cx="3012684" cy="747849"/>
            </a:xfrm>
            <a:custGeom>
              <a:avLst/>
              <a:gdLst/>
              <a:ahLst/>
              <a:cxnLst/>
              <a:rect l="l" t="t" r="r" b="b"/>
              <a:pathLst>
                <a:path w="3012684" h="747849">
                  <a:moveTo>
                    <a:pt x="39932" y="0"/>
                  </a:moveTo>
                  <a:lnTo>
                    <a:pt x="2972752" y="0"/>
                  </a:lnTo>
                  <a:cubicBezTo>
                    <a:pt x="2994806" y="0"/>
                    <a:pt x="3012684" y="17878"/>
                    <a:pt x="3012684" y="39932"/>
                  </a:cubicBezTo>
                  <a:lnTo>
                    <a:pt x="3012684" y="707917"/>
                  </a:lnTo>
                  <a:cubicBezTo>
                    <a:pt x="3012684" y="729971"/>
                    <a:pt x="2994806" y="747849"/>
                    <a:pt x="2972752" y="747849"/>
                  </a:cubicBezTo>
                  <a:lnTo>
                    <a:pt x="39932" y="747849"/>
                  </a:lnTo>
                  <a:cubicBezTo>
                    <a:pt x="17878" y="747849"/>
                    <a:pt x="0" y="729971"/>
                    <a:pt x="0" y="707917"/>
                  </a:cubicBezTo>
                  <a:lnTo>
                    <a:pt x="0" y="39932"/>
                  </a:lnTo>
                  <a:cubicBezTo>
                    <a:pt x="0" y="17878"/>
                    <a:pt x="17878" y="0"/>
                    <a:pt x="39932" y="0"/>
                  </a:cubicBezTo>
                  <a:close/>
                </a:path>
              </a:pathLst>
            </a:custGeom>
            <a:solidFill>
              <a:srgbClr val="E1EDFC"/>
            </a:solidFill>
            <a:ln cap="rnd">
              <a:noFill/>
              <a:prstDash val="solid"/>
              <a:round/>
            </a:ln>
          </p:spPr>
        </p:sp>
        <p:sp>
          <p:nvSpPr>
            <p:cNvPr id="10" name="TextBox 10"/>
            <p:cNvSpPr txBox="1"/>
            <p:nvPr/>
          </p:nvSpPr>
          <p:spPr>
            <a:xfrm>
              <a:off x="0" y="-47625"/>
              <a:ext cx="3012684" cy="795474"/>
            </a:xfrm>
            <a:prstGeom prst="rect">
              <a:avLst/>
            </a:prstGeom>
          </p:spPr>
          <p:txBody>
            <a:bodyPr lIns="50800" tIns="50800" rIns="50800" bIns="50800" rtlCol="0" anchor="ctr"/>
            <a:lstStyle/>
            <a:p>
              <a:pPr marL="0" lvl="0" indent="0" algn="ctr">
                <a:lnSpc>
                  <a:spcPts val="2800"/>
                </a:lnSpc>
                <a:spcBef>
                  <a:spcPct val="0"/>
                </a:spcBef>
              </a:pPr>
              <a:endParaRPr/>
            </a:p>
          </p:txBody>
        </p:sp>
      </p:grpSp>
      <p:grpSp>
        <p:nvGrpSpPr>
          <p:cNvPr id="11" name="Group 11"/>
          <p:cNvGrpSpPr/>
          <p:nvPr/>
        </p:nvGrpSpPr>
        <p:grpSpPr>
          <a:xfrm>
            <a:off x="8395527" y="1028700"/>
            <a:ext cx="1496945" cy="1496945"/>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3" name="TextBox 13"/>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4" name="Freeform 14"/>
          <p:cNvSpPr/>
          <p:nvPr/>
        </p:nvSpPr>
        <p:spPr>
          <a:xfrm>
            <a:off x="8673581" y="1447879"/>
            <a:ext cx="940838" cy="658587"/>
          </a:xfrm>
          <a:custGeom>
            <a:avLst/>
            <a:gdLst/>
            <a:ahLst/>
            <a:cxnLst/>
            <a:rect l="l" t="t" r="r" b="b"/>
            <a:pathLst>
              <a:path w="940838" h="658587">
                <a:moveTo>
                  <a:pt x="0" y="0"/>
                </a:moveTo>
                <a:lnTo>
                  <a:pt x="940838" y="0"/>
                </a:lnTo>
                <a:lnTo>
                  <a:pt x="940838" y="658587"/>
                </a:lnTo>
                <a:lnTo>
                  <a:pt x="0" y="65858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Freeform 15"/>
          <p:cNvSpPr/>
          <p:nvPr/>
        </p:nvSpPr>
        <p:spPr>
          <a:xfrm>
            <a:off x="3424608" y="4750679"/>
            <a:ext cx="1519327" cy="469610"/>
          </a:xfrm>
          <a:custGeom>
            <a:avLst/>
            <a:gdLst/>
            <a:ahLst/>
            <a:cxnLst/>
            <a:rect l="l" t="t" r="r" b="b"/>
            <a:pathLst>
              <a:path w="1519327" h="469610">
                <a:moveTo>
                  <a:pt x="0" y="0"/>
                </a:moveTo>
                <a:lnTo>
                  <a:pt x="1519327" y="0"/>
                </a:lnTo>
                <a:lnTo>
                  <a:pt x="1519327" y="469610"/>
                </a:lnTo>
                <a:lnTo>
                  <a:pt x="0" y="46961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6" name="Freeform 16"/>
          <p:cNvSpPr/>
          <p:nvPr/>
        </p:nvSpPr>
        <p:spPr>
          <a:xfrm flipH="1">
            <a:off x="13344065" y="4750679"/>
            <a:ext cx="1519327" cy="469610"/>
          </a:xfrm>
          <a:custGeom>
            <a:avLst/>
            <a:gdLst/>
            <a:ahLst/>
            <a:cxnLst/>
            <a:rect l="l" t="t" r="r" b="b"/>
            <a:pathLst>
              <a:path w="1519327" h="469610">
                <a:moveTo>
                  <a:pt x="1519327" y="0"/>
                </a:moveTo>
                <a:lnTo>
                  <a:pt x="0" y="0"/>
                </a:lnTo>
                <a:lnTo>
                  <a:pt x="0" y="469610"/>
                </a:lnTo>
                <a:lnTo>
                  <a:pt x="1519327" y="469610"/>
                </a:lnTo>
                <a:lnTo>
                  <a:pt x="1519327"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17" name="Group 17"/>
          <p:cNvGrpSpPr/>
          <p:nvPr/>
        </p:nvGrpSpPr>
        <p:grpSpPr>
          <a:xfrm>
            <a:off x="0" y="8996715"/>
            <a:ext cx="18288000" cy="1290285"/>
            <a:chOff x="0" y="0"/>
            <a:chExt cx="4816593" cy="339828"/>
          </a:xfrm>
        </p:grpSpPr>
        <p:sp>
          <p:nvSpPr>
            <p:cNvPr id="18" name="Freeform 18"/>
            <p:cNvSpPr/>
            <p:nvPr/>
          </p:nvSpPr>
          <p:spPr>
            <a:xfrm>
              <a:off x="0" y="0"/>
              <a:ext cx="4816592" cy="339828"/>
            </a:xfrm>
            <a:custGeom>
              <a:avLst/>
              <a:gdLst/>
              <a:ahLst/>
              <a:cxnLst/>
              <a:rect l="l" t="t" r="r" b="b"/>
              <a:pathLst>
                <a:path w="4816592" h="339828">
                  <a:moveTo>
                    <a:pt x="0" y="0"/>
                  </a:moveTo>
                  <a:lnTo>
                    <a:pt x="4816592" y="0"/>
                  </a:lnTo>
                  <a:lnTo>
                    <a:pt x="4816592" y="339828"/>
                  </a:lnTo>
                  <a:lnTo>
                    <a:pt x="0" y="339828"/>
                  </a:lnTo>
                  <a:close/>
                </a:path>
              </a:pathLst>
            </a:custGeom>
            <a:solidFill>
              <a:srgbClr val="0E2F5F"/>
            </a:solidFill>
            <a:ln cap="sq">
              <a:noFill/>
              <a:prstDash val="solid"/>
              <a:miter/>
            </a:ln>
          </p:spPr>
        </p:sp>
        <p:sp>
          <p:nvSpPr>
            <p:cNvPr id="19" name="TextBox 19"/>
            <p:cNvSpPr txBox="1"/>
            <p:nvPr/>
          </p:nvSpPr>
          <p:spPr>
            <a:xfrm>
              <a:off x="0" y="-47625"/>
              <a:ext cx="4816593" cy="387453"/>
            </a:xfrm>
            <a:prstGeom prst="rect">
              <a:avLst/>
            </a:prstGeom>
          </p:spPr>
          <p:txBody>
            <a:bodyPr lIns="50800" tIns="50800" rIns="50800" bIns="50800" rtlCol="0" anchor="ctr"/>
            <a:lstStyle/>
            <a:p>
              <a:pPr marL="0" lvl="0" indent="0" algn="ctr">
                <a:lnSpc>
                  <a:spcPts val="2800"/>
                </a:lnSpc>
                <a:spcBef>
                  <a:spcPct val="0"/>
                </a:spcBef>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876</TotalTime>
  <Words>1468</Words>
  <Application>Microsoft Office PowerPoint</Application>
  <PresentationFormat>Custom</PresentationFormat>
  <Paragraphs>224</Paragraphs>
  <Slides>56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56</vt:i4>
      </vt:variant>
    </vt:vector>
  </HeadingPairs>
  <TitlesOfParts>
    <vt:vector size="64" baseType="lpstr">
      <vt:lpstr>Be Vietnam Ultra-Bold</vt:lpstr>
      <vt:lpstr>Akzidenz-Grotesk Heavy</vt:lpstr>
      <vt:lpstr>Century Gothic</vt:lpstr>
      <vt:lpstr>Calibri</vt:lpstr>
      <vt:lpstr>Arial</vt:lpstr>
      <vt:lpstr>Barlow Condensed Heavy</vt:lpstr>
      <vt:lpstr>Aileron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Simple The Future Of The Arctic Presentation</dc:title>
  <cp:lastModifiedBy>L470</cp:lastModifiedBy>
  <cp:revision>13</cp:revision>
  <dcterms:created xsi:type="dcterms:W3CDTF">2006-08-16T00:00:00Z</dcterms:created>
  <dcterms:modified xsi:type="dcterms:W3CDTF">2025-08-23T02:32:22Z</dcterms:modified>
  <dc:identifier>DAGvxT6kKH0</dc:identifier>
</cp:coreProperties>
</file>